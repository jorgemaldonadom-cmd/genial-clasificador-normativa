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E6862"/>
                </a:solidFill>
                <a:latin typeface="Calibri"/>
              </a:defRPr>
            </a:pPr>
            <a:r>
              <a:rPr sz="1200" b="0" i="0" u="none" strike="noStrike">
                <a:solidFill>
                  <a:srgbClr val="6E6862"/>
                </a:solidFill>
                <a:latin typeface="Calibri"/>
              </a:rPr>
              <a:t>Distribución de la variable objetivo (Dominio)</a:t>
            </a:r>
          </a:p>
        </c:rich>
      </c:tx>
      <c:layout/>
      <c:overlay val="0"/>
    </c:title>
    <c:autoTitleDeleted val="0"/>
    <c:plotArea>
      <c:layout/>
      <c:barChart>
        <c:barDir val="bar"/>
        <c:grouping val="clustered"/>
        <c:varyColors val="0"/>
        <c:ser>
          <c:idx val="0"/>
          <c:order val="0"/>
          <c:tx>
            <c:strRef>
              <c:f>Sheet1!$B$1</c:f>
              <c:strCache>
                <c:ptCount val="1"/>
                <c:pt idx="0">
                  <c:v>normas</c:v>
                </c:pt>
              </c:strCache>
            </c:strRef>
          </c:tx>
          <c:spPr>
            <a:solidFill>
              <a:srgbClr val="7A1F3D"/>
            </a:solidFill>
            <a:effectLst/>
          </c:spPr>
          <c:invertIfNegative val="0"/>
          <c:dLbls>
            <c:numFmt formatCode="#,##0" sourceLinked="0"/>
            <c:txPr>
              <a:bodyPr/>
              <a:lstStyle/>
              <a:p>
                <a:pPr>
                  <a:defRPr b="0" i="0" strike="noStrike" sz="1100" u="none">
                    <a:solidFill>
                      <a:srgbClr val="1B1A19"/>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Pedagógico</c:v>
                  </c:pt>
                  <c:pt idx="1">
                    <c:v>Ética</c:v>
                  </c:pt>
                  <c:pt idx="2">
                    <c:v>Administrativo</c:v>
                  </c:pt>
                  <c:pt idx="3">
                    <c:v>Protección de Datos</c:v>
                  </c:pt>
                  <c:pt idx="4">
                    <c:v>Técnico</c:v>
                  </c:pt>
                </c:lvl>
              </c:multiLvlStrCache>
            </c:multiLvlStrRef>
          </c:cat>
          <c:val>
            <c:numRef>
              <c:f>Sheet1!$B$2:$B$6</c:f>
              <c:numCache>
                <c:formatCode>General</c:formatCode>
                <c:ptCount val="5"/>
                <c:pt idx="0">
                  <c:v>294</c:v>
                </c:pt>
                <c:pt idx="1">
                  <c:v>265</c:v>
                </c:pt>
                <c:pt idx="2">
                  <c:v>120</c:v>
                </c:pt>
                <c:pt idx="3">
                  <c:v>71</c:v>
                </c:pt>
                <c:pt idx="4">
                  <c:v>63</c:v>
                </c:pt>
              </c:numCache>
            </c:numRef>
          </c:val>
        </c:ser>
        <c:dLbls>
          <c:numFmt formatCode="#,##0" sourceLinked="0"/>
          <c:txPr>
            <a:bodyPr/>
            <a:lstStyle/>
            <a:p>
              <a:pPr>
                <a:defRPr b="0" i="0" strike="noStrike" sz="1100" u="none">
                  <a:solidFill>
                    <a:srgbClr val="1B1A19"/>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A19"/>
                </a:solidFill>
                <a:latin typeface="Calibri"/>
              </a:defRPr>
            </a:pPr>
            <a:endParaRPr lang="en-US"/>
          </a:p>
        </c:txPr>
        <c:crossAx val="2094734552"/>
        <c:crosses val="autoZero"/>
        <c:auto val="1"/>
        <c:lblAlgn val="ctr"/>
        <c:noMultiLvlLbl val="1"/>
      </c:catAx>
      <c:valAx>
        <c:axId val="2094734552"/>
        <c:scaling>
          <c:orientation val="minMax"/>
          <c:max val="3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E6862"/>
                </a:solidFill>
                <a:latin typeface="Calibri"/>
              </a:defRPr>
            </a:pPr>
            <a:r>
              <a:rPr sz="1200" b="0" i="0" u="none" strike="noStrike">
                <a:solidFill>
                  <a:srgbClr val="6E6862"/>
                </a:solidFill>
                <a:latin typeface="Calibri"/>
              </a:rPr>
              <a:t>F1 macro en validación cruzada</a:t>
            </a:r>
          </a:p>
        </c:rich>
      </c:tx>
      <c:layout/>
      <c:overlay val="0"/>
    </c:title>
    <c:autoTitleDeleted val="0"/>
    <c:plotArea>
      <c:layout/>
      <c:barChart>
        <c:barDir val="bar"/>
        <c:grouping val="clustered"/>
        <c:varyColors val="0"/>
        <c:ser>
          <c:idx val="0"/>
          <c:order val="0"/>
          <c:tx>
            <c:strRef>
              <c:f>Sheet1!$B$1</c:f>
              <c:strCache>
                <c:ptCount val="1"/>
                <c:pt idx="0">
                  <c:v>F1 macro</c:v>
                </c:pt>
              </c:strCache>
            </c:strRef>
          </c:tx>
          <c:spPr>
            <a:solidFill>
              <a:srgbClr val="7A1F3D"/>
            </a:solidFill>
            <a:effectLst/>
          </c:spPr>
          <c:invertIfNegative val="0"/>
          <c:dLbls>
            <c:numFmt formatCode="0.000" sourceLinked="0"/>
            <c:txPr>
              <a:bodyPr/>
              <a:lstStyle/>
              <a:p>
                <a:pPr>
                  <a:defRPr b="0" i="0" strike="noStrike" sz="1100" u="none">
                    <a:solidFill>
                      <a:srgbClr val="1B1A1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Clase mayoritaria</c:v>
                  </c:pt>
                  <c:pt idx="1">
                    <c:v>Metadata (Tipo de norma)</c:v>
                  </c:pt>
                  <c:pt idx="2">
                    <c:v>SVM lineal (ablación)</c:v>
                  </c:pt>
                  <c:pt idx="3">
                    <c:v>Regresión Logística + TF-IDF</c:v>
                  </c:pt>
                </c:lvl>
              </c:multiLvlStrCache>
            </c:multiLvlStrRef>
          </c:cat>
          <c:val>
            <c:numRef>
              <c:f>Sheet1!$B$2:$B$5</c:f>
              <c:numCache>
                <c:formatCode>General</c:formatCode>
                <c:ptCount val="4"/>
                <c:pt idx="0">
                  <c:v>0.107</c:v>
                </c:pt>
                <c:pt idx="1">
                  <c:v>0.354</c:v>
                </c:pt>
                <c:pt idx="2">
                  <c:v>0.578</c:v>
                </c:pt>
                <c:pt idx="3">
                  <c:v>0.587</c:v>
                </c:pt>
              </c:numCache>
            </c:numRef>
          </c:val>
        </c:ser>
        <c:dLbls>
          <c:numFmt formatCode="0.000" sourceLinked="0"/>
          <c:txPr>
            <a:bodyPr/>
            <a:lstStyle/>
            <a:p>
              <a:pPr>
                <a:defRPr b="0" i="0" strike="noStrike" sz="1100" u="none">
                  <a:solidFill>
                    <a:srgbClr val="1B1A19"/>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A19"/>
                </a:solidFill>
                <a:latin typeface="Calibri"/>
              </a:defRPr>
            </a:pPr>
            <a:endParaRPr lang="en-US"/>
          </a:p>
        </c:txPr>
        <c:crossAx val="2094734552"/>
        <c:crosses val="autoZero"/>
        <c:auto val="1"/>
        <c:lblAlgn val="ctr"/>
        <c:noMultiLvlLbl val="1"/>
      </c:catAx>
      <c:valAx>
        <c:axId val="2094734552"/>
        <c:scaling>
          <c:orientation val="minMax"/>
          <c:max val="0.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Portada
Buenas tardes. Somos Jorge Maldonado y Melissa Figallo, Grupo 9 de la Maestría en Inteligencia Artificial de la UEES. Presentamos el cierre de nuestro Proyecto Integrador: la clasificación automática de normativa sobre inteligencia artificial en la educación superior de América Latina y el Caribe, un trabajo desarrollado sobre el corpus del proyecto GENIAL y orientado a construir un Índice de Madurez Normativa escalable. Agradecemos a nuestra tutora, la profesora Gladys Villegas, cuyas observaciones metodológicas cambiaron el diseño del experimento.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Estructura de la presentación
La presentación sigue el ciclo completo del proyecto. Primero el problema y los objetivos; luego los datos y lo que el análisis exploratorio nos enseñó; después el diseño experimental y la decisión técnica; el bloque central son los resultados, con su contraste frente a los umbrales que fijamos antes de ejecutar; y cerramos con la propuesta operativa para el observatorio, las limitaciones y las conclusiones. Todo es reproducible desde el repositorio público.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[1:00–2:00] El problema
El proyecto GENIAL, financiado por Erasmus+, mantiene un observatorio regional de normativa sobre inteligencia artificial en educación superior. Cada norma —una ley, una estrategia nacional, un reglamento universitario— es leída por un investigador y codificada en una de cinco dimensiones: Pedagógico, Ética, Administrativo, Protección de Datos y Técnico. El conteo por dimensión y país alimenta el Índice de Madurez Normativa.
Ese proceso tiene tres problemas. No escala: cada norma exige lectura y criterio experto, y el corpus crece con cada actualización. Depende de un solo codificador por norma, sin fiabilidad intercodificador medida. Y la etiqueta única fuerza decisiones difíciles cuando una norma toca dos dimensiones, algo que la tutora señaló desde la primera revisión.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[2:00–2:50] Pregunta de investigación y objetivos
La pregunta de investigación es: ¿con qué exactitud puede un clasificador automático asignar la dimensión de una norma a partir de su texto, y cómo se compara esa exactitud con el acuerdo entre codificadores humanos?
De ahí derivan cuatro objetivos: construir y evaluar dos técnicas distintas —una clásica supervisada y un modelo de lenguaje en modo few-shot— sobre un mismo conjunto de prueba a ciegas; medir el desempeño con intervalos de confianza y pruebas pareadas, no con cifras puntuales; diagnosticar el problema de la multi-etiqueta a partir de los errores; y especificar cómo se integraría el clasificador en la operación del observatorio sin que el índice quede a merced del modelo. Los umbrales de éxito se fijaron por escrito antes de ejecutar.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[2:50–3:35] El corpus GENIAL
Trabajamos con el corpus consolidado de GENIAL: 813 normas de 28 jurisdicciones, trece columnas por norma. La versión se congeló con un hash SHA-256 que el código verifica al cargar.
La variable objetivo está desbalanceada: 294 normas pedagógicas, 265 éticas, 120 administrativas, 71 de protección de datos y 63 técnicas; una razón de 4.7 a 1. El texto disponible es corto: título más observaciones del codificador, con una mediana de 44 palabras. Cinco países concentran dos tercios del corpus y muchas jurisdicciones tienen menos de 20 normas. Es el tamaño realista de un observatorio regional: suficiente para un modelo lineal regularizado, insuficiente para afinar un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[3:35–4:35] Lo que el EDA cambió
El análisis exploratorio, con pandas, matplotlib y seaborn, corrigió tres supuestos del plan. Primero, el idioma: 101 títulos están en portugués o inglés, pero las observaciones están en español en 798 de las 813 normas, porque las redactan los codificadores. Derivamos la variable idioma del título y anticipamos que sería un efecto de segundo orden.
Segundo, la pista léxica: la palabra que nombra la dimensión aparece en el texto en el 63 por ciento de las normas éticas y en el 73 por ciento de las de protección de datos. Decidimos medir el desempeño con y sin esa pista. Tercero, la metadata: el tipo de norma tiene una V de Cramér de 0.36 con la dimensión; la excluimos como predictor para evitar fugas y la convertimos en línea base. Y 14 grupos de normas con la misma URL se mantienen siempre en la misma partición.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[4:35–5:40] Diseño experimental: del corpus al índice
El diseño compara dos ramas sobre idéntico conjunto de prueba. La rama clásica entrena una regresión logística sobre TF-IDF de uno y dos gramas, con cinco mil características y clases ponderadas, usando unas 670 normas etiquetadas. La rama LLM recibe las definiciones de las cinco dimensiones y quince ejemplos en el prompt, sin ajustar pesos, a temperatura cero y en tres ejecuciones.
Ambas se contrastan con dos líneas base sin inteligencia artificial: la clase mayoritaria, que fija el piso en 36 por ciento de exactitud, y la línea base de metadata sobre el tipo de norma. La evaluación es una sola: F1 macro y por clase con intervalos de confianza; McNemar entre ramas, porque el diseño es pareado; y kappa del modelo frente a la referencia, comparable con el kappa entre dos humanos. Cada rama emite su primera y su segunda dimensión, lo que habilita el diagnóstico de multi-etiqueta. La validación cruzada es de cinco pliegues estratificados por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[5:40–6:35] Decisión técnica
¿Por qué estas dos técnicas y no otras? En la Semana 2 comparamos ocho técnicas con una matriz de decisión ponderada. Los métodos tabulares —Random Forest, Gradient Boosting— quedaron descartados porque no hay variables numéricas nativas: la señal está en el vocabulario. Los transformers afinados como BETO o XLM-R exigen más datos de los que tenemos por clase minoritaria y ofrecen menos interpretabilidad. La regresión logística expone pesos por término y clase, entrega probabilidades calibradas para el umbral de confianza y entrena en segundos sin GPU. El LLM few-shot es la contraparte natural: mide eficiencia de datos, que es lo que decide si un observatorio puede automatizar sin financiar miles de horas de etiquetado. La literatura muestra que el desempeño relativo entre ambas depende del corpus; la única respuesta honesta era medirlo. La SVM lineal se incluyó como ablación.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[6:35–7:35] Resultados: el modelo aprende y supera las líneas base
Vamos a los resultados. En validación cruzada por grupo sobre las 813 normas, la regresión logística alcanza una exactitud de 0.635 y un F1 macro de 0.587, con intervalo entre 0.55 y 0.62. La línea base de metadata obtiene 0.354 y la clase mayoritaria 0.107. El kappa frente a la referencia es 0.50, acuerdo moderado. Y la exactitud top-2 —la etiqueta correcta está entre las dos primeras propuestas— es de 0.852.
La lectura es doble. El modelo aprende algo real: casi duplica el F1 de la mejor línea base sin IA, y en el conjunto ciego McNemar rechaza la igualdad frente a ambas con valores p inferiores a 0.001 y de 0.012. Pero no alcanza el umbral de excelencia de 0.70: el intervalo incluye el mínimo de 0.60 y excluye el 0.70. Un umbral prefijado solo sirve si se respeta cuando el resultado no lo alcanza.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[7:35–8:35] Resultados por dimensión
La matriz de confusión explica dónde se pierde el desempeño. Protección de Datos es la clase mejor reconocida, con F1 de 0.80: su vocabulario es específico y estable. Pedagógico y Ética están en 0.71 y 0.67, pero se confunden entre sí —57 normas pedagógicas se predicen como éticas y 49 en sentido contrario—, lo que coincide con la observación de la tutora: muchas normas pedagógicas tienen un componente ético explícito. Las dos clases minoritarias son el punto débil: Administrativo con 0.41 y Técnico con 0.35, por debajo del nivel de excelencia por clase, y Técnico incumple además el mínimo de 0.40. Técnico se dispersa hacia las otras cuatro: es una categoría definida por el objeto de la norma más que por un léxico propio, y con 63 ejemplos el modelo no consigue aislarla. El desbalance que el EDA identificó como riesgo principal es, efectivamente, la restricción dominante.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[8:35–9:35] Ablaciones y desempeño desagregado
Las ablaciones varían una decisión a la vez. La más importante es la ponderación de clases: sin class_weight balanceado la exactitud casi no cambia, pero el F1 macro cae a 0.475 y Técnico prácticamente desaparece, con F1 de 0.03. La SVM lineal, la regularización más laxa, los unigramas solos y los n-gramas de caracteres se mueven todos entre 0.57 y 0.58: el resultado no depende de un hiperparámetro afortunado, sino del tamaño y del desbalance del corpus.
Desagregando, como exige la decisión metodológica cuatro: el español obtiene F1 de 0.61; el portugués 0.39 y el inglés 0.27, con 76 y 25 normas respectivamente. Las normas nacionales, más largas y heterogéneas, rinden peor que las institucionales. Y la pista léxica pesa: cuando la palabra que nombra la dimensión aparece en el texto la exactitud es 0.81; cuando no aparece, 0.54. El modelo generaliza, pero menos de lo que sugiere la cifra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[9:35–10:30] Conjunto de prueba a ciegas
El conjunto ciego son exactamente las normas que el investigador de GENIAL codificó a ciegas: 125 con sus duplicados por URL, con las etiquetas leídas una única vez al final del cuaderno. Sobre él, la regresión logística obtiene exactitud de 0.69 y F1 macro de 0.62, con intervalo entre 0.51 y 0.71: compatible con la validación cruzada, aunque más alto, porque la muestra del investigador está dominada por normas de confianza alta y solo contiene diez normas técnicas. La SVM obtiene 0.65 de F1 macro; la diferencia no es significativa —McNemar da p de 0.13 sobre cuatro discordancias— y mantenemos la regresión logística por sus probabilidades calibradas. La rama LLM few-shot —Claude Sonnet 5.5 con quince ejemplos y tres ejecuciones— obtiene 0.64 de exactitud y 0.55 de F1 macro, con kappa 0.53: empata estadísticamente con la regresión logística, McNemar p de 0.36, y pierde en las clases pequeñas; seis normas no obtuvieron respuesta. Un modelo lineal con 673 ejemplos iguala al LLM sin coste por llamada ni envío de texto a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[10:30–11:20] Diagnóstico de multi-etiqueta
Aquí retomamos la observación de la tutora sobre la multi-etiqueta. De los 39 errores del modelo en el conjunto ciego, en 23 la segunda dimensión propuesta coincide con la etiqueta de referencia: el top-2 rescata el 59 por ciento de los errores, y el 85 por ciento en validación cruzada. Una parte sustantiva de los errores son normas en la frontera entre dos dimensiones. El cuaderno genera una hoja de tipificación con la referencia, la predicción y la alternativa para cada error; los codificadores de GENIAL clasifican cada caso como error genuino, segunda dimensión defendible o etiqueta original discutible. Así los errores del modelo se convierten en evidencia sobre la propia definición de las dimensiones, sin cambiar la tarea ni el índice.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[11:20–12:25] La codificación ciega del investigador
La codificación ciega del investigador de GENIAL nos permitió algo más que fijar el conjunto de prueba. Su instrumento registra seis dimensiones nuevas del framework, etiquetas secundarias y el nivel de confianza en cada norma. Cruzamos esa información con los errores del modelo. Con confianza alta del codificador, el modelo acierta el 76 por ciento; con confianza media, el 41: el modelo falla donde el humano también dudó. En las 19 normas sin etiquetas secundarias acierta el 89 por ciento; en las 100 con etiquetas secundarias, el 65, y 35 de los 37 errores caen en normas multidimensionales. Es la evidencia más directa de que la etiqueta única es una simplificación. El instrumento no recodifica la dimensión, así que el kappa humano-humano sigue pendiente. Y sobre 23 normas incorporadas después del corte, casi todas del Caribe anglófono, la exactitud cae a 0.39: fuera de la distribución de entrenamiento el modelo no es fiable, lo que justifica con datos la revisión obligatoria para esos segmentos.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[12:25–13:10] Operación: codificación asistida, no automatización
¿Puede el observatorio automatizar parte de la codificación? La curva de enrutamiento responde: para garantizar al menos 85 por ciento de exactitud en el tramo automático, el umbral de confianza debe ser 0.50, y con la regla completa el 84 por ciento de las normas va a revisión humana; la meta era 30 por ciento y el ahorro sería de 21 horas sobre 136 por pasada.
La conclusión operativa es codificación asistida, no automática: el modelo propone dos candidatas con su probabilidad, el codificador decide, y la tabla del índice registra por país cuántas normas tienen respaldo humano y cuántas solo del modelo. El modelo reduce el espacio de decisión de cinco opciones a dos en el 85 por ciento de los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[13:10–13:55] Impacto social y responsabilidad
El impacto social del sistema está en el índice que compara países. Auditamos la equidad por jurisdicción: el modelo acierta 0.67 en Hispanoamérica continental, 0.47 en Brasil y 0.38 en el Caribe. Automatizado sin salvaguardas, el índice invisibilizaría justo a las jurisdicciones que un observatorio regional debería hacer visibles. La regla de gobernanza envía a revisión humana el cien por ciento de esas normas, y la auditoría nos obligó a corregirla: Brasil quedaba fuera y lo incorporamos. El nombre del codificador es un dato personal que se excluye y anonimiza; bajo la Ley de IA europea el sistema es de riesgo mínimo, pero adoptamos voluntariamente model card, datasheet y plan de incidentes. Compromiso: ninguna cifra del índice sin revisión humana en los grupos en riesgo, siempre con su margen, y nunca para evaluar a codificadores.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[13:55–14:25] Contraste con los umbrales prefijados y limitaciones
Contrastamos cada resultado con el criterio prefijado. Superar ambas líneas base con significancia: cumplido. F1 macro mínimo de 0.60: en el borde, 0.587 en validación cruzada y 0.617 en el conjunto ciego. Excelencia de 0.70: no alcanzado. Ninguna clase bajo 0.40: incumplido por Técnico. Kappa de 0.60: no alcanzado, con 0.50 y 0.56. Enrutar menos del 30 por ciento con 85 por ciento de exactitud: no viable.
Las limitaciones: un solo codificador por norma en la referencia, así que parte del error puede ser desacuerdo legítimo; el kappa humano-humano sigue pendiente y la plantilla para obtenerlo está generada. Texto corto y en parte redactado por el codificador. Conjunto ciego pequeño. Y la rama LLM evaluada con un solo proveedor y un solo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[14:25–14:50] Conclusiones y trabajo futuro
Tres conclusiones. Primera: con 813 normas y texto corto, un modelo lineal interpretable aprende la estructura del framework GENIAL y supera con significancia a toda heurística sin IA, pero no alcanza la calidad para sustituir al codificador. Segunda: su valor está en la asistencia —dos candidatas correctas en el 85 por ciento de los casos— y en el diagnóstico: sus errores señalan normas de frontera y dimensiones cuya definición conviene revisar. Tercera: umbrales prefijados, intervalos de confianza y pruebas pareadas permiten decirlo con rigor.
Trabajo futuro: usar el LLM como segunda opinión en las normas que van a revisión, medir el techo humano con doble codificación, ampliar el texto de entrada y evaluar un esquema multi-etiqueta.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[14:50–15:00] Cierre
Todo el código, el cuaderno ejecutado, las figuras, la síntesis de resultados y la documentación están en el repositorio público github.com/jorgemaldonadom-cmd/genial-clasificador-normativa, con licencia MIT para el código y una muestra anonimizada del corpus. Agradecemos al proyecto GENIAL por el acceso al corpus y a la profesora Gladys Villegas por su acompañamiento.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0F1F"/>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365760"/>
          </a:xfrm>
          <a:prstGeom prst="rect">
            <a:avLst/>
          </a:prstGeom>
          <a:noFill/>
          <a:ln/>
        </p:spPr>
        <p:txBody>
          <a:bodyPr wrap="square" lIns="0" tIns="0" rIns="0" bIns="0" rtlCol="0" anchor="ctr"/>
          <a:lstStyle/>
          <a:p>
            <a:pPr indent="0" marL="0">
              <a:buNone/>
            </a:pPr>
            <a:r>
              <a:rPr lang="en-US" sz="1300" dirty="0">
                <a:solidFill>
                  <a:srgbClr val="E8CFD8"/>
                </a:solidFill>
                <a:latin typeface="Calibri" pitchFamily="34" charset="0"/>
                <a:ea typeface="Calibri" pitchFamily="34" charset="-122"/>
                <a:cs typeface="Calibri" pitchFamily="34" charset="-120"/>
              </a:rPr>
              <a:t>Proyecto Integrador en Inteligencia Artificial · MIAR0545 · Presentación final</a:t>
            </a:r>
            <a:endParaRPr lang="en-US" sz="1300" dirty="0"/>
          </a:p>
        </p:txBody>
      </p:sp>
      <p:sp>
        <p:nvSpPr>
          <p:cNvPr id="3" name="Text 1"/>
          <p:cNvSpPr txBox="1"/>
          <p:nvPr/>
        </p:nvSpPr>
        <p:spPr>
          <a:xfrm>
            <a:off x="548640" y="1463040"/>
            <a:ext cx="11094415"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Clasificación automática de normativa sobre IA en la educación superior de América Latina y el Caribe</a:t>
            </a:r>
            <a:endParaRPr lang="en-US" sz="3600" dirty="0"/>
          </a:p>
        </p:txBody>
      </p:sp>
      <p:sp>
        <p:nvSpPr>
          <p:cNvPr id="4" name="Text 2"/>
          <p:cNvSpPr txBox="1"/>
          <p:nvPr/>
        </p:nvSpPr>
        <p:spPr>
          <a:xfrm>
            <a:off x="548640" y="3246120"/>
            <a:ext cx="11094415" cy="457200"/>
          </a:xfrm>
          <a:prstGeom prst="rect">
            <a:avLst/>
          </a:prstGeom>
          <a:noFill/>
          <a:ln/>
        </p:spPr>
        <p:txBody>
          <a:bodyPr wrap="square" lIns="0" tIns="0" rIns="0" bIns="0" rtlCol="0" anchor="ctr"/>
          <a:lstStyle/>
          <a:p>
            <a:pPr indent="0" marL="0">
              <a:buNone/>
            </a:pPr>
            <a:r>
              <a:rPr lang="en-US" sz="1800" i="1" dirty="0">
                <a:solidFill>
                  <a:srgbClr val="E8CFD8"/>
                </a:solidFill>
                <a:latin typeface="Calibri" pitchFamily="34" charset="0"/>
                <a:ea typeface="Calibri" pitchFamily="34" charset="-122"/>
                <a:cs typeface="Calibri" pitchFamily="34" charset="-120"/>
              </a:rPr>
              <a:t>Hacia un Índice de Madurez Normativa (IMN) escalable · corpus GENIAL (Erasmus+)</a:t>
            </a:r>
            <a:endParaRPr lang="en-US" sz="1800" dirty="0"/>
          </a:p>
        </p:txBody>
      </p:sp>
      <p:sp>
        <p:nvSpPr>
          <p:cNvPr id="5" name="Shape 3"/>
          <p:cNvSpPr/>
          <p:nvPr/>
        </p:nvSpPr>
        <p:spPr>
          <a:xfrm>
            <a:off x="548640" y="4297680"/>
            <a:ext cx="5669280" cy="1737360"/>
          </a:xfrm>
          <a:prstGeom prst="roundRect">
            <a:avLst>
              <a:gd name="adj" fmla="val 4211"/>
            </a:avLst>
          </a:prstGeom>
          <a:solidFill>
            <a:srgbClr val="4E1A30"/>
          </a:solidFill>
          <a:ln w="12700">
            <a:solidFill>
              <a:srgbClr val="4E1A30"/>
            </a:solidFill>
            <a:prstDash val="solid"/>
          </a:ln>
        </p:spPr>
      </p:sp>
      <p:sp>
        <p:nvSpPr>
          <p:cNvPr id="6" name="Text 4"/>
          <p:cNvSpPr txBox="1"/>
          <p:nvPr/>
        </p:nvSpPr>
        <p:spPr>
          <a:xfrm>
            <a:off x="777240" y="4434840"/>
            <a:ext cx="5212080" cy="14630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Grupo 9</a:t>
            </a:r>
            <a:endParaRPr lang="en-US" sz="15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Jorge Javier Maldonado Mahauad · Melissa Figallo</a:t>
            </a:r>
            <a:endParaRPr lang="en-US" sz="15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Tutora: Gladys María Villegas Rugel</a:t>
            </a:r>
            <a:endParaRPr lang="en-US" sz="1500" dirty="0"/>
          </a:p>
          <a:p>
            <a:pPr indent="0" marL="0">
              <a:spcAft>
                <a:spcPts val="400"/>
              </a:spcAft>
              <a:buNone/>
            </a:pPr>
            <a:r>
              <a:rPr lang="en-US" sz="1200" dirty="0">
                <a:solidFill>
                  <a:srgbClr val="E8CFD8"/>
                </a:solidFill>
                <a:latin typeface="Calibri" pitchFamily="34" charset="0"/>
                <a:ea typeface="Calibri" pitchFamily="34" charset="-122"/>
                <a:cs typeface="Calibri" pitchFamily="34" charset="-120"/>
              </a:rPr>
              <a:t>Maestría en Inteligencia Artificial · UEES · octubre de 2026</a:t>
            </a:r>
            <a:endParaRPr lang="en-US" sz="1500" dirty="0"/>
          </a:p>
        </p:txBody>
      </p:sp>
      <p:sp>
        <p:nvSpPr>
          <p:cNvPr id="7" name="Text 5"/>
          <p:cNvSpPr txBox="1"/>
          <p:nvPr/>
        </p:nvSpPr>
        <p:spPr>
          <a:xfrm>
            <a:off x="6156655" y="5486400"/>
            <a:ext cx="5486400" cy="365760"/>
          </a:xfrm>
          <a:prstGeom prst="rect">
            <a:avLst/>
          </a:prstGeom>
          <a:noFill/>
          <a:ln/>
        </p:spPr>
        <p:txBody>
          <a:bodyPr wrap="square" lIns="0" tIns="0" rIns="0" bIns="0" rtlCol="0" anchor="ctr"/>
          <a:lstStyle/>
          <a:p>
            <a:pPr algn="r" indent="0" marL="0">
              <a:buNone/>
            </a:pPr>
            <a:r>
              <a:rPr lang="en-US" sz="1100" dirty="0">
                <a:solidFill>
                  <a:srgbClr val="E8CFD8"/>
                </a:solidFill>
                <a:latin typeface="Calibri" pitchFamily="34" charset="0"/>
                <a:ea typeface="Calibri" pitchFamily="34" charset="-122"/>
                <a:cs typeface="Calibri" pitchFamily="34" charset="-120"/>
              </a:rPr>
              <a:t>github.com/jorgemaldonadom-cmd/genial-clasificador-normativa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Estructura de la presentación</a:t>
            </a:r>
            <a:endParaRPr lang="en-US" sz="2800" dirty="0"/>
          </a:p>
        </p:txBody>
      </p:sp>
      <p:sp>
        <p:nvSpPr>
          <p:cNvPr id="3" name="Text 1"/>
          <p:cNvSpPr txBox="1"/>
          <p:nvPr/>
        </p:nvSpPr>
        <p:spPr>
          <a:xfrm>
            <a:off x="548640" y="1051560"/>
            <a:ext cx="7315200"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15 minutos · del problema a la recomendación operativa</a:t>
            </a:r>
            <a:endParaRPr lang="en-US" sz="1400" dirty="0"/>
          </a:p>
        </p:txBody>
      </p:sp>
      <p:sp>
        <p:nvSpPr>
          <p:cNvPr id="4" name="Shape 2"/>
          <p:cNvSpPr/>
          <p:nvPr/>
        </p:nvSpPr>
        <p:spPr>
          <a:xfrm>
            <a:off x="548640" y="1828800"/>
            <a:ext cx="548640" cy="548640"/>
          </a:xfrm>
          <a:prstGeom prst="ellipse">
            <a:avLst/>
          </a:prstGeom>
          <a:solidFill>
            <a:srgbClr val="7A1F3D"/>
          </a:solidFill>
          <a:ln w="12700">
            <a:solidFill>
              <a:srgbClr val="7A1F3D"/>
            </a:solidFill>
            <a:prstDash val="solid"/>
          </a:ln>
        </p:spPr>
      </p:sp>
      <p:sp>
        <p:nvSpPr>
          <p:cNvPr id="5" name="Text 3"/>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80160" y="169164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Problema y objetivos</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el observatorio GENIAL, la codificación manual y el IMN</a:t>
            </a:r>
            <a:endParaRPr lang="en-US" sz="1600" dirty="0"/>
          </a:p>
        </p:txBody>
      </p:sp>
      <p:sp>
        <p:nvSpPr>
          <p:cNvPr id="7" name="Text 5"/>
          <p:cNvSpPr txBox="1"/>
          <p:nvPr/>
        </p:nvSpPr>
        <p:spPr>
          <a:xfrm>
            <a:off x="5394960" y="192024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1:00</a:t>
            </a:r>
            <a:endParaRPr lang="en-US" sz="1100" dirty="0"/>
          </a:p>
        </p:txBody>
      </p:sp>
      <p:sp>
        <p:nvSpPr>
          <p:cNvPr id="8" name="Shape 6"/>
          <p:cNvSpPr/>
          <p:nvPr/>
        </p:nvSpPr>
        <p:spPr>
          <a:xfrm>
            <a:off x="6217920" y="1828800"/>
            <a:ext cx="548640" cy="548640"/>
          </a:xfrm>
          <a:prstGeom prst="ellipse">
            <a:avLst/>
          </a:prstGeom>
          <a:solidFill>
            <a:srgbClr val="7A1F3D"/>
          </a:solidFill>
          <a:ln w="12700">
            <a:solidFill>
              <a:srgbClr val="7A1F3D"/>
            </a:solidFill>
            <a:prstDash val="solid"/>
          </a:ln>
        </p:spPr>
      </p:sp>
      <p:sp>
        <p:nvSpPr>
          <p:cNvPr id="9" name="Text 7"/>
          <p:cNvSpPr txBox="1"/>
          <p:nvPr/>
        </p:nvSpPr>
        <p:spPr>
          <a:xfrm>
            <a:off x="621792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6949440" y="169164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Datos y EDA</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813 normas · desbalance 4.7:1 · idioma y pista léxica</a:t>
            </a:r>
            <a:endParaRPr lang="en-US" sz="1600" dirty="0"/>
          </a:p>
        </p:txBody>
      </p:sp>
      <p:sp>
        <p:nvSpPr>
          <p:cNvPr id="11" name="Text 9"/>
          <p:cNvSpPr txBox="1"/>
          <p:nvPr/>
        </p:nvSpPr>
        <p:spPr>
          <a:xfrm>
            <a:off x="11064240" y="192024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2:50</a:t>
            </a:r>
            <a:endParaRPr lang="en-US" sz="1100" dirty="0"/>
          </a:p>
        </p:txBody>
      </p:sp>
      <p:sp>
        <p:nvSpPr>
          <p:cNvPr id="12" name="Shape 10"/>
          <p:cNvSpPr/>
          <p:nvPr/>
        </p:nvSpPr>
        <p:spPr>
          <a:xfrm>
            <a:off x="548640" y="3291840"/>
            <a:ext cx="548640" cy="548640"/>
          </a:xfrm>
          <a:prstGeom prst="ellipse">
            <a:avLst/>
          </a:prstGeom>
          <a:solidFill>
            <a:srgbClr val="7A1F3D"/>
          </a:solidFill>
          <a:ln w="12700">
            <a:solidFill>
              <a:srgbClr val="7A1F3D"/>
            </a:solidFill>
            <a:prstDash val="solid"/>
          </a:ln>
        </p:spPr>
      </p:sp>
      <p:sp>
        <p:nvSpPr>
          <p:cNvPr id="13" name="Text 11"/>
          <p:cNvSpPr txBox="1"/>
          <p:nvPr/>
        </p:nvSpPr>
        <p:spPr>
          <a:xfrm>
            <a:off x="548640" y="3291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80160" y="315468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Diseño experimental y decisión técnica</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dos ramas, dos líneas base, un conjunto ciego</a:t>
            </a:r>
            <a:endParaRPr lang="en-US" sz="1600" dirty="0"/>
          </a:p>
        </p:txBody>
      </p:sp>
      <p:sp>
        <p:nvSpPr>
          <p:cNvPr id="15" name="Text 13"/>
          <p:cNvSpPr txBox="1"/>
          <p:nvPr/>
        </p:nvSpPr>
        <p:spPr>
          <a:xfrm>
            <a:off x="5394960" y="338328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4:35</a:t>
            </a:r>
            <a:endParaRPr lang="en-US" sz="1100" dirty="0"/>
          </a:p>
        </p:txBody>
      </p:sp>
      <p:sp>
        <p:nvSpPr>
          <p:cNvPr id="16" name="Shape 14"/>
          <p:cNvSpPr/>
          <p:nvPr/>
        </p:nvSpPr>
        <p:spPr>
          <a:xfrm>
            <a:off x="6217920" y="3291840"/>
            <a:ext cx="548640" cy="548640"/>
          </a:xfrm>
          <a:prstGeom prst="ellipse">
            <a:avLst/>
          </a:prstGeom>
          <a:solidFill>
            <a:srgbClr val="7A1F3D"/>
          </a:solidFill>
          <a:ln w="12700">
            <a:solidFill>
              <a:srgbClr val="7A1F3D"/>
            </a:solidFill>
            <a:prstDash val="solid"/>
          </a:ln>
        </p:spPr>
      </p:sp>
      <p:sp>
        <p:nvSpPr>
          <p:cNvPr id="17" name="Text 15"/>
          <p:cNvSpPr txBox="1"/>
          <p:nvPr/>
        </p:nvSpPr>
        <p:spPr>
          <a:xfrm>
            <a:off x="6217920" y="3291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6949440" y="315468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Resultados</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validación cruzada, por clase, ablaciones, prueba ciega, multi-etiqueta, codificación humana</a:t>
            </a:r>
            <a:endParaRPr lang="en-US" sz="1600" dirty="0"/>
          </a:p>
        </p:txBody>
      </p:sp>
      <p:sp>
        <p:nvSpPr>
          <p:cNvPr id="19" name="Text 17"/>
          <p:cNvSpPr txBox="1"/>
          <p:nvPr/>
        </p:nvSpPr>
        <p:spPr>
          <a:xfrm>
            <a:off x="11064240" y="338328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6:35</a:t>
            </a:r>
            <a:endParaRPr lang="en-US" sz="1100" dirty="0"/>
          </a:p>
        </p:txBody>
      </p:sp>
      <p:sp>
        <p:nvSpPr>
          <p:cNvPr id="20" name="Shape 18"/>
          <p:cNvSpPr/>
          <p:nvPr/>
        </p:nvSpPr>
        <p:spPr>
          <a:xfrm>
            <a:off x="548640" y="4754880"/>
            <a:ext cx="548640" cy="548640"/>
          </a:xfrm>
          <a:prstGeom prst="ellipse">
            <a:avLst/>
          </a:prstGeom>
          <a:solidFill>
            <a:srgbClr val="7A1F3D"/>
          </a:solidFill>
          <a:ln w="12700">
            <a:solidFill>
              <a:srgbClr val="7A1F3D"/>
            </a:solidFill>
            <a:prstDash val="solid"/>
          </a:ln>
        </p:spPr>
      </p:sp>
      <p:sp>
        <p:nvSpPr>
          <p:cNvPr id="21" name="Text 19"/>
          <p:cNvSpPr txBox="1"/>
          <p:nvPr/>
        </p:nvSpPr>
        <p:spPr>
          <a:xfrm>
            <a:off x="548640" y="4754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280160" y="461772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Operación</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umbral de confianza, enrutamiento, IMN con trazabilidad</a:t>
            </a:r>
            <a:endParaRPr lang="en-US" sz="1600" dirty="0"/>
          </a:p>
        </p:txBody>
      </p:sp>
      <p:sp>
        <p:nvSpPr>
          <p:cNvPr id="23" name="Text 21"/>
          <p:cNvSpPr txBox="1"/>
          <p:nvPr/>
        </p:nvSpPr>
        <p:spPr>
          <a:xfrm>
            <a:off x="5394960" y="484632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12:25</a:t>
            </a:r>
            <a:endParaRPr lang="en-US" sz="1100" dirty="0"/>
          </a:p>
        </p:txBody>
      </p:sp>
      <p:sp>
        <p:nvSpPr>
          <p:cNvPr id="24" name="Shape 22"/>
          <p:cNvSpPr/>
          <p:nvPr/>
        </p:nvSpPr>
        <p:spPr>
          <a:xfrm>
            <a:off x="6217920" y="4754880"/>
            <a:ext cx="548640" cy="548640"/>
          </a:xfrm>
          <a:prstGeom prst="ellipse">
            <a:avLst/>
          </a:prstGeom>
          <a:solidFill>
            <a:srgbClr val="7A1F3D"/>
          </a:solidFill>
          <a:ln w="12700">
            <a:solidFill>
              <a:srgbClr val="7A1F3D"/>
            </a:solidFill>
            <a:prstDash val="solid"/>
          </a:ln>
        </p:spPr>
      </p:sp>
      <p:sp>
        <p:nvSpPr>
          <p:cNvPr id="25" name="Text 23"/>
          <p:cNvSpPr txBox="1"/>
          <p:nvPr/>
        </p:nvSpPr>
        <p:spPr>
          <a:xfrm>
            <a:off x="6217920" y="4754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6949440" y="461772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Impacto social, umbrales y conclusiones</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equidad por jurisdicción, lo que se cumplió y lo que no</a:t>
            </a:r>
            <a:endParaRPr lang="en-US" sz="1600" dirty="0"/>
          </a:p>
        </p:txBody>
      </p:sp>
      <p:sp>
        <p:nvSpPr>
          <p:cNvPr id="27" name="Text 25"/>
          <p:cNvSpPr txBox="1"/>
          <p:nvPr/>
        </p:nvSpPr>
        <p:spPr>
          <a:xfrm>
            <a:off x="11064240" y="484632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13:10</a:t>
            </a:r>
            <a:endParaRPr lang="en-US" sz="1100" dirty="0"/>
          </a:p>
        </p:txBody>
      </p:sp>
      <p:sp>
        <p:nvSpPr>
          <p:cNvPr id="28" name="Text 2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29" name="Text 2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El problema: codificar normativa a mano no escala</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Observatorio regional del proyecto GENIAL (Erasmus+) · Índice de Madurez Normativa por país</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3</a:t>
            </a:r>
            <a:endParaRPr lang="en-US" sz="900" dirty="0"/>
          </a:p>
        </p:txBody>
      </p:sp>
      <p:sp>
        <p:nvSpPr>
          <p:cNvPr id="9" name="Shape 6"/>
          <p:cNvSpPr/>
          <p:nvPr/>
        </p:nvSpPr>
        <p:spPr>
          <a:xfrm>
            <a:off x="548640" y="1600200"/>
            <a:ext cx="2468880" cy="1097280"/>
          </a:xfrm>
          <a:prstGeom prst="roundRect">
            <a:avLst>
              <a:gd name="adj" fmla="val 6667"/>
            </a:avLst>
          </a:prstGeom>
          <a:solidFill>
            <a:srgbClr val="F4F2EF"/>
          </a:solidFill>
          <a:ln w="12700">
            <a:solidFill>
              <a:srgbClr val="F4F2EF"/>
            </a:solidFill>
            <a:prstDash val="solid"/>
          </a:ln>
        </p:spPr>
      </p:sp>
      <p:sp>
        <p:nvSpPr>
          <p:cNvPr id="10" name="Text 7"/>
          <p:cNvSpPr txBox="1"/>
          <p:nvPr/>
        </p:nvSpPr>
        <p:spPr>
          <a:xfrm>
            <a:off x="685800" y="1645920"/>
            <a:ext cx="2194560" cy="1005840"/>
          </a:xfrm>
          <a:prstGeom prst="rect">
            <a:avLst/>
          </a:prstGeom>
          <a:noFill/>
          <a:ln/>
        </p:spPr>
        <p:txBody>
          <a:bodyPr wrap="square" lIns="0" tIns="0" rIns="0" bIns="0" rtlCol="0" anchor="ctr"/>
          <a:lstStyle/>
          <a:p>
            <a:pPr algn="ctr" indent="0" marL="0">
              <a:buNone/>
            </a:pPr>
            <a:r>
              <a:rPr lang="en-US" sz="1200" dirty="0">
                <a:solidFill>
                  <a:srgbClr val="1B1A19"/>
                </a:solidFill>
                <a:latin typeface="Calibri" pitchFamily="34" charset="0"/>
                <a:ea typeface="Calibri" pitchFamily="34" charset="-122"/>
                <a:cs typeface="Calibri" pitchFamily="34" charset="-120"/>
              </a:rPr>
              <a:t>Norma pública</a:t>
            </a:r>
            <a:endParaRPr lang="en-US" sz="1200" dirty="0"/>
          </a:p>
          <a:p>
            <a:pPr algn="ctr" indent="0" marL="0">
              <a:buNone/>
            </a:pPr>
            <a:r>
              <a:rPr lang="en-US" sz="1200" dirty="0">
                <a:solidFill>
                  <a:srgbClr val="1B1A19"/>
                </a:solidFill>
                <a:latin typeface="Calibri" pitchFamily="34" charset="0"/>
                <a:ea typeface="Calibri" pitchFamily="34" charset="-122"/>
                <a:cs typeface="Calibri" pitchFamily="34" charset="-120"/>
              </a:rPr>
              <a:t>(ley, estrategia, reglamento)</a:t>
            </a:r>
            <a:endParaRPr lang="en-US" sz="1200" dirty="0"/>
          </a:p>
        </p:txBody>
      </p:sp>
      <p:sp>
        <p:nvSpPr>
          <p:cNvPr id="11" name="Text 8"/>
          <p:cNvSpPr txBox="1"/>
          <p:nvPr/>
        </p:nvSpPr>
        <p:spPr>
          <a:xfrm>
            <a:off x="3017520" y="1920240"/>
            <a:ext cx="365760" cy="457200"/>
          </a:xfrm>
          <a:prstGeom prst="rect">
            <a:avLst/>
          </a:prstGeom>
          <a:noFill/>
          <a:ln/>
        </p:spPr>
        <p:txBody>
          <a:bodyPr wrap="square" lIns="0" tIns="0" rIns="0" bIns="0" rtlCol="0" anchor="ctr"/>
          <a:lstStyle/>
          <a:p>
            <a:pPr algn="ctr" indent="0" marL="0">
              <a:buNone/>
            </a:pPr>
            <a:r>
              <a:rPr lang="en-US" sz="2200" dirty="0">
                <a:solidFill>
                  <a:srgbClr val="6E6862"/>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3383280" y="1600200"/>
            <a:ext cx="2468880" cy="1097280"/>
          </a:xfrm>
          <a:prstGeom prst="roundRect">
            <a:avLst>
              <a:gd name="adj" fmla="val 6667"/>
            </a:avLst>
          </a:prstGeom>
          <a:solidFill>
            <a:srgbClr val="F4F2EF"/>
          </a:solidFill>
          <a:ln w="12700">
            <a:solidFill>
              <a:srgbClr val="F4F2EF"/>
            </a:solidFill>
            <a:prstDash val="solid"/>
          </a:ln>
        </p:spPr>
      </p:sp>
      <p:sp>
        <p:nvSpPr>
          <p:cNvPr id="13" name="Text 10"/>
          <p:cNvSpPr txBox="1"/>
          <p:nvPr/>
        </p:nvSpPr>
        <p:spPr>
          <a:xfrm>
            <a:off x="3520440" y="1645920"/>
            <a:ext cx="2194560" cy="1005840"/>
          </a:xfrm>
          <a:prstGeom prst="rect">
            <a:avLst/>
          </a:prstGeom>
          <a:noFill/>
          <a:ln/>
        </p:spPr>
        <p:txBody>
          <a:bodyPr wrap="square" lIns="0" tIns="0" rIns="0" bIns="0" rtlCol="0" anchor="ctr"/>
          <a:lstStyle/>
          <a:p>
            <a:pPr algn="ctr" indent="0" marL="0">
              <a:buNone/>
            </a:pPr>
            <a:r>
              <a:rPr lang="en-US" sz="1200" dirty="0">
                <a:solidFill>
                  <a:srgbClr val="1B1A19"/>
                </a:solidFill>
                <a:latin typeface="Calibri" pitchFamily="34" charset="0"/>
                <a:ea typeface="Calibri" pitchFamily="34" charset="-122"/>
                <a:cs typeface="Calibri" pitchFamily="34" charset="-120"/>
              </a:rPr>
              <a:t>Lectura por un</a:t>
            </a:r>
            <a:endParaRPr lang="en-US" sz="1200" dirty="0"/>
          </a:p>
          <a:p>
            <a:pPr algn="ctr" indent="0" marL="0">
              <a:buNone/>
            </a:pPr>
            <a:r>
              <a:rPr lang="en-US" sz="1200" dirty="0">
                <a:solidFill>
                  <a:srgbClr val="1B1A19"/>
                </a:solidFill>
                <a:latin typeface="Calibri" pitchFamily="34" charset="0"/>
                <a:ea typeface="Calibri" pitchFamily="34" charset="-122"/>
                <a:cs typeface="Calibri" pitchFamily="34" charset="-120"/>
              </a:rPr>
              <a:t>investigador</a:t>
            </a:r>
            <a:endParaRPr lang="en-US" sz="1200" dirty="0"/>
          </a:p>
        </p:txBody>
      </p:sp>
      <p:sp>
        <p:nvSpPr>
          <p:cNvPr id="14" name="Text 11"/>
          <p:cNvSpPr txBox="1"/>
          <p:nvPr/>
        </p:nvSpPr>
        <p:spPr>
          <a:xfrm>
            <a:off x="5852160" y="1920240"/>
            <a:ext cx="365760" cy="457200"/>
          </a:xfrm>
          <a:prstGeom prst="rect">
            <a:avLst/>
          </a:prstGeom>
          <a:noFill/>
          <a:ln/>
        </p:spPr>
        <p:txBody>
          <a:bodyPr wrap="square" lIns="0" tIns="0" rIns="0" bIns="0" rtlCol="0" anchor="ctr"/>
          <a:lstStyle/>
          <a:p>
            <a:pPr algn="ctr" indent="0" marL="0">
              <a:buNone/>
            </a:pPr>
            <a:r>
              <a:rPr lang="en-US" sz="2200" dirty="0">
                <a:solidFill>
                  <a:srgbClr val="6E6862"/>
                </a:solidFill>
                <a:latin typeface="Calibri" pitchFamily="34" charset="0"/>
                <a:ea typeface="Calibri" pitchFamily="34" charset="-122"/>
                <a:cs typeface="Calibri" pitchFamily="34" charset="-120"/>
              </a:rPr>
              <a:t>→</a:t>
            </a:r>
            <a:endParaRPr lang="en-US" sz="2200" dirty="0"/>
          </a:p>
        </p:txBody>
      </p:sp>
      <p:sp>
        <p:nvSpPr>
          <p:cNvPr id="15" name="Shape 12"/>
          <p:cNvSpPr/>
          <p:nvPr/>
        </p:nvSpPr>
        <p:spPr>
          <a:xfrm>
            <a:off x="6217920" y="1600200"/>
            <a:ext cx="2468880" cy="1097280"/>
          </a:xfrm>
          <a:prstGeom prst="roundRect">
            <a:avLst>
              <a:gd name="adj" fmla="val 6667"/>
            </a:avLst>
          </a:prstGeom>
          <a:solidFill>
            <a:srgbClr val="F3E6EA"/>
          </a:solidFill>
          <a:ln w="12700">
            <a:solidFill>
              <a:srgbClr val="7A1F3D"/>
            </a:solidFill>
            <a:prstDash val="solid"/>
          </a:ln>
        </p:spPr>
      </p:sp>
      <p:sp>
        <p:nvSpPr>
          <p:cNvPr id="16" name="Text 13"/>
          <p:cNvSpPr txBox="1"/>
          <p:nvPr/>
        </p:nvSpPr>
        <p:spPr>
          <a:xfrm>
            <a:off x="6355080" y="1645920"/>
            <a:ext cx="2194560" cy="1005840"/>
          </a:xfrm>
          <a:prstGeom prst="rect">
            <a:avLst/>
          </a:prstGeom>
          <a:noFill/>
          <a:ln/>
        </p:spPr>
        <p:txBody>
          <a:bodyPr wrap="square" lIns="0" tIns="0" rIns="0" bIns="0" rtlCol="0" anchor="ctr"/>
          <a:lstStyle/>
          <a:p>
            <a:pPr algn="ctr" indent="0" marL="0">
              <a:buNone/>
            </a:pPr>
            <a:r>
              <a:rPr lang="en-US" sz="1200" dirty="0">
                <a:solidFill>
                  <a:srgbClr val="1B1A19"/>
                </a:solidFill>
                <a:latin typeface="Calibri" pitchFamily="34" charset="0"/>
                <a:ea typeface="Calibri" pitchFamily="34" charset="-122"/>
                <a:cs typeface="Calibri" pitchFamily="34" charset="-120"/>
              </a:rPr>
              <a:t>Una dimensión:</a:t>
            </a:r>
            <a:endParaRPr lang="en-US" sz="1200" dirty="0"/>
          </a:p>
          <a:p>
            <a:pPr algn="ctr" indent="0" marL="0">
              <a:buNone/>
            </a:pPr>
            <a:r>
              <a:rPr lang="en-US" sz="1200" dirty="0">
                <a:solidFill>
                  <a:srgbClr val="1B1A19"/>
                </a:solidFill>
                <a:latin typeface="Calibri" pitchFamily="34" charset="0"/>
                <a:ea typeface="Calibri" pitchFamily="34" charset="-122"/>
                <a:cs typeface="Calibri" pitchFamily="34" charset="-120"/>
              </a:rPr>
              <a:t>Pedagógico · Ética · Administrativo · Protección de Datos · Técnico</a:t>
            </a:r>
            <a:endParaRPr lang="en-US" sz="1200" dirty="0"/>
          </a:p>
        </p:txBody>
      </p:sp>
      <p:sp>
        <p:nvSpPr>
          <p:cNvPr id="17" name="Text 14"/>
          <p:cNvSpPr txBox="1"/>
          <p:nvPr/>
        </p:nvSpPr>
        <p:spPr>
          <a:xfrm>
            <a:off x="8686800" y="1920240"/>
            <a:ext cx="365760" cy="457200"/>
          </a:xfrm>
          <a:prstGeom prst="rect">
            <a:avLst/>
          </a:prstGeom>
          <a:noFill/>
          <a:ln/>
        </p:spPr>
        <p:txBody>
          <a:bodyPr wrap="square" lIns="0" tIns="0" rIns="0" bIns="0" rtlCol="0" anchor="ctr"/>
          <a:lstStyle/>
          <a:p>
            <a:pPr algn="ctr" indent="0" marL="0">
              <a:buNone/>
            </a:pPr>
            <a:r>
              <a:rPr lang="en-US" sz="2200" dirty="0">
                <a:solidFill>
                  <a:srgbClr val="6E6862"/>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9052560" y="1600200"/>
            <a:ext cx="2468880" cy="1097280"/>
          </a:xfrm>
          <a:prstGeom prst="roundRect">
            <a:avLst>
              <a:gd name="adj" fmla="val 6667"/>
            </a:avLst>
          </a:prstGeom>
          <a:solidFill>
            <a:srgbClr val="F4F2EF"/>
          </a:solidFill>
          <a:ln w="12700">
            <a:solidFill>
              <a:srgbClr val="F4F2EF"/>
            </a:solidFill>
            <a:prstDash val="solid"/>
          </a:ln>
        </p:spPr>
      </p:sp>
      <p:sp>
        <p:nvSpPr>
          <p:cNvPr id="19" name="Text 16"/>
          <p:cNvSpPr txBox="1"/>
          <p:nvPr/>
        </p:nvSpPr>
        <p:spPr>
          <a:xfrm>
            <a:off x="9189720" y="1645920"/>
            <a:ext cx="2194560" cy="1005840"/>
          </a:xfrm>
          <a:prstGeom prst="rect">
            <a:avLst/>
          </a:prstGeom>
          <a:noFill/>
          <a:ln/>
        </p:spPr>
        <p:txBody>
          <a:bodyPr wrap="square" lIns="0" tIns="0" rIns="0" bIns="0" rtlCol="0" anchor="ctr"/>
          <a:lstStyle/>
          <a:p>
            <a:pPr algn="ctr" indent="0" marL="0">
              <a:buNone/>
            </a:pPr>
            <a:r>
              <a:rPr lang="en-US" sz="1200" dirty="0">
                <a:solidFill>
                  <a:srgbClr val="1B1A19"/>
                </a:solidFill>
                <a:latin typeface="Calibri" pitchFamily="34" charset="0"/>
                <a:ea typeface="Calibri" pitchFamily="34" charset="-122"/>
                <a:cs typeface="Calibri" pitchFamily="34" charset="-120"/>
              </a:rPr>
              <a:t>Conteo por país</a:t>
            </a:r>
            <a:endParaRPr lang="en-US" sz="1200" dirty="0"/>
          </a:p>
          <a:p>
            <a:pPr algn="ctr" indent="0" marL="0">
              <a:buNone/>
            </a:pPr>
            <a:r>
              <a:rPr lang="en-US" sz="1200" dirty="0">
                <a:solidFill>
                  <a:srgbClr val="1B1A19"/>
                </a:solidFill>
                <a:latin typeface="Calibri" pitchFamily="34" charset="0"/>
                <a:ea typeface="Calibri" pitchFamily="34" charset="-122"/>
                <a:cs typeface="Calibri" pitchFamily="34" charset="-120"/>
              </a:rPr>
              <a:t>→ IMN</a:t>
            </a:r>
            <a:endParaRPr lang="en-US" sz="1200" dirty="0"/>
          </a:p>
        </p:txBody>
      </p:sp>
      <p:sp>
        <p:nvSpPr>
          <p:cNvPr id="20" name="Shape 17"/>
          <p:cNvSpPr/>
          <p:nvPr/>
        </p:nvSpPr>
        <p:spPr>
          <a:xfrm>
            <a:off x="548640" y="3154680"/>
            <a:ext cx="3566160" cy="2651760"/>
          </a:xfrm>
          <a:prstGeom prst="roundRect">
            <a:avLst>
              <a:gd name="adj" fmla="val 2759"/>
            </a:avLst>
          </a:prstGeom>
          <a:solidFill>
            <a:srgbClr val="F4F2EF"/>
          </a:solidFill>
          <a:ln w="12700">
            <a:solidFill>
              <a:srgbClr val="F4F2EF"/>
            </a:solidFill>
            <a:prstDash val="solid"/>
          </a:ln>
        </p:spPr>
      </p:sp>
      <p:sp>
        <p:nvSpPr>
          <p:cNvPr id="21" name="Text 18"/>
          <p:cNvSpPr txBox="1"/>
          <p:nvPr/>
        </p:nvSpPr>
        <p:spPr>
          <a:xfrm>
            <a:off x="731520" y="3291840"/>
            <a:ext cx="320040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No escala</a:t>
            </a:r>
            <a:endParaRPr lang="en-US" sz="1400" dirty="0"/>
          </a:p>
        </p:txBody>
      </p:sp>
      <p:sp>
        <p:nvSpPr>
          <p:cNvPr id="22" name="Text 19"/>
          <p:cNvSpPr txBox="1"/>
          <p:nvPr/>
        </p:nvSpPr>
        <p:spPr>
          <a:xfrm>
            <a:off x="731520" y="3657600"/>
            <a:ext cx="3200400" cy="201168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Cada norma exige lectura completa y criterio experto (≈ 10 min/norma). El corpus crece con cada actualización del observatorio y con cada país que se incorpora.</a:t>
            </a:r>
            <a:endParaRPr lang="en-US" sz="1200" dirty="0"/>
          </a:p>
        </p:txBody>
      </p:sp>
      <p:sp>
        <p:nvSpPr>
          <p:cNvPr id="23" name="Shape 20"/>
          <p:cNvSpPr/>
          <p:nvPr/>
        </p:nvSpPr>
        <p:spPr>
          <a:xfrm>
            <a:off x="4297680" y="3154680"/>
            <a:ext cx="3566160" cy="2651760"/>
          </a:xfrm>
          <a:prstGeom prst="roundRect">
            <a:avLst>
              <a:gd name="adj" fmla="val 2759"/>
            </a:avLst>
          </a:prstGeom>
          <a:solidFill>
            <a:srgbClr val="F4F2EF"/>
          </a:solidFill>
          <a:ln w="12700">
            <a:solidFill>
              <a:srgbClr val="F4F2EF"/>
            </a:solidFill>
            <a:prstDash val="solid"/>
          </a:ln>
        </p:spPr>
      </p:sp>
      <p:sp>
        <p:nvSpPr>
          <p:cNvPr id="24" name="Text 21"/>
          <p:cNvSpPr txBox="1"/>
          <p:nvPr/>
        </p:nvSpPr>
        <p:spPr>
          <a:xfrm>
            <a:off x="4480560" y="3291840"/>
            <a:ext cx="320040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Un solo codificador por norma</a:t>
            </a:r>
            <a:endParaRPr lang="en-US" sz="1400" dirty="0"/>
          </a:p>
        </p:txBody>
      </p:sp>
      <p:sp>
        <p:nvSpPr>
          <p:cNvPr id="25" name="Text 22"/>
          <p:cNvSpPr txBox="1"/>
          <p:nvPr/>
        </p:nvSpPr>
        <p:spPr>
          <a:xfrm>
            <a:off x="4480560" y="3657600"/>
            <a:ext cx="3200400" cy="201168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No hay fiabilidad intercodificador medida: no sabemos cuánto acordarían dos expertos sobre la misma norma. El estándar de referencia tiene un techo desconocido.</a:t>
            </a:r>
            <a:endParaRPr lang="en-US" sz="1200" dirty="0"/>
          </a:p>
        </p:txBody>
      </p:sp>
      <p:sp>
        <p:nvSpPr>
          <p:cNvPr id="26" name="Shape 23"/>
          <p:cNvSpPr/>
          <p:nvPr/>
        </p:nvSpPr>
        <p:spPr>
          <a:xfrm>
            <a:off x="8046720" y="3154680"/>
            <a:ext cx="3566160" cy="2651760"/>
          </a:xfrm>
          <a:prstGeom prst="roundRect">
            <a:avLst>
              <a:gd name="adj" fmla="val 2759"/>
            </a:avLst>
          </a:prstGeom>
          <a:solidFill>
            <a:srgbClr val="F3E6EA"/>
          </a:solidFill>
          <a:ln w="12700">
            <a:solidFill>
              <a:srgbClr val="F3E6EA"/>
            </a:solidFill>
            <a:prstDash val="solid"/>
          </a:ln>
        </p:spPr>
      </p:sp>
      <p:sp>
        <p:nvSpPr>
          <p:cNvPr id="27" name="Text 24"/>
          <p:cNvSpPr txBox="1"/>
          <p:nvPr/>
        </p:nvSpPr>
        <p:spPr>
          <a:xfrm>
            <a:off x="8229600" y="3291840"/>
            <a:ext cx="320040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Etiqueta única forzada</a:t>
            </a:r>
            <a:endParaRPr lang="en-US" sz="1400" dirty="0"/>
          </a:p>
        </p:txBody>
      </p:sp>
      <p:sp>
        <p:nvSpPr>
          <p:cNvPr id="28" name="Text 25"/>
          <p:cNvSpPr txBox="1"/>
          <p:nvPr/>
        </p:nvSpPr>
        <p:spPr>
          <a:xfrm>
            <a:off x="8229600" y="3657600"/>
            <a:ext cx="3200400" cy="201168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Muchas normas tocan dos dimensiones a la vez (pedagógica con componente ético). La codificación las obliga a una sola casilla; el error del modelo y el desacuerdo humano se confunden.</a:t>
            </a:r>
            <a:endParaRPr lang="en-US" sz="1200" dirty="0"/>
          </a:p>
        </p:txBody>
      </p:sp>
      <p:sp>
        <p:nvSpPr>
          <p:cNvPr id="29" name="Text 26"/>
          <p:cNvSpPr txBox="1"/>
          <p:nvPr/>
        </p:nvSpPr>
        <p:spPr>
          <a:xfrm>
            <a:off x="548640" y="5897880"/>
            <a:ext cx="11094415" cy="411480"/>
          </a:xfrm>
          <a:prstGeom prst="rect">
            <a:avLst/>
          </a:prstGeom>
          <a:noFill/>
          <a:ln/>
        </p:spPr>
        <p:txBody>
          <a:bodyPr wrap="square" lIns="0" tIns="0" rIns="0" bIns="0" rtlCol="0" anchor="ctr"/>
          <a:lstStyle/>
          <a:p>
            <a:pPr indent="0" marL="0">
              <a:buNone/>
            </a:pPr>
            <a:r>
              <a:rPr lang="en-US" sz="1300" i="1" dirty="0">
                <a:solidFill>
                  <a:srgbClr val="7A1F3D"/>
                </a:solidFill>
                <a:latin typeface="Calibri" pitchFamily="34" charset="0"/>
                <a:ea typeface="Calibri" pitchFamily="34" charset="-122"/>
                <a:cs typeface="Calibri" pitchFamily="34" charset="-120"/>
              </a:rPr>
              <a:t>Pregunta: ¿puede un clasificador automático asignar la dimensión con la calidad y la trazabilidad que exige un índice comparativo entre países?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Pregunta de investigación y objetivos</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Umbrales de éxito fijados por escrito antes de ejecutar (documento técnico, §4)</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4</a:t>
            </a:r>
            <a:endParaRPr lang="en-US" sz="900" dirty="0"/>
          </a:p>
        </p:txBody>
      </p:sp>
      <p:sp>
        <p:nvSpPr>
          <p:cNvPr id="9" name="Shape 6"/>
          <p:cNvSpPr/>
          <p:nvPr/>
        </p:nvSpPr>
        <p:spPr>
          <a:xfrm>
            <a:off x="548640" y="1554480"/>
            <a:ext cx="6583680" cy="1371600"/>
          </a:xfrm>
          <a:prstGeom prst="roundRect">
            <a:avLst>
              <a:gd name="adj" fmla="val 5333"/>
            </a:avLst>
          </a:prstGeom>
          <a:solidFill>
            <a:srgbClr val="F3E6EA"/>
          </a:solidFill>
          <a:ln w="12700">
            <a:solidFill>
              <a:srgbClr val="F3E6EA"/>
            </a:solidFill>
            <a:prstDash val="solid"/>
          </a:ln>
        </p:spPr>
      </p:sp>
      <p:sp>
        <p:nvSpPr>
          <p:cNvPr id="10" name="Text 7"/>
          <p:cNvSpPr txBox="1"/>
          <p:nvPr/>
        </p:nvSpPr>
        <p:spPr>
          <a:xfrm>
            <a:off x="777240" y="1645920"/>
            <a:ext cx="6126480" cy="1188720"/>
          </a:xfrm>
          <a:prstGeom prst="rect">
            <a:avLst/>
          </a:prstGeom>
          <a:noFill/>
          <a:ln/>
        </p:spPr>
        <p:txBody>
          <a:bodyPr wrap="square" lIns="0" tIns="0" rIns="0" bIns="0" rtlCol="0" anchor="ctr"/>
          <a:lstStyle/>
          <a:p>
            <a:pPr indent="0" marL="0">
              <a:buNone/>
            </a:pPr>
            <a:r>
              <a:rPr lang="en-US" sz="1600" i="1" dirty="0">
                <a:solidFill>
                  <a:srgbClr val="3B0F1F"/>
                </a:solidFill>
                <a:latin typeface="Cambria" pitchFamily="34" charset="0"/>
                <a:ea typeface="Cambria" pitchFamily="34" charset="-122"/>
                <a:cs typeface="Cambria" pitchFamily="34" charset="-120"/>
              </a:rPr>
              <a:t>¿Con qué exactitud puede un clasificador automático asignar la dimensión de una norma a partir de su texto, y cómo se compara esa exactitud con el acuerdo entre codificadores humanos?</a:t>
            </a:r>
            <a:endParaRPr lang="en-US" sz="1600" dirty="0"/>
          </a:p>
        </p:txBody>
      </p:sp>
      <p:sp>
        <p:nvSpPr>
          <p:cNvPr id="11" name="Shape 8"/>
          <p:cNvSpPr/>
          <p:nvPr/>
        </p:nvSpPr>
        <p:spPr>
          <a:xfrm>
            <a:off x="548640" y="3200400"/>
            <a:ext cx="502920" cy="502920"/>
          </a:xfrm>
          <a:prstGeom prst="ellipse">
            <a:avLst/>
          </a:prstGeom>
          <a:solidFill>
            <a:srgbClr val="7A1F3D"/>
          </a:solidFill>
          <a:ln w="12700">
            <a:solidFill>
              <a:srgbClr val="7A1F3D"/>
            </a:solidFill>
            <a:prstDash val="solid"/>
          </a:ln>
        </p:spPr>
      </p:sp>
      <p:sp>
        <p:nvSpPr>
          <p:cNvPr id="12" name="Text 9"/>
          <p:cNvSpPr txBox="1"/>
          <p:nvPr/>
        </p:nvSpPr>
        <p:spPr>
          <a:xfrm>
            <a:off x="548640" y="320040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O1</a:t>
            </a:r>
            <a:endParaRPr lang="en-US" sz="1100" dirty="0"/>
          </a:p>
        </p:txBody>
      </p:sp>
      <p:sp>
        <p:nvSpPr>
          <p:cNvPr id="13" name="Text 10"/>
          <p:cNvSpPr txBox="1"/>
          <p:nvPr/>
        </p:nvSpPr>
        <p:spPr>
          <a:xfrm>
            <a:off x="1234440" y="3154680"/>
            <a:ext cx="5852160" cy="594360"/>
          </a:xfrm>
          <a:prstGeom prst="rect">
            <a:avLst/>
          </a:prstGeom>
          <a:noFill/>
          <a:ln/>
        </p:spPr>
        <p:txBody>
          <a:bodyPr wrap="square" lIns="0" tIns="0" rIns="0" bIns="0" rtlCol="0" anchor="ctr"/>
          <a:lstStyle/>
          <a:p>
            <a:pPr indent="0" marL="0">
              <a:buNone/>
            </a:pPr>
            <a:r>
              <a:rPr lang="en-US" sz="1250" dirty="0">
                <a:solidFill>
                  <a:srgbClr val="1B1A19"/>
                </a:solidFill>
                <a:latin typeface="Calibri" pitchFamily="34" charset="0"/>
                <a:ea typeface="Calibri" pitchFamily="34" charset="-122"/>
                <a:cs typeface="Calibri" pitchFamily="34" charset="-120"/>
              </a:rPr>
              <a:t>Construir y evaluar dos técnicas —clásica supervisada y LLM few-shot— sobre un mismo conjunto de prueba a ciegas.</a:t>
            </a:r>
            <a:endParaRPr lang="en-US" sz="1250" dirty="0"/>
          </a:p>
        </p:txBody>
      </p:sp>
      <p:sp>
        <p:nvSpPr>
          <p:cNvPr id="14" name="Shape 11"/>
          <p:cNvSpPr/>
          <p:nvPr/>
        </p:nvSpPr>
        <p:spPr>
          <a:xfrm>
            <a:off x="548640" y="3913632"/>
            <a:ext cx="502920" cy="502920"/>
          </a:xfrm>
          <a:prstGeom prst="ellipse">
            <a:avLst/>
          </a:prstGeom>
          <a:solidFill>
            <a:srgbClr val="7A1F3D"/>
          </a:solidFill>
          <a:ln w="12700">
            <a:solidFill>
              <a:srgbClr val="7A1F3D"/>
            </a:solidFill>
            <a:prstDash val="solid"/>
          </a:ln>
        </p:spPr>
      </p:sp>
      <p:sp>
        <p:nvSpPr>
          <p:cNvPr id="15" name="Text 12"/>
          <p:cNvSpPr txBox="1"/>
          <p:nvPr/>
        </p:nvSpPr>
        <p:spPr>
          <a:xfrm>
            <a:off x="548640" y="3913632"/>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O2</a:t>
            </a:r>
            <a:endParaRPr lang="en-US" sz="1100" dirty="0"/>
          </a:p>
        </p:txBody>
      </p:sp>
      <p:sp>
        <p:nvSpPr>
          <p:cNvPr id="16" name="Text 13"/>
          <p:cNvSpPr txBox="1"/>
          <p:nvPr/>
        </p:nvSpPr>
        <p:spPr>
          <a:xfrm>
            <a:off x="1234440" y="3867912"/>
            <a:ext cx="5852160" cy="594360"/>
          </a:xfrm>
          <a:prstGeom prst="rect">
            <a:avLst/>
          </a:prstGeom>
          <a:noFill/>
          <a:ln/>
        </p:spPr>
        <p:txBody>
          <a:bodyPr wrap="square" lIns="0" tIns="0" rIns="0" bIns="0" rtlCol="0" anchor="ctr"/>
          <a:lstStyle/>
          <a:p>
            <a:pPr indent="0" marL="0">
              <a:buNone/>
            </a:pPr>
            <a:r>
              <a:rPr lang="en-US" sz="1250" dirty="0">
                <a:solidFill>
                  <a:srgbClr val="1B1A19"/>
                </a:solidFill>
                <a:latin typeface="Calibri" pitchFamily="34" charset="0"/>
                <a:ea typeface="Calibri" pitchFamily="34" charset="-122"/>
                <a:cs typeface="Calibri" pitchFamily="34" charset="-120"/>
              </a:rPr>
              <a:t>Medir con intervalos de confianza, pruebas pareadas (McNemar) y κ frente al acuerdo humano-humano.</a:t>
            </a:r>
            <a:endParaRPr lang="en-US" sz="1250" dirty="0"/>
          </a:p>
        </p:txBody>
      </p:sp>
      <p:sp>
        <p:nvSpPr>
          <p:cNvPr id="17" name="Shape 14"/>
          <p:cNvSpPr/>
          <p:nvPr/>
        </p:nvSpPr>
        <p:spPr>
          <a:xfrm>
            <a:off x="548640" y="4626864"/>
            <a:ext cx="502920" cy="502920"/>
          </a:xfrm>
          <a:prstGeom prst="ellipse">
            <a:avLst/>
          </a:prstGeom>
          <a:solidFill>
            <a:srgbClr val="7A1F3D"/>
          </a:solidFill>
          <a:ln w="12700">
            <a:solidFill>
              <a:srgbClr val="7A1F3D"/>
            </a:solidFill>
            <a:prstDash val="solid"/>
          </a:ln>
        </p:spPr>
      </p:sp>
      <p:sp>
        <p:nvSpPr>
          <p:cNvPr id="18" name="Text 15"/>
          <p:cNvSpPr txBox="1"/>
          <p:nvPr/>
        </p:nvSpPr>
        <p:spPr>
          <a:xfrm>
            <a:off x="548640" y="4626864"/>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O3</a:t>
            </a:r>
            <a:endParaRPr lang="en-US" sz="1100" dirty="0"/>
          </a:p>
        </p:txBody>
      </p:sp>
      <p:sp>
        <p:nvSpPr>
          <p:cNvPr id="19" name="Text 16"/>
          <p:cNvSpPr txBox="1"/>
          <p:nvPr/>
        </p:nvSpPr>
        <p:spPr>
          <a:xfrm>
            <a:off x="1234440" y="4581144"/>
            <a:ext cx="5852160" cy="594360"/>
          </a:xfrm>
          <a:prstGeom prst="rect">
            <a:avLst/>
          </a:prstGeom>
          <a:noFill/>
          <a:ln/>
        </p:spPr>
        <p:txBody>
          <a:bodyPr wrap="square" lIns="0" tIns="0" rIns="0" bIns="0" rtlCol="0" anchor="ctr"/>
          <a:lstStyle/>
          <a:p>
            <a:pPr indent="0" marL="0">
              <a:buNone/>
            </a:pPr>
            <a:r>
              <a:rPr lang="en-US" sz="1250" dirty="0">
                <a:solidFill>
                  <a:srgbClr val="1B1A19"/>
                </a:solidFill>
                <a:latin typeface="Calibri" pitchFamily="34" charset="0"/>
                <a:ea typeface="Calibri" pitchFamily="34" charset="-122"/>
                <a:cs typeface="Calibri" pitchFamily="34" charset="-120"/>
              </a:rPr>
              <a:t>Diagnosticar la multi-etiqueta a partir de los errores (top-2 y tipificación).</a:t>
            </a:r>
            <a:endParaRPr lang="en-US" sz="1250" dirty="0"/>
          </a:p>
        </p:txBody>
      </p:sp>
      <p:sp>
        <p:nvSpPr>
          <p:cNvPr id="20" name="Shape 17"/>
          <p:cNvSpPr/>
          <p:nvPr/>
        </p:nvSpPr>
        <p:spPr>
          <a:xfrm>
            <a:off x="548640" y="5340096"/>
            <a:ext cx="502920" cy="502920"/>
          </a:xfrm>
          <a:prstGeom prst="ellipse">
            <a:avLst/>
          </a:prstGeom>
          <a:solidFill>
            <a:srgbClr val="7A1F3D"/>
          </a:solidFill>
          <a:ln w="12700">
            <a:solidFill>
              <a:srgbClr val="7A1F3D"/>
            </a:solidFill>
            <a:prstDash val="solid"/>
          </a:ln>
        </p:spPr>
      </p:sp>
      <p:sp>
        <p:nvSpPr>
          <p:cNvPr id="21" name="Text 18"/>
          <p:cNvSpPr txBox="1"/>
          <p:nvPr/>
        </p:nvSpPr>
        <p:spPr>
          <a:xfrm>
            <a:off x="548640" y="5340096"/>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O4</a:t>
            </a:r>
            <a:endParaRPr lang="en-US" sz="1100" dirty="0"/>
          </a:p>
        </p:txBody>
      </p:sp>
      <p:sp>
        <p:nvSpPr>
          <p:cNvPr id="22" name="Text 19"/>
          <p:cNvSpPr txBox="1"/>
          <p:nvPr/>
        </p:nvSpPr>
        <p:spPr>
          <a:xfrm>
            <a:off x="1234440" y="5294376"/>
            <a:ext cx="5852160" cy="594360"/>
          </a:xfrm>
          <a:prstGeom prst="rect">
            <a:avLst/>
          </a:prstGeom>
          <a:noFill/>
          <a:ln/>
        </p:spPr>
        <p:txBody>
          <a:bodyPr wrap="square" lIns="0" tIns="0" rIns="0" bIns="0" rtlCol="0" anchor="ctr"/>
          <a:lstStyle/>
          <a:p>
            <a:pPr indent="0" marL="0">
              <a:buNone/>
            </a:pPr>
            <a:r>
              <a:rPr lang="en-US" sz="1250" dirty="0">
                <a:solidFill>
                  <a:srgbClr val="1B1A19"/>
                </a:solidFill>
                <a:latin typeface="Calibri" pitchFamily="34" charset="0"/>
                <a:ea typeface="Calibri" pitchFamily="34" charset="-122"/>
                <a:cs typeface="Calibri" pitchFamily="34" charset="-120"/>
              </a:rPr>
              <a:t>Especificar la integración operativa: umbral de confianza, enrutamiento a revisión humana, IMN trazable.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98080" y="1554480"/>
          <a:ext cx="4144975" cy="914400"/>
        </p:xfrm>
        <a:graphic>
          <a:graphicData uri="http://schemas.openxmlformats.org/drawingml/2006/table">
            <a:tbl>
              <a:tblPr/>
              <a:tblGrid>
                <a:gridCol w="1554480"/>
                <a:gridCol w="1554480"/>
                <a:gridCol w="158191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Métrica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Mínimo</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Excelencia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F1 macro (mejor rama)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0.60 y &gt; líneas base (McNemar p &lt; 0.05)</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0.70; IC inferior &gt; 0.60</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F1 por clase</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ninguna &lt; 0.40</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ninguna &lt; 0.50</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κ modelo-humano</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0.60</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κ humano-humano</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Normas a revisión humana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40 %</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30 % con ≥ 85 % de exactitud automática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24" name="Text 20"/>
          <p:cNvSpPr txBox="1"/>
          <p:nvPr/>
        </p:nvSpPr>
        <p:spPr>
          <a:xfrm>
            <a:off x="7498080" y="4343400"/>
            <a:ext cx="4663440" cy="365760"/>
          </a:xfrm>
          <a:prstGeom prst="rect">
            <a:avLst/>
          </a:prstGeom>
          <a:noFill/>
          <a:ln/>
        </p:spPr>
        <p:txBody>
          <a:bodyPr wrap="square" lIns="0" tIns="0" rIns="0" bIns="0" rtlCol="0" anchor="ctr"/>
          <a:lstStyle/>
          <a:p>
            <a:pPr indent="0" marL="0">
              <a:buNone/>
            </a:pPr>
            <a:r>
              <a:rPr lang="en-US" sz="1050" i="1" dirty="0">
                <a:solidFill>
                  <a:srgbClr val="6E6862"/>
                </a:solidFill>
                <a:latin typeface="Calibri" pitchFamily="34" charset="0"/>
                <a:ea typeface="Calibri" pitchFamily="34" charset="-122"/>
                <a:cs typeface="Calibri" pitchFamily="34" charset="-120"/>
              </a:rPr>
              <a:t>Piso aritmético (clase mayoritaria): exactitud 0.365 · F1 macro 0.107</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El corpus GENIAL: 813 normas, 28 jurisdicciones</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Versión congelada (SHA-256 verificado al cargar) · 13 columnas · texto = título + observaciones</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5</a:t>
            </a:r>
            <a:endParaRPr lang="en-US" sz="900" dirty="0"/>
          </a:p>
        </p:txBody>
      </p:sp>
      <p:graphicFrame>
        <p:nvGraphicFramePr>
          <p:cNvPr id="9" name="Chart 0" descr=""/>
          <p:cNvGraphicFramePr/>
          <p:nvPr/>
        </p:nvGraphicFramePr>
        <p:xfrm>
          <a:off x="548640" y="146304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6858000" y="1463040"/>
            <a:ext cx="246888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4.7 : 1</a:t>
            </a:r>
            <a:endParaRPr lang="en-US" sz="4000" dirty="0"/>
          </a:p>
        </p:txBody>
      </p:sp>
      <p:sp>
        <p:nvSpPr>
          <p:cNvPr id="11" name="Text 7"/>
          <p:cNvSpPr txBox="1"/>
          <p:nvPr/>
        </p:nvSpPr>
        <p:spPr>
          <a:xfrm>
            <a:off x="6858000" y="2286000"/>
            <a:ext cx="246888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desbalance entre la clase mayor y la menor</a:t>
            </a:r>
            <a:endParaRPr lang="en-US" sz="1100" dirty="0"/>
          </a:p>
        </p:txBody>
      </p:sp>
      <p:sp>
        <p:nvSpPr>
          <p:cNvPr id="12" name="Text 8"/>
          <p:cNvSpPr txBox="1"/>
          <p:nvPr/>
        </p:nvSpPr>
        <p:spPr>
          <a:xfrm>
            <a:off x="9418320" y="1463040"/>
            <a:ext cx="246888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44</a:t>
            </a:r>
            <a:endParaRPr lang="en-US" sz="4000" dirty="0"/>
          </a:p>
        </p:txBody>
      </p:sp>
      <p:sp>
        <p:nvSpPr>
          <p:cNvPr id="13" name="Text 9"/>
          <p:cNvSpPr txBox="1"/>
          <p:nvPr/>
        </p:nvSpPr>
        <p:spPr>
          <a:xfrm>
            <a:off x="9418320" y="2286000"/>
            <a:ext cx="246888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palabras por norma (mediana); máximo 274</a:t>
            </a:r>
            <a:endParaRPr lang="en-US" sz="1100" dirty="0"/>
          </a:p>
        </p:txBody>
      </p:sp>
      <p:sp>
        <p:nvSpPr>
          <p:cNvPr id="14" name="Text 10"/>
          <p:cNvSpPr txBox="1"/>
          <p:nvPr/>
        </p:nvSpPr>
        <p:spPr>
          <a:xfrm>
            <a:off x="6858000" y="3063240"/>
            <a:ext cx="2468880" cy="822960"/>
          </a:xfrm>
          <a:prstGeom prst="rect">
            <a:avLst/>
          </a:prstGeom>
          <a:noFill/>
          <a:ln/>
        </p:spPr>
        <p:txBody>
          <a:bodyPr wrap="square" lIns="0" tIns="0" rIns="0" bIns="0" rtlCol="0" anchor="b"/>
          <a:lstStyle/>
          <a:p>
            <a:pPr algn="ctr" indent="0" marL="0">
              <a:buNone/>
            </a:pPr>
            <a:r>
              <a:rPr lang="en-US" sz="3000" b="1" dirty="0">
                <a:solidFill>
                  <a:srgbClr val="7A1F3D"/>
                </a:solidFill>
                <a:latin typeface="Cambria" pitchFamily="34" charset="0"/>
                <a:ea typeface="Cambria" pitchFamily="34" charset="-122"/>
                <a:cs typeface="Cambria" pitchFamily="34" charset="-120"/>
              </a:rPr>
              <a:t>712 · 76 · 25</a:t>
            </a:r>
            <a:endParaRPr lang="en-US" sz="3000" dirty="0"/>
          </a:p>
        </p:txBody>
      </p:sp>
      <p:sp>
        <p:nvSpPr>
          <p:cNvPr id="15" name="Text 11"/>
          <p:cNvSpPr txBox="1"/>
          <p:nvPr/>
        </p:nvSpPr>
        <p:spPr>
          <a:xfrm>
            <a:off x="6858000" y="3886200"/>
            <a:ext cx="246888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títulos en español · portugués · inglés</a:t>
            </a:r>
            <a:endParaRPr lang="en-US" sz="1100" dirty="0"/>
          </a:p>
        </p:txBody>
      </p:sp>
      <p:sp>
        <p:nvSpPr>
          <p:cNvPr id="16" name="Text 12"/>
          <p:cNvSpPr txBox="1"/>
          <p:nvPr/>
        </p:nvSpPr>
        <p:spPr>
          <a:xfrm>
            <a:off x="9418320" y="3063240"/>
            <a:ext cx="246888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66 %</a:t>
            </a:r>
            <a:endParaRPr lang="en-US" sz="4000" dirty="0"/>
          </a:p>
        </p:txBody>
      </p:sp>
      <p:sp>
        <p:nvSpPr>
          <p:cNvPr id="17" name="Text 13"/>
          <p:cNvSpPr txBox="1"/>
          <p:nvPr/>
        </p:nvSpPr>
        <p:spPr>
          <a:xfrm>
            <a:off x="9418320" y="3886200"/>
            <a:ext cx="246888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del corpus en 5 países: MX, CL, AR, BR, EC</a:t>
            </a:r>
            <a:endParaRPr lang="en-US" sz="1100" dirty="0"/>
          </a:p>
        </p:txBody>
      </p:sp>
      <p:sp>
        <p:nvSpPr>
          <p:cNvPr id="18" name="Shape 14"/>
          <p:cNvSpPr/>
          <p:nvPr/>
        </p:nvSpPr>
        <p:spPr>
          <a:xfrm>
            <a:off x="6858000" y="4663440"/>
            <a:ext cx="4937760" cy="1234440"/>
          </a:xfrm>
          <a:prstGeom prst="roundRect">
            <a:avLst>
              <a:gd name="adj" fmla="val 5926"/>
            </a:avLst>
          </a:prstGeom>
          <a:solidFill>
            <a:srgbClr val="F4F2EF"/>
          </a:solidFill>
          <a:ln w="12700">
            <a:solidFill>
              <a:srgbClr val="F4F2EF"/>
            </a:solidFill>
            <a:prstDash val="solid"/>
          </a:ln>
        </p:spPr>
      </p:sp>
      <p:sp>
        <p:nvSpPr>
          <p:cNvPr id="19" name="Text 15"/>
          <p:cNvSpPr txBox="1"/>
          <p:nvPr/>
        </p:nvSpPr>
        <p:spPr>
          <a:xfrm>
            <a:off x="7040880" y="4800600"/>
            <a:ext cx="457200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Implicación de diseño</a:t>
            </a:r>
            <a:endParaRPr lang="en-US" sz="1400" dirty="0"/>
          </a:p>
        </p:txBody>
      </p:sp>
      <p:sp>
        <p:nvSpPr>
          <p:cNvPr id="20" name="Text 16"/>
          <p:cNvSpPr txBox="1"/>
          <p:nvPr/>
        </p:nvSpPr>
        <p:spPr>
          <a:xfrm>
            <a:off x="7040880" y="5166360"/>
            <a:ext cx="4572000" cy="5943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813 ejemplos y dos clases con menos de 75 casos: suficiente para un modelo lineal regularizado con clases ponderadas; insuficiente para afinar un transformer sin alta varianza. La clase mayoritaria fija el piso en 36.5 % de exactitud.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Lo que el EDA cambió en el diseño</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pandas · matplotlib · seaborn · cuaderno ejecutado en el repositorio (Semana 2)</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6</a:t>
            </a:r>
            <a:endParaRPr lang="en-US" sz="900" dirty="0"/>
          </a:p>
        </p:txBody>
      </p:sp>
      <p:sp>
        <p:nvSpPr>
          <p:cNvPr id="9" name="Shape 6"/>
          <p:cNvSpPr/>
          <p:nvPr/>
        </p:nvSpPr>
        <p:spPr>
          <a:xfrm>
            <a:off x="548640" y="1508760"/>
            <a:ext cx="3611880" cy="3017520"/>
          </a:xfrm>
          <a:prstGeom prst="roundRect">
            <a:avLst>
              <a:gd name="adj" fmla="val 2424"/>
            </a:avLst>
          </a:prstGeom>
          <a:solidFill>
            <a:srgbClr val="F4F2EF"/>
          </a:solidFill>
          <a:ln w="12700">
            <a:solidFill>
              <a:srgbClr val="F4F2EF"/>
            </a:solidFill>
            <a:prstDash val="solid"/>
          </a:ln>
        </p:spPr>
      </p:sp>
      <p:sp>
        <p:nvSpPr>
          <p:cNvPr id="10" name="Text 7"/>
          <p:cNvSpPr txBox="1"/>
          <p:nvPr/>
        </p:nvSpPr>
        <p:spPr>
          <a:xfrm>
            <a:off x="731520" y="1645920"/>
            <a:ext cx="324612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1 · El idioma es de segundo orden</a:t>
            </a:r>
            <a:endParaRPr lang="en-US" sz="1400" dirty="0"/>
          </a:p>
        </p:txBody>
      </p:sp>
      <p:sp>
        <p:nvSpPr>
          <p:cNvPr id="11" name="Text 8"/>
          <p:cNvSpPr txBox="1"/>
          <p:nvPr/>
        </p:nvSpPr>
        <p:spPr>
          <a:xfrm>
            <a:off x="731520" y="2011680"/>
            <a:ext cx="3246120" cy="237744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101 títulos en portugués o inglés, pero las observaciones están en español en 798 de 813 normas: las redactan los codificadores.</a:t>
            </a:r>
            <a:endParaRPr lang="en-US" sz="1200" dirty="0"/>
          </a:p>
          <a:p>
            <a:pPr indent="0" marL="0">
              <a:spcAft>
                <a:spcPts val="400"/>
              </a:spcAft>
              <a:buNone/>
            </a:pPr>
            <a:endParaRPr lang="en-US" sz="1200" dirty="0"/>
          </a:p>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 la variable idioma se deriva del título; se desagrega por idioma pero no se espera que domine el error.</a:t>
            </a:r>
            <a:endParaRPr lang="en-US" sz="1200" dirty="0"/>
          </a:p>
        </p:txBody>
      </p:sp>
      <p:sp>
        <p:nvSpPr>
          <p:cNvPr id="12" name="Shape 9"/>
          <p:cNvSpPr/>
          <p:nvPr/>
        </p:nvSpPr>
        <p:spPr>
          <a:xfrm>
            <a:off x="4343400" y="1508760"/>
            <a:ext cx="3611880" cy="3017520"/>
          </a:xfrm>
          <a:prstGeom prst="roundRect">
            <a:avLst>
              <a:gd name="adj" fmla="val 2424"/>
            </a:avLst>
          </a:prstGeom>
          <a:solidFill>
            <a:srgbClr val="F3E6EA"/>
          </a:solidFill>
          <a:ln w="12700">
            <a:solidFill>
              <a:srgbClr val="F3E6EA"/>
            </a:solidFill>
            <a:prstDash val="solid"/>
          </a:ln>
        </p:spPr>
      </p:sp>
      <p:sp>
        <p:nvSpPr>
          <p:cNvPr id="13" name="Text 10"/>
          <p:cNvSpPr txBox="1"/>
          <p:nvPr/>
        </p:nvSpPr>
        <p:spPr>
          <a:xfrm>
            <a:off x="4526280" y="1645920"/>
            <a:ext cx="324612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2 · Pista léxica de la etiqueta</a:t>
            </a:r>
            <a:endParaRPr lang="en-US" sz="1400" dirty="0"/>
          </a:p>
        </p:txBody>
      </p:sp>
      <p:sp>
        <p:nvSpPr>
          <p:cNvPr id="14" name="Text 11"/>
          <p:cNvSpPr txBox="1"/>
          <p:nvPr/>
        </p:nvSpPr>
        <p:spPr>
          <a:xfrm>
            <a:off x="4526280" y="2011680"/>
            <a:ext cx="3246120" cy="237744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La palabra que nombra la dimensión aparece en el texto en el 63 % de las normas éticas y el 73 % de las de protección de datos (23 % fuera de su clase).</a:t>
            </a:r>
            <a:endParaRPr lang="en-US" sz="1200" dirty="0"/>
          </a:p>
          <a:p>
            <a:pPr indent="0" marL="0">
              <a:spcAft>
                <a:spcPts val="400"/>
              </a:spcAft>
              <a:buNone/>
            </a:pPr>
            <a:endParaRPr lang="en-US" sz="1200" dirty="0"/>
          </a:p>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 el desempeño se mide con y sin la pista.</a:t>
            </a:r>
            <a:endParaRPr lang="en-US" sz="1200" dirty="0"/>
          </a:p>
        </p:txBody>
      </p:sp>
      <p:sp>
        <p:nvSpPr>
          <p:cNvPr id="15" name="Shape 12"/>
          <p:cNvSpPr/>
          <p:nvPr/>
        </p:nvSpPr>
        <p:spPr>
          <a:xfrm>
            <a:off x="8138160" y="1508760"/>
            <a:ext cx="3611880" cy="3017520"/>
          </a:xfrm>
          <a:prstGeom prst="roundRect">
            <a:avLst>
              <a:gd name="adj" fmla="val 2424"/>
            </a:avLst>
          </a:prstGeom>
          <a:solidFill>
            <a:srgbClr val="F4F2EF"/>
          </a:solidFill>
          <a:ln w="12700">
            <a:solidFill>
              <a:srgbClr val="F4F2EF"/>
            </a:solidFill>
            <a:prstDash val="solid"/>
          </a:ln>
        </p:spPr>
      </p:sp>
      <p:sp>
        <p:nvSpPr>
          <p:cNvPr id="16" name="Text 13"/>
          <p:cNvSpPr txBox="1"/>
          <p:nvPr/>
        </p:nvSpPr>
        <p:spPr>
          <a:xfrm>
            <a:off x="8321040" y="1645920"/>
            <a:ext cx="324612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3 · Metadata asociada, pero excluida</a:t>
            </a:r>
            <a:endParaRPr lang="en-US" sz="1400" dirty="0"/>
          </a:p>
        </p:txBody>
      </p:sp>
      <p:sp>
        <p:nvSpPr>
          <p:cNvPr id="17" name="Text 14"/>
          <p:cNvSpPr txBox="1"/>
          <p:nvPr/>
        </p:nvSpPr>
        <p:spPr>
          <a:xfrm>
            <a:off x="8321040" y="2011680"/>
            <a:ext cx="3246120" cy="237744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V de Cramér con Dominio: Vínculo 0.41 · Tipo de norma 0.36 · País 0.32. País↔Investigador 0.99.</a:t>
            </a:r>
            <a:endParaRPr lang="en-US" sz="1200" dirty="0"/>
          </a:p>
          <a:p>
            <a:pPr indent="0" marL="0">
              <a:spcAft>
                <a:spcPts val="400"/>
              </a:spcAft>
              <a:buNone/>
            </a:pPr>
            <a:endParaRPr lang="en-US" sz="1200" dirty="0"/>
          </a:p>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 Tipo de norma no entra como predictor (fuga); se convierte en línea base que el modelo debe superar.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94415" cy="914400"/>
        </p:xfrm>
        <a:graphic>
          <a:graphicData uri="http://schemas.openxmlformats.org/drawingml/2006/table">
            <a:tbl>
              <a:tblPr/>
              <a:tblGrid>
                <a:gridCol w="6035040"/>
                <a:gridCol w="505663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Hallazgo de calidad</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Decisión</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1 valor faltante en Dominio (UNESUM, «Políticas de Privacidad»)</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corrección experta documentada → Protección de Datos</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14 grupos de URL repetida (30 normas; 8 con dimensiones distintas)</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mismo grupo ⇒ misma partición y mismo pliegue (StratifiedGroupKFold)</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Tipo de norma: 14 categorías → 11 tras normalizar capitalización</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normalizada; excluida como predictor</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Fecha de publicación parseable solo en 58 %</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no se usa</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Diseño experimental: del corpus al índice</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Dos ramas · dos líneas base sin IA · un mismo conjunto de prueba a ciegas · una sola evaluación</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7</a:t>
            </a:r>
            <a:endParaRPr lang="en-US" sz="900" dirty="0"/>
          </a:p>
        </p:txBody>
      </p:sp>
      <p:pic>
        <p:nvPicPr>
          <p:cNvPr id="9" name="Image 0" descr="fig_experimento.png">    </p:cNvPr>
          <p:cNvPicPr>
            <a:picLocks noChangeAspect="1"/>
          </p:cNvPicPr>
          <p:nvPr/>
        </p:nvPicPr>
        <p:blipFill>
          <a:blip r:embed="rId1"/>
          <a:stretch>
            <a:fillRect/>
          </a:stretch>
        </p:blipFill>
        <p:spPr>
          <a:xfrm>
            <a:off x="548640" y="1417320"/>
            <a:ext cx="7680960" cy="3623892"/>
          </a:xfrm>
          <a:prstGeom prst="rect">
            <a:avLst/>
          </a:prstGeom>
        </p:spPr>
      </p:pic>
      <p:sp>
        <p:nvSpPr>
          <p:cNvPr id="10" name="Shape 6"/>
          <p:cNvSpPr/>
          <p:nvPr/>
        </p:nvSpPr>
        <p:spPr>
          <a:xfrm>
            <a:off x="8458200" y="1417320"/>
            <a:ext cx="3291840" cy="1417320"/>
          </a:xfrm>
          <a:prstGeom prst="roundRect">
            <a:avLst>
              <a:gd name="adj" fmla="val 5161"/>
            </a:avLst>
          </a:prstGeom>
          <a:solidFill>
            <a:srgbClr val="F4F2EF"/>
          </a:solidFill>
          <a:ln w="12700">
            <a:solidFill>
              <a:srgbClr val="F4F2EF"/>
            </a:solidFill>
            <a:prstDash val="solid"/>
          </a:ln>
        </p:spPr>
      </p:sp>
      <p:sp>
        <p:nvSpPr>
          <p:cNvPr id="11" name="Text 7"/>
          <p:cNvSpPr txBox="1"/>
          <p:nvPr/>
        </p:nvSpPr>
        <p:spPr>
          <a:xfrm>
            <a:off x="8641080" y="1554480"/>
            <a:ext cx="29260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Rama clásica</a:t>
            </a:r>
            <a:endParaRPr lang="en-US" sz="1400" dirty="0"/>
          </a:p>
        </p:txBody>
      </p:sp>
      <p:sp>
        <p:nvSpPr>
          <p:cNvPr id="12" name="Text 8"/>
          <p:cNvSpPr txBox="1"/>
          <p:nvPr/>
        </p:nvSpPr>
        <p:spPr>
          <a:xfrm>
            <a:off x="8641080" y="1920240"/>
            <a:ext cx="2926080" cy="77724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TF-IDF 1-2 gramas (5 000 feat.) + Regresión Logística, class_weight balanceado · entrena con 669 normas</a:t>
            </a:r>
            <a:endParaRPr lang="en-US" sz="1100" dirty="0"/>
          </a:p>
        </p:txBody>
      </p:sp>
      <p:sp>
        <p:nvSpPr>
          <p:cNvPr id="13" name="Shape 9"/>
          <p:cNvSpPr/>
          <p:nvPr/>
        </p:nvSpPr>
        <p:spPr>
          <a:xfrm>
            <a:off x="8458200" y="2971800"/>
            <a:ext cx="3291840" cy="1417320"/>
          </a:xfrm>
          <a:prstGeom prst="roundRect">
            <a:avLst>
              <a:gd name="adj" fmla="val 5161"/>
            </a:avLst>
          </a:prstGeom>
          <a:solidFill>
            <a:srgbClr val="F3E6EA"/>
          </a:solidFill>
          <a:ln w="12700">
            <a:solidFill>
              <a:srgbClr val="F3E6EA"/>
            </a:solidFill>
            <a:prstDash val="solid"/>
          </a:ln>
        </p:spPr>
      </p:sp>
      <p:sp>
        <p:nvSpPr>
          <p:cNvPr id="14" name="Text 10"/>
          <p:cNvSpPr txBox="1"/>
          <p:nvPr/>
        </p:nvSpPr>
        <p:spPr>
          <a:xfrm>
            <a:off x="8641080" y="3108960"/>
            <a:ext cx="29260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Rama LLM few-shot</a:t>
            </a:r>
            <a:endParaRPr lang="en-US" sz="1400" dirty="0"/>
          </a:p>
        </p:txBody>
      </p:sp>
      <p:sp>
        <p:nvSpPr>
          <p:cNvPr id="15" name="Text 11"/>
          <p:cNvSpPr txBox="1"/>
          <p:nvPr/>
        </p:nvSpPr>
        <p:spPr>
          <a:xfrm>
            <a:off x="8641080" y="3474720"/>
            <a:ext cx="2926080" cy="77724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Definiciones + 15 ejemplos (3/dimensión) en el prompt · sin ajuste de pesos · T = 0 · 3 ejecuciones</a:t>
            </a:r>
            <a:endParaRPr lang="en-US" sz="1100" dirty="0"/>
          </a:p>
        </p:txBody>
      </p:sp>
      <p:sp>
        <p:nvSpPr>
          <p:cNvPr id="16" name="Shape 12"/>
          <p:cNvSpPr/>
          <p:nvPr/>
        </p:nvSpPr>
        <p:spPr>
          <a:xfrm>
            <a:off x="8458200" y="4526280"/>
            <a:ext cx="3291840" cy="1691640"/>
          </a:xfrm>
          <a:prstGeom prst="roundRect">
            <a:avLst>
              <a:gd name="adj" fmla="val 4324"/>
            </a:avLst>
          </a:prstGeom>
          <a:solidFill>
            <a:srgbClr val="F4F2EF"/>
          </a:solidFill>
          <a:ln w="12700">
            <a:solidFill>
              <a:srgbClr val="F4F2EF"/>
            </a:solidFill>
            <a:prstDash val="solid"/>
          </a:ln>
        </p:spPr>
      </p:sp>
      <p:sp>
        <p:nvSpPr>
          <p:cNvPr id="17" name="Text 13"/>
          <p:cNvSpPr txBox="1"/>
          <p:nvPr/>
        </p:nvSpPr>
        <p:spPr>
          <a:xfrm>
            <a:off x="8641080" y="4663440"/>
            <a:ext cx="29260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Evaluación</a:t>
            </a:r>
            <a:endParaRPr lang="en-US" sz="1400" dirty="0"/>
          </a:p>
        </p:txBody>
      </p:sp>
      <p:sp>
        <p:nvSpPr>
          <p:cNvPr id="18" name="Text 14"/>
          <p:cNvSpPr txBox="1"/>
          <p:nvPr/>
        </p:nvSpPr>
        <p:spPr>
          <a:xfrm>
            <a:off x="8641080" y="5029200"/>
            <a:ext cx="2926080" cy="10515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F1 macro y por clase con IC95 (Wilson, bootstrap) · McNemar entre ramas (pareado) · κ modelo-humano vs κ humano-humano · top-2 → tipificación de errores · CV 5 pliegues por grupo</a:t>
            </a:r>
            <a:endParaRPr lang="en-US" sz="1100" dirty="0"/>
          </a:p>
        </p:txBody>
      </p:sp>
      <p:sp>
        <p:nvSpPr>
          <p:cNvPr id="19" name="Text 15"/>
          <p:cNvSpPr txBox="1"/>
          <p:nvPr/>
        </p:nvSpPr>
        <p:spPr>
          <a:xfrm>
            <a:off x="548640" y="5257800"/>
            <a:ext cx="7680960" cy="548640"/>
          </a:xfrm>
          <a:prstGeom prst="rect">
            <a:avLst/>
          </a:prstGeom>
          <a:noFill/>
          <a:ln/>
        </p:spPr>
        <p:txBody>
          <a:bodyPr wrap="square" lIns="0" tIns="0" rIns="0" bIns="0" rtlCol="0" anchor="ctr"/>
          <a:lstStyle/>
          <a:p>
            <a:pPr indent="0" marL="0">
              <a:buNone/>
            </a:pPr>
            <a:r>
              <a:rPr lang="en-US" sz="1150" i="1" dirty="0">
                <a:solidFill>
                  <a:srgbClr val="7A1F3D"/>
                </a:solidFill>
                <a:latin typeface="Calibri" pitchFamily="34" charset="0"/>
                <a:ea typeface="Calibri" pitchFamily="34" charset="-122"/>
                <a:cs typeface="Calibri" pitchFamily="34" charset="-120"/>
              </a:rPr>
              <a:t>Regla de ceguera: las etiquetas del conjunto de prueba se leen una sola vez, en la evaluación, después de registrar todas las predicciones.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Decisión técnica: lineal interpretable vs. LLM few-shot</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Análisis comparativo de ocho técnicas con matriz de decisión ponderada (Semana 2)</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651760"/>
                <a:gridCol w="1828800"/>
                <a:gridCol w="2743200"/>
                <a:gridCol w="2011680"/>
                <a:gridCol w="185623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Técnica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Datos que necesita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Interpretabilidad</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Costo / recursos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Decisión</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457200">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Regresión Logística + TF-IDF</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 700 etiquetadas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pesos por término y clase; probabilidad calibrada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segundos, sin GPU, sin costo</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rama clásica ✓</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LLM few-shot</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15 ejemplos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justificación en lenguaje natural; alternativa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&lt; USD 5 por pasada; API</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rama de comparación ✓</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SVM lineal</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 700</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pesos, sin probabilidad nativa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segundos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ablación</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Random Forest / Gradient Boosting</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tabulares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media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6E6862"/>
                          </a:solidFill>
                          <a:latin typeface="Calibri" pitchFamily="34" charset="0"/>
                          <a:ea typeface="Calibri" pitchFamily="34" charset="-122"/>
                          <a:cs typeface="Calibri" pitchFamily="34" charset="-120"/>
                        </a:rPr>
                        <a:t>descartadas: no hay variables numéricas nativas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Transformer afinado (BETO, XLM-R)</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miles por clase</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baja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GPU, horas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6E6862"/>
                          </a:solidFill>
                          <a:latin typeface="Calibri" pitchFamily="34" charset="0"/>
                          <a:ea typeface="Calibri" pitchFamily="34" charset="-122"/>
                          <a:cs typeface="Calibri" pitchFamily="34" charset="-120"/>
                        </a:rPr>
                        <a:t>trabajo futuro: alta varianza con 63-71 casos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Agentes / RAG</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corpus + herramientas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trazas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6E6862"/>
                          </a:solidFill>
                          <a:latin typeface="Calibri" pitchFamily="34" charset="0"/>
                          <a:ea typeface="Calibri" pitchFamily="34" charset="-122"/>
                          <a:cs typeface="Calibri" pitchFamily="34" charset="-120"/>
                        </a:rPr>
                        <a:t>trabajo futuro</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0" name="Shape 6"/>
          <p:cNvSpPr/>
          <p:nvPr/>
        </p:nvSpPr>
        <p:spPr>
          <a:xfrm>
            <a:off x="548640" y="5074920"/>
            <a:ext cx="11094415" cy="1005840"/>
          </a:xfrm>
          <a:prstGeom prst="roundRect">
            <a:avLst>
              <a:gd name="adj" fmla="val 7273"/>
            </a:avLst>
          </a:prstGeom>
          <a:solidFill>
            <a:srgbClr val="F3E6EA"/>
          </a:solidFill>
          <a:ln w="12700">
            <a:solidFill>
              <a:srgbClr val="F3E6EA"/>
            </a:solidFill>
            <a:prstDash val="solid"/>
          </a:ln>
        </p:spPr>
      </p:sp>
      <p:sp>
        <p:nvSpPr>
          <p:cNvPr id="11" name="Text 7"/>
          <p:cNvSpPr txBox="1"/>
          <p:nvPr/>
        </p:nvSpPr>
        <p:spPr>
          <a:xfrm>
            <a:off x="777240" y="5138928"/>
            <a:ext cx="10637215" cy="868680"/>
          </a:xfrm>
          <a:prstGeom prst="rect">
            <a:avLst/>
          </a:prstGeom>
          <a:noFill/>
          <a:ln/>
        </p:spPr>
        <p:txBody>
          <a:bodyPr wrap="square" lIns="0" tIns="0" rIns="0" bIns="0" rtlCol="0" anchor="ctr"/>
          <a:lstStyle/>
          <a:p>
            <a:pPr indent="0" marL="0">
              <a:buNone/>
            </a:pPr>
            <a:r>
              <a:rPr lang="en-US" sz="1250" dirty="0">
                <a:solidFill>
                  <a:srgbClr val="3B0F1F"/>
                </a:solidFill>
                <a:latin typeface="Calibri" pitchFamily="34" charset="0"/>
                <a:ea typeface="Calibri" pitchFamily="34" charset="-122"/>
                <a:cs typeface="Calibri" pitchFamily="34" charset="-120"/>
              </a:rPr>
              <a:t>La comparación mide eficiencia de datos: si 15 ejemplos en un prompt rinden como 700 etiquetadas, el observatorio puede automatizar sin financiar horas de etiquetado. La literatura muestra que la respuesta depende del corpus (97 % en PolicyGPT frente a 47.6 % en LexGLUE): la única respuesta honesta es medirlo aquí.</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Resultados: el modelo aprende y supera a las líneas base</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Validación cruzada de 5 pliegues estratificados por grupo · n = 813 · IC95 Wilson / bootstrap (2 000)</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9</a:t>
            </a:r>
            <a:endParaRPr lang="en-US" sz="900" dirty="0"/>
          </a:p>
        </p:txBody>
      </p:sp>
      <p:graphicFrame>
        <p:nvGraphicFramePr>
          <p:cNvPr id="9" name="Chart 0" descr=""/>
          <p:cNvGraphicFramePr/>
          <p:nvPr/>
        </p:nvGraphicFramePr>
        <p:xfrm>
          <a:off x="548640" y="146304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 y="5394960"/>
            <a:ext cx="5852160" cy="274320"/>
          </a:xfrm>
          <a:prstGeom prst="rect">
            <a:avLst/>
          </a:prstGeom>
          <a:noFill/>
          <a:ln/>
        </p:spPr>
        <p:txBody>
          <a:bodyPr wrap="square" lIns="0" tIns="0" rIns="0" bIns="0" rtlCol="0" anchor="ctr"/>
          <a:lstStyle/>
          <a:p>
            <a:pPr indent="0" marL="0">
              <a:buNone/>
            </a:pPr>
            <a:r>
              <a:rPr lang="en-US" sz="1000" i="1" dirty="0">
                <a:solidFill>
                  <a:srgbClr val="6E6862"/>
                </a:solidFill>
                <a:latin typeface="Calibri" pitchFamily="34" charset="0"/>
                <a:ea typeface="Calibri" pitchFamily="34" charset="-122"/>
                <a:cs typeface="Calibri" pitchFamily="34" charset="-120"/>
              </a:rPr>
              <a:t>umbral mínimo 0.60 · excelencia 0.70</a:t>
            </a:r>
            <a:endParaRPr lang="en-US" sz="1000" dirty="0"/>
          </a:p>
        </p:txBody>
      </p:sp>
      <p:sp>
        <p:nvSpPr>
          <p:cNvPr id="11" name="Text 7"/>
          <p:cNvSpPr txBox="1"/>
          <p:nvPr/>
        </p:nvSpPr>
        <p:spPr>
          <a:xfrm>
            <a:off x="6675120" y="1417320"/>
            <a:ext cx="25603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0.587</a:t>
            </a:r>
            <a:endParaRPr lang="en-US" sz="4000" dirty="0"/>
          </a:p>
        </p:txBody>
      </p:sp>
      <p:sp>
        <p:nvSpPr>
          <p:cNvPr id="12" name="Text 8"/>
          <p:cNvSpPr txBox="1"/>
          <p:nvPr/>
        </p:nvSpPr>
        <p:spPr>
          <a:xfrm>
            <a:off x="6675120" y="2240280"/>
            <a:ext cx="25603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F1 macro · IC95 [0.549, 0.623]</a:t>
            </a:r>
            <a:endParaRPr lang="en-US" sz="1100" dirty="0"/>
          </a:p>
        </p:txBody>
      </p:sp>
      <p:sp>
        <p:nvSpPr>
          <p:cNvPr id="13" name="Text 9"/>
          <p:cNvSpPr txBox="1"/>
          <p:nvPr/>
        </p:nvSpPr>
        <p:spPr>
          <a:xfrm>
            <a:off x="9235440" y="1417320"/>
            <a:ext cx="25603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0.635</a:t>
            </a:r>
            <a:endParaRPr lang="en-US" sz="4000" dirty="0"/>
          </a:p>
        </p:txBody>
      </p:sp>
      <p:sp>
        <p:nvSpPr>
          <p:cNvPr id="14" name="Text 10"/>
          <p:cNvSpPr txBox="1"/>
          <p:nvPr/>
        </p:nvSpPr>
        <p:spPr>
          <a:xfrm>
            <a:off x="9235440" y="2240280"/>
            <a:ext cx="25603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exactitud · IC95 [0.601, 0.667]</a:t>
            </a:r>
            <a:endParaRPr lang="en-US" sz="1100" dirty="0"/>
          </a:p>
        </p:txBody>
      </p:sp>
      <p:sp>
        <p:nvSpPr>
          <p:cNvPr id="15" name="Text 11"/>
          <p:cNvSpPr txBox="1"/>
          <p:nvPr/>
        </p:nvSpPr>
        <p:spPr>
          <a:xfrm>
            <a:off x="6675120" y="2971800"/>
            <a:ext cx="25603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0.852</a:t>
            </a:r>
            <a:endParaRPr lang="en-US" sz="4000" dirty="0"/>
          </a:p>
        </p:txBody>
      </p:sp>
      <p:sp>
        <p:nvSpPr>
          <p:cNvPr id="16" name="Text 12"/>
          <p:cNvSpPr txBox="1"/>
          <p:nvPr/>
        </p:nvSpPr>
        <p:spPr>
          <a:xfrm>
            <a:off x="6675120" y="3794760"/>
            <a:ext cx="25603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top-2: la etiqueta correcta está entre las dos propuestas</a:t>
            </a:r>
            <a:endParaRPr lang="en-US" sz="1100" dirty="0"/>
          </a:p>
        </p:txBody>
      </p:sp>
      <p:sp>
        <p:nvSpPr>
          <p:cNvPr id="17" name="Text 13"/>
          <p:cNvSpPr txBox="1"/>
          <p:nvPr/>
        </p:nvSpPr>
        <p:spPr>
          <a:xfrm>
            <a:off x="9235440" y="2971800"/>
            <a:ext cx="25603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0.50</a:t>
            </a:r>
            <a:endParaRPr lang="en-US" sz="4000" dirty="0"/>
          </a:p>
        </p:txBody>
      </p:sp>
      <p:sp>
        <p:nvSpPr>
          <p:cNvPr id="18" name="Text 14"/>
          <p:cNvSpPr txBox="1"/>
          <p:nvPr/>
        </p:nvSpPr>
        <p:spPr>
          <a:xfrm>
            <a:off x="9235440" y="3794760"/>
            <a:ext cx="25603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κ frente a la referencia (acuerdo moderado)</a:t>
            </a:r>
            <a:endParaRPr lang="en-US" sz="1100" dirty="0"/>
          </a:p>
        </p:txBody>
      </p:sp>
      <p:sp>
        <p:nvSpPr>
          <p:cNvPr id="19" name="Shape 15"/>
          <p:cNvSpPr/>
          <p:nvPr/>
        </p:nvSpPr>
        <p:spPr>
          <a:xfrm>
            <a:off x="6675120" y="4572000"/>
            <a:ext cx="5120640" cy="1371600"/>
          </a:xfrm>
          <a:prstGeom prst="roundRect">
            <a:avLst>
              <a:gd name="adj" fmla="val 5333"/>
            </a:avLst>
          </a:prstGeom>
          <a:solidFill>
            <a:srgbClr val="F4F2EF"/>
          </a:solidFill>
          <a:ln w="12700">
            <a:solidFill>
              <a:srgbClr val="F4F2EF"/>
            </a:solidFill>
            <a:prstDash val="solid"/>
          </a:ln>
        </p:spPr>
      </p:sp>
      <p:sp>
        <p:nvSpPr>
          <p:cNvPr id="20" name="Text 16"/>
          <p:cNvSpPr txBox="1"/>
          <p:nvPr/>
        </p:nvSpPr>
        <p:spPr>
          <a:xfrm>
            <a:off x="6858000" y="4709160"/>
            <a:ext cx="47548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Lectura</a:t>
            </a:r>
            <a:endParaRPr lang="en-US" sz="1400" dirty="0"/>
          </a:p>
        </p:txBody>
      </p:sp>
      <p:sp>
        <p:nvSpPr>
          <p:cNvPr id="21" name="Text 17"/>
          <p:cNvSpPr txBox="1"/>
          <p:nvPr/>
        </p:nvSpPr>
        <p:spPr>
          <a:xfrm>
            <a:off x="6858000" y="5074920"/>
            <a:ext cx="4754880" cy="731520"/>
          </a:xfrm>
          <a:prstGeom prst="rect">
            <a:avLst/>
          </a:prstGeom>
          <a:noFill/>
          <a:ln/>
        </p:spPr>
        <p:txBody>
          <a:bodyPr wrap="square" lIns="0" tIns="0" rIns="0" bIns="0" rtlCol="0" anchor="t"/>
          <a:lstStyle/>
          <a:p>
            <a:pPr indent="0" marL="0">
              <a:spcAft>
                <a:spcPts val="400"/>
              </a:spcAft>
              <a:buNone/>
            </a:pPr>
            <a:r>
              <a:rPr lang="en-US" sz="1150" dirty="0">
                <a:solidFill>
                  <a:srgbClr val="1B1A19"/>
                </a:solidFill>
                <a:latin typeface="Calibri" pitchFamily="34" charset="0"/>
                <a:ea typeface="Calibri" pitchFamily="34" charset="-122"/>
                <a:cs typeface="Calibri" pitchFamily="34" charset="-120"/>
              </a:rPr>
              <a:t>Casi duplica el F1 de la mejor línea base sin IA; en el conjunto ciego McNemar rechaza la igualdad frente a ambas (p &lt; 0.001 y p = 0.012). Pero el IC incluye el mínimo 0.60 y excluye la excelencia 0.70: el umbral prefijado no se alcanza.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Resultados por dimensión: las clases minoritarias son el límite</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Matriz de confusión y F1 por clase en validación cruzada (n = 813)</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10</a:t>
            </a:r>
            <a:endParaRPr lang="en-US" sz="900" dirty="0"/>
          </a:p>
        </p:txBody>
      </p:sp>
      <p:pic>
        <p:nvPicPr>
          <p:cNvPr id="9" name="Image 0" descr="10_cv_confusion_f1.png">    </p:cNvPr>
          <p:cNvPicPr>
            <a:picLocks noChangeAspect="1"/>
          </p:cNvPicPr>
          <p:nvPr/>
        </p:nvPicPr>
        <p:blipFill>
          <a:blip r:embed="rId1"/>
          <a:stretch>
            <a:fillRect/>
          </a:stretch>
        </p:blipFill>
        <p:spPr>
          <a:xfrm>
            <a:off x="548640" y="1417320"/>
            <a:ext cx="11064240" cy="3778625"/>
          </a:xfrm>
          <a:prstGeom prst="rect">
            <a:avLst/>
          </a:prstGeom>
        </p:spPr>
      </p:pic>
      <p:sp>
        <p:nvSpPr>
          <p:cNvPr id="10" name="Shape 6"/>
          <p:cNvSpPr/>
          <p:nvPr/>
        </p:nvSpPr>
        <p:spPr>
          <a:xfrm>
            <a:off x="548640" y="5394960"/>
            <a:ext cx="3611880" cy="1005840"/>
          </a:xfrm>
          <a:prstGeom prst="roundRect">
            <a:avLst>
              <a:gd name="adj" fmla="val 7273"/>
            </a:avLst>
          </a:prstGeom>
          <a:solidFill>
            <a:srgbClr val="F4F2EF"/>
          </a:solidFill>
          <a:ln w="12700">
            <a:solidFill>
              <a:srgbClr val="F4F2EF"/>
            </a:solidFill>
            <a:prstDash val="solid"/>
          </a:ln>
        </p:spPr>
      </p:sp>
      <p:sp>
        <p:nvSpPr>
          <p:cNvPr id="11" name="Text 7"/>
          <p:cNvSpPr txBox="1"/>
          <p:nvPr/>
        </p:nvSpPr>
        <p:spPr>
          <a:xfrm>
            <a:off x="731520" y="5532120"/>
            <a:ext cx="3246120" cy="365760"/>
          </a:xfrm>
          <a:prstGeom prst="rect">
            <a:avLst/>
          </a:prstGeom>
          <a:noFill/>
          <a:ln/>
        </p:spPr>
        <p:txBody>
          <a:bodyPr wrap="square" lIns="0" tIns="0" rIns="0" bIns="0" rtlCol="0" anchor="t"/>
          <a:lstStyle/>
          <a:p>
            <a:pPr indent="0" marL="0">
              <a:buNone/>
            </a:pPr>
            <a:r>
              <a:rPr lang="en-US" sz="1250" b="1" dirty="0">
                <a:solidFill>
                  <a:srgbClr val="EDA100"/>
                </a:solidFill>
                <a:latin typeface="Calibri" pitchFamily="34" charset="0"/>
                <a:ea typeface="Calibri" pitchFamily="34" charset="-122"/>
                <a:cs typeface="Calibri" pitchFamily="34" charset="-120"/>
              </a:rPr>
              <a:t>Protección de Datos 0.80</a:t>
            </a:r>
            <a:endParaRPr lang="en-US" sz="1250" dirty="0"/>
          </a:p>
        </p:txBody>
      </p:sp>
      <p:sp>
        <p:nvSpPr>
          <p:cNvPr id="12" name="Text 8"/>
          <p:cNvSpPr txBox="1"/>
          <p:nvPr/>
        </p:nvSpPr>
        <p:spPr>
          <a:xfrm>
            <a:off x="731520" y="5897880"/>
            <a:ext cx="3246120" cy="3657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vocabulario específico y estable; la mejor clase pese a 71 casos</a:t>
            </a:r>
            <a:endParaRPr lang="en-US" sz="1100" dirty="0"/>
          </a:p>
        </p:txBody>
      </p:sp>
      <p:sp>
        <p:nvSpPr>
          <p:cNvPr id="13" name="Shape 9"/>
          <p:cNvSpPr/>
          <p:nvPr/>
        </p:nvSpPr>
        <p:spPr>
          <a:xfrm>
            <a:off x="4297680" y="5394960"/>
            <a:ext cx="3611880" cy="1005840"/>
          </a:xfrm>
          <a:prstGeom prst="roundRect">
            <a:avLst>
              <a:gd name="adj" fmla="val 7273"/>
            </a:avLst>
          </a:prstGeom>
          <a:solidFill>
            <a:srgbClr val="F4F2EF"/>
          </a:solidFill>
          <a:ln w="12700">
            <a:solidFill>
              <a:srgbClr val="F4F2EF"/>
            </a:solidFill>
            <a:prstDash val="solid"/>
          </a:ln>
        </p:spPr>
      </p:sp>
      <p:sp>
        <p:nvSpPr>
          <p:cNvPr id="14" name="Text 10"/>
          <p:cNvSpPr txBox="1"/>
          <p:nvPr/>
        </p:nvSpPr>
        <p:spPr>
          <a:xfrm>
            <a:off x="4480560" y="5532120"/>
            <a:ext cx="3246120" cy="365760"/>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Pedagógico 0.71 ↔ Ética 0.67</a:t>
            </a:r>
            <a:endParaRPr lang="en-US" sz="1250" dirty="0"/>
          </a:p>
        </p:txBody>
      </p:sp>
      <p:sp>
        <p:nvSpPr>
          <p:cNvPr id="15" name="Text 11"/>
          <p:cNvSpPr txBox="1"/>
          <p:nvPr/>
        </p:nvSpPr>
        <p:spPr>
          <a:xfrm>
            <a:off x="4480560" y="5897880"/>
            <a:ext cx="3246120" cy="3657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57 + 49 confusiones cruzadas: normas pedagógicas con componente ético explícito</a:t>
            </a:r>
            <a:endParaRPr lang="en-US" sz="1100" dirty="0"/>
          </a:p>
        </p:txBody>
      </p:sp>
      <p:sp>
        <p:nvSpPr>
          <p:cNvPr id="16" name="Shape 12"/>
          <p:cNvSpPr/>
          <p:nvPr/>
        </p:nvSpPr>
        <p:spPr>
          <a:xfrm>
            <a:off x="8046720" y="5394960"/>
            <a:ext cx="3611880" cy="1005840"/>
          </a:xfrm>
          <a:prstGeom prst="roundRect">
            <a:avLst>
              <a:gd name="adj" fmla="val 7273"/>
            </a:avLst>
          </a:prstGeom>
          <a:solidFill>
            <a:srgbClr val="F3E6EA"/>
          </a:solidFill>
          <a:ln w="12700">
            <a:solidFill>
              <a:srgbClr val="F3E6EA"/>
            </a:solidFill>
            <a:prstDash val="solid"/>
          </a:ln>
        </p:spPr>
      </p:sp>
      <p:sp>
        <p:nvSpPr>
          <p:cNvPr id="17" name="Text 13"/>
          <p:cNvSpPr txBox="1"/>
          <p:nvPr/>
        </p:nvSpPr>
        <p:spPr>
          <a:xfrm>
            <a:off x="8229600" y="5532120"/>
            <a:ext cx="3246120" cy="365760"/>
          </a:xfrm>
          <a:prstGeom prst="rect">
            <a:avLst/>
          </a:prstGeom>
          <a:noFill/>
          <a:ln/>
        </p:spPr>
        <p:txBody>
          <a:bodyPr wrap="square" lIns="0" tIns="0" rIns="0" bIns="0" rtlCol="0" anchor="t"/>
          <a:lstStyle/>
          <a:p>
            <a:pPr indent="0" marL="0">
              <a:buNone/>
            </a:pPr>
            <a:r>
              <a:rPr lang="en-US" sz="1250" b="1" dirty="0">
                <a:solidFill>
                  <a:srgbClr val="B3261E"/>
                </a:solidFill>
                <a:latin typeface="Calibri" pitchFamily="34" charset="0"/>
                <a:ea typeface="Calibri" pitchFamily="34" charset="-122"/>
                <a:cs typeface="Calibri" pitchFamily="34" charset="-120"/>
              </a:rPr>
              <a:t>Administrativo 0.41 · Técnico 0.35</a:t>
            </a:r>
            <a:endParaRPr lang="en-US" sz="1250" dirty="0"/>
          </a:p>
        </p:txBody>
      </p:sp>
      <p:sp>
        <p:nvSpPr>
          <p:cNvPr id="18" name="Text 14"/>
          <p:cNvSpPr txBox="1"/>
          <p:nvPr/>
        </p:nvSpPr>
        <p:spPr>
          <a:xfrm>
            <a:off x="8229600" y="5897880"/>
            <a:ext cx="3246120" cy="3657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bajo el nivel de excelencia 0.50; Técnico incumple el mínimo 0.40 y se dispersa hacia las otras cuatro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Ablaciones y desempeño desagregado</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Una decisión a la vez · desagregación por idioma, ámbito y pista léxica (decisión metodológica 4)</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760720" cy="914400"/>
        </p:xfrm>
        <a:graphic>
          <a:graphicData uri="http://schemas.openxmlformats.org/drawingml/2006/table">
            <a:tbl>
              <a:tblPr/>
              <a:tblGrid>
                <a:gridCol w="2743200"/>
                <a:gridCol w="1005840"/>
                <a:gridCol w="1005840"/>
                <a:gridCol w="10058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Variante (CV, n = 813)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Exactitud</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F1 macro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F1 Técnico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384048">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RL balanceada (elegida)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0.635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0.587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0.353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sin ponderar clases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0.622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0.475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0.031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balanceada, C = 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0.637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0.581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0.327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SVM lineal balanceada, C = 0.5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0.645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0.578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0.328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solo unigramas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0.620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0.576</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0.366</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caracteres 3-5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0.609</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0.573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0.350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0" name="Text 6"/>
          <p:cNvSpPr txBox="1"/>
          <p:nvPr/>
        </p:nvSpPr>
        <p:spPr>
          <a:xfrm>
            <a:off x="548640" y="4343400"/>
            <a:ext cx="5760720" cy="822960"/>
          </a:xfrm>
          <a:prstGeom prst="rect">
            <a:avLst/>
          </a:prstGeom>
          <a:noFill/>
          <a:ln/>
        </p:spPr>
        <p:txBody>
          <a:bodyPr wrap="square" lIns="0" tIns="0" rIns="0" bIns="0" rtlCol="0" anchor="ctr"/>
          <a:lstStyle/>
          <a:p>
            <a:pPr indent="0" marL="0">
              <a:buNone/>
            </a:pPr>
            <a:r>
              <a:rPr lang="en-US" sz="1150" i="1" dirty="0">
                <a:solidFill>
                  <a:srgbClr val="7A1F3D"/>
                </a:solidFill>
                <a:latin typeface="Calibri" pitchFamily="34" charset="0"/>
                <a:ea typeface="Calibri" pitchFamily="34" charset="-122"/>
                <a:cs typeface="Calibri" pitchFamily="34" charset="-120"/>
              </a:rPr>
              <a:t>La ponderación de clases es la única decisión que cambia el resultado: sin ella Técnico desaparece. Las demás variantes se mueven entre 0.57 y 0.59: el límite es el corpus, no un hiperparámetro.</a:t>
            </a:r>
            <a:endParaRPr lang="en-US" sz="11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583680" y="1508760"/>
          <a:ext cx="5059375" cy="914400"/>
        </p:xfrm>
        <a:graphic>
          <a:graphicData uri="http://schemas.openxmlformats.org/drawingml/2006/table">
            <a:tbl>
              <a:tblPr/>
              <a:tblGrid>
                <a:gridCol w="2468880"/>
                <a:gridCol w="731520"/>
                <a:gridCol w="960120"/>
                <a:gridCol w="941832"/>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Segmento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Exactitud</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F1 macro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Español (título)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712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0.662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0.613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Portugués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0.474</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0.392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Inglés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0.360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0.268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Ámbito institucional</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0.671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0.592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Ámbito nacional</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0.552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0.561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Con la pista léxica en el texto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287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0.808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0.687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Sin la pista léxica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526</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0.540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0.441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2" name="Text 7"/>
          <p:cNvSpPr txBox="1"/>
          <p:nvPr/>
        </p:nvSpPr>
        <p:spPr>
          <a:xfrm>
            <a:off x="6583680" y="4754880"/>
            <a:ext cx="5059375" cy="914400"/>
          </a:xfrm>
          <a:prstGeom prst="rect">
            <a:avLst/>
          </a:prstGeom>
          <a:noFill/>
          <a:ln/>
        </p:spPr>
        <p:txBody>
          <a:bodyPr wrap="square" lIns="0" tIns="0" rIns="0" bIns="0" rtlCol="0" anchor="ctr"/>
          <a:lstStyle/>
          <a:p>
            <a:pPr indent="0" marL="0">
              <a:buNone/>
            </a:pPr>
            <a:r>
              <a:rPr lang="en-US" sz="1150" i="1" dirty="0">
                <a:solidFill>
                  <a:srgbClr val="7A1F3D"/>
                </a:solidFill>
                <a:latin typeface="Calibri" pitchFamily="34" charset="0"/>
                <a:ea typeface="Calibri" pitchFamily="34" charset="-122"/>
                <a:cs typeface="Calibri" pitchFamily="34" charset="-120"/>
              </a:rPr>
              <a:t>El modelo generaliza más allá de la palabra que nombra la dimensión (0.54 sin ella, frente a 0.36 de la clase mayoritaria), pero menos de lo que sugiere la cifra global. Portugués e inglés se enrutan a revisión obligatoria.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Conjunto de prueba a ciegas: comparación pareada</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n = 125 · las normas que el investigador de GENIAL codificó a ciegas · etiquetas leídas una sola vez · McNemar sobre las mismas normas</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2286000"/>
                <a:gridCol w="2286000"/>
                <a:gridCol w="1371600"/>
                <a:gridCol w="2221992"/>
              </a:tblGrid>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Rama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Exactitud [IC95]</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F1 macro [IC95]</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Top-2</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κ vs referencia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438912">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Clase mayoritaria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0.360 [0.281, 0.447]</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0.106 [0.087, 0.124]</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Metadata (Tipo de norma)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0.544 [0.457, 0.629]</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0.322 [0.251, 0.394]</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0.608</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0.32</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Regresión Logística + TF-IDF</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0.688 [0.602, 0.763]</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0.617 [0.505, 0.712]</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0.872</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0.56</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SVM lineal (ablación)</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0.720 [0.636, 0.791]</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0.646 [0.535, 0.741]</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0.880</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0.60</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LLM few-shot (Claude Sonnet 5.5, 15 ejemplos)</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0.640 [0.553, 0.719]</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0.554 [0.447, 0.648]</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0.824</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0.53</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48640" y="4343400"/>
          <a:ext cx="6035040" cy="914400"/>
        </p:xfrm>
        <a:graphic>
          <a:graphicData uri="http://schemas.openxmlformats.org/drawingml/2006/table">
            <a:tbl>
              <a:tblPr/>
              <a:tblGrid>
                <a:gridCol w="2194560"/>
                <a:gridCol w="1371600"/>
                <a:gridCol w="1371600"/>
                <a:gridCol w="10972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McNemar (pareado)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 acierta, B falla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 falla, B acierta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valor p</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36576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vs clase mayoritaria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6576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vs metadata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0.012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6576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LLM few-shot vs RL</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8860B"/>
                          </a:solidFill>
                          <a:latin typeface="Calibri" pitchFamily="34" charset="0"/>
                          <a:ea typeface="Calibri" pitchFamily="34" charset="-122"/>
                          <a:cs typeface="Calibri" pitchFamily="34" charset="-120"/>
                        </a:rPr>
                        <a:t>0.36 (n.s.)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6576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vs SVM lineal</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6E6862"/>
                          </a:solidFill>
                          <a:latin typeface="Calibri" pitchFamily="34" charset="0"/>
                          <a:ea typeface="Calibri" pitchFamily="34" charset="-122"/>
                          <a:cs typeface="Calibri" pitchFamily="34" charset="-120"/>
                        </a:rPr>
                        <a:t>0.13 (n. 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1" name="Shape 6"/>
          <p:cNvSpPr/>
          <p:nvPr/>
        </p:nvSpPr>
        <p:spPr>
          <a:xfrm>
            <a:off x="6858000" y="4343400"/>
            <a:ext cx="4785055" cy="1600200"/>
          </a:xfrm>
          <a:prstGeom prst="roundRect">
            <a:avLst>
              <a:gd name="adj" fmla="val 4571"/>
            </a:avLst>
          </a:prstGeom>
          <a:solidFill>
            <a:srgbClr val="F4F2EF"/>
          </a:solidFill>
          <a:ln w="12700">
            <a:solidFill>
              <a:srgbClr val="F4F2EF"/>
            </a:solidFill>
            <a:prstDash val="solid"/>
          </a:ln>
        </p:spPr>
      </p:sp>
      <p:sp>
        <p:nvSpPr>
          <p:cNvPr id="12" name="Text 7"/>
          <p:cNvSpPr txBox="1"/>
          <p:nvPr/>
        </p:nvSpPr>
        <p:spPr>
          <a:xfrm>
            <a:off x="7040880" y="4480560"/>
            <a:ext cx="441929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Lectura</a:t>
            </a:r>
            <a:endParaRPr lang="en-US" sz="1400" dirty="0"/>
          </a:p>
        </p:txBody>
      </p:sp>
      <p:sp>
        <p:nvSpPr>
          <p:cNvPr id="13" name="Text 8"/>
          <p:cNvSpPr txBox="1"/>
          <p:nvPr/>
        </p:nvSpPr>
        <p:spPr>
          <a:xfrm>
            <a:off x="7040880" y="4846320"/>
            <a:ext cx="4419295" cy="96012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F1 macro 0.617 en el conjunto ciego frente a 0.587 en CV: compatibles (los IC se solapan); la muestra del investigador está dominada por normas de confianza alta. Solo 10 normas técnicas (F1 0.50). SVM y RL no difieren significativamente; se mantiene la RL por sus probabilidades calibradas, necesarias para el umbral de confianza.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Multi-etiqueta: el top-2 rescata 6 de cada 10 errores</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Observación de la tutora incorporada al diseño sin cambiar la tarea ni el índice</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13</a:t>
            </a:r>
            <a:endParaRPr lang="en-US" sz="900" dirty="0"/>
          </a:p>
        </p:txBody>
      </p:sp>
      <p:sp>
        <p:nvSpPr>
          <p:cNvPr id="9" name="Text 6"/>
          <p:cNvSpPr txBox="1"/>
          <p:nvPr/>
        </p:nvSpPr>
        <p:spPr>
          <a:xfrm>
            <a:off x="548640" y="1554480"/>
            <a:ext cx="237744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39</a:t>
            </a:r>
            <a:endParaRPr lang="en-US" sz="4000" dirty="0"/>
          </a:p>
        </p:txBody>
      </p:sp>
      <p:sp>
        <p:nvSpPr>
          <p:cNvPr id="10" name="Text 7"/>
          <p:cNvSpPr txBox="1"/>
          <p:nvPr/>
        </p:nvSpPr>
        <p:spPr>
          <a:xfrm>
            <a:off x="548640" y="2377440"/>
            <a:ext cx="237744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errores del modelo en las 125 normas ciegas</a:t>
            </a:r>
            <a:endParaRPr lang="en-US" sz="1100" dirty="0"/>
          </a:p>
        </p:txBody>
      </p:sp>
      <p:sp>
        <p:nvSpPr>
          <p:cNvPr id="11" name="Text 8"/>
          <p:cNvSpPr txBox="1"/>
          <p:nvPr/>
        </p:nvSpPr>
        <p:spPr>
          <a:xfrm>
            <a:off x="3017520" y="1554480"/>
            <a:ext cx="2377440" cy="822960"/>
          </a:xfrm>
          <a:prstGeom prst="rect">
            <a:avLst/>
          </a:prstGeom>
          <a:noFill/>
          <a:ln/>
        </p:spPr>
        <p:txBody>
          <a:bodyPr wrap="square" lIns="0" tIns="0" rIns="0" bIns="0" rtlCol="0" anchor="b"/>
          <a:lstStyle/>
          <a:p>
            <a:pPr algn="ctr" indent="0" marL="0">
              <a:buNone/>
            </a:pPr>
            <a:r>
              <a:rPr lang="en-US" sz="4000" b="1" dirty="0">
                <a:solidFill>
                  <a:srgbClr val="1E7F4F"/>
                </a:solidFill>
                <a:latin typeface="Cambria" pitchFamily="34" charset="0"/>
                <a:ea typeface="Cambria" pitchFamily="34" charset="-122"/>
                <a:cs typeface="Cambria" pitchFamily="34" charset="-120"/>
              </a:rPr>
              <a:t>23</a:t>
            </a:r>
            <a:endParaRPr lang="en-US" sz="4000" dirty="0"/>
          </a:p>
        </p:txBody>
      </p:sp>
      <p:sp>
        <p:nvSpPr>
          <p:cNvPr id="12" name="Text 9"/>
          <p:cNvSpPr txBox="1"/>
          <p:nvPr/>
        </p:nvSpPr>
        <p:spPr>
          <a:xfrm>
            <a:off x="3017520" y="2377440"/>
            <a:ext cx="237744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en los que la 2.ª dimensión propuesta es la referencia</a:t>
            </a:r>
            <a:endParaRPr lang="en-US" sz="1100" dirty="0"/>
          </a:p>
        </p:txBody>
      </p:sp>
      <p:sp>
        <p:nvSpPr>
          <p:cNvPr id="13" name="Text 10"/>
          <p:cNvSpPr txBox="1"/>
          <p:nvPr/>
        </p:nvSpPr>
        <p:spPr>
          <a:xfrm>
            <a:off x="5486400" y="1554480"/>
            <a:ext cx="2377440" cy="822960"/>
          </a:xfrm>
          <a:prstGeom prst="rect">
            <a:avLst/>
          </a:prstGeom>
          <a:noFill/>
          <a:ln/>
        </p:spPr>
        <p:txBody>
          <a:bodyPr wrap="square" lIns="0" tIns="0" rIns="0" bIns="0" rtlCol="0" anchor="b"/>
          <a:lstStyle/>
          <a:p>
            <a:pPr algn="ctr" indent="0" marL="0">
              <a:buNone/>
            </a:pPr>
            <a:r>
              <a:rPr lang="en-US" sz="4000" b="1" dirty="0">
                <a:solidFill>
                  <a:srgbClr val="1E7F4F"/>
                </a:solidFill>
                <a:latin typeface="Cambria" pitchFamily="34" charset="0"/>
                <a:ea typeface="Cambria" pitchFamily="34" charset="-122"/>
                <a:cs typeface="Cambria" pitchFamily="34" charset="-120"/>
              </a:rPr>
              <a:t>59 %</a:t>
            </a:r>
            <a:endParaRPr lang="en-US" sz="4000" dirty="0"/>
          </a:p>
        </p:txBody>
      </p:sp>
      <p:sp>
        <p:nvSpPr>
          <p:cNvPr id="14" name="Text 11"/>
          <p:cNvSpPr txBox="1"/>
          <p:nvPr/>
        </p:nvSpPr>
        <p:spPr>
          <a:xfrm>
            <a:off x="5486400" y="2377440"/>
            <a:ext cx="237744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de los errores rescatados por el top-2 (85 % en CV: 0.852 top-2)</a:t>
            </a:r>
            <a:endParaRPr lang="en-US" sz="1100" dirty="0"/>
          </a:p>
        </p:txBody>
      </p:sp>
      <p:sp>
        <p:nvSpPr>
          <p:cNvPr id="15" name="Shape 12"/>
          <p:cNvSpPr/>
          <p:nvPr/>
        </p:nvSpPr>
        <p:spPr>
          <a:xfrm>
            <a:off x="8138160" y="1554480"/>
            <a:ext cx="3504895" cy="1463040"/>
          </a:xfrm>
          <a:prstGeom prst="roundRect">
            <a:avLst>
              <a:gd name="adj" fmla="val 5000"/>
            </a:avLst>
          </a:prstGeom>
          <a:solidFill>
            <a:srgbClr val="F3E6EA"/>
          </a:solidFill>
          <a:ln w="12700">
            <a:solidFill>
              <a:srgbClr val="F3E6EA"/>
            </a:solidFill>
            <a:prstDash val="solid"/>
          </a:ln>
        </p:spPr>
      </p:sp>
      <p:sp>
        <p:nvSpPr>
          <p:cNvPr id="16" name="Text 13"/>
          <p:cNvSpPr txBox="1"/>
          <p:nvPr/>
        </p:nvSpPr>
        <p:spPr>
          <a:xfrm>
            <a:off x="8321040" y="1627632"/>
            <a:ext cx="3139135" cy="1325880"/>
          </a:xfrm>
          <a:prstGeom prst="rect">
            <a:avLst/>
          </a:prstGeom>
          <a:noFill/>
          <a:ln/>
        </p:spPr>
        <p:txBody>
          <a:bodyPr wrap="square" lIns="0" tIns="0" rIns="0" bIns="0" rtlCol="0" anchor="ctr"/>
          <a:lstStyle/>
          <a:p>
            <a:pPr indent="0" marL="0">
              <a:buNone/>
            </a:pPr>
            <a:r>
              <a:rPr lang="en-US" sz="1250" i="1" dirty="0">
                <a:solidFill>
                  <a:srgbClr val="3B0F1F"/>
                </a:solidFill>
                <a:latin typeface="Calibri" pitchFamily="34" charset="0"/>
                <a:ea typeface="Calibri" pitchFamily="34" charset="-122"/>
                <a:cs typeface="Calibri" pitchFamily="34" charset="-120"/>
              </a:rPr>
              <a:t>Una parte sustantiva de los errores no son confusiones arbitrarias: son normas en la frontera entre dos dimensiones, sobre todo Pedagógico ↔ Ética.</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4206240"/>
                <a:gridCol w="2926080"/>
                <a:gridCol w="3959352"/>
              </a:tblGrid>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Hoja de tipificación (results/hoja_tipificacion_errores_clasico.csv)</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Quién la completa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informa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438912">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Error genuino</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codificadores GENIAL</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límite real del modelo → revisión humana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Segunda dimensión defendible</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codificadores GENIAL</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norma de frontera → candidata a multi-etiqueta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Etiqueta original discutible</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codificadores GENIAL + adjudicación</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ruido en el estándar de referencia → recodificación</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8" name="Text 14"/>
          <p:cNvSpPr txBox="1"/>
          <p:nvPr/>
        </p:nvSpPr>
        <p:spPr>
          <a:xfrm>
            <a:off x="548640" y="5349240"/>
            <a:ext cx="11094415" cy="640080"/>
          </a:xfrm>
          <a:prstGeom prst="rect">
            <a:avLst/>
          </a:prstGeom>
          <a:noFill/>
          <a:ln/>
        </p:spPr>
        <p:txBody>
          <a:bodyPr wrap="square" lIns="0" tIns="0" rIns="0" bIns="0" rtlCol="0" anchor="ctr"/>
          <a:lstStyle/>
          <a:p>
            <a:pPr indent="0" marL="0">
              <a:buNone/>
            </a:pPr>
            <a:r>
              <a:rPr lang="en-US" sz="1200" dirty="0">
                <a:solidFill>
                  <a:srgbClr val="6E6862"/>
                </a:solidFill>
                <a:latin typeface="Calibri" pitchFamily="34" charset="0"/>
                <a:ea typeface="Calibri" pitchFamily="34" charset="-122"/>
                <a:cs typeface="Calibri" pitchFamily="34" charset="-120"/>
              </a:rPr>
              <a:t>Cada fila de la hoja lleva la referencia, la predicción, la alternativa y —cuando existe— la etiqueta del segundo codificador. Los errores del modelo se convierten en evidencia empírica sobre la definición de las dimensiones del framework.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Codificación ciega: el modelo falla donde el humano dudó</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Instrumento del Framework Dimensional GENIAL (D1-D6, etiquetas secundarias, confianza) sobre las 119 normas emparejadas</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14</a:t>
            </a:r>
            <a:endParaRPr lang="en-US" sz="900" dirty="0"/>
          </a:p>
        </p:txBody>
      </p:sp>
      <p:sp>
        <p:nvSpPr>
          <p:cNvPr id="9" name="Text 6"/>
          <p:cNvSpPr txBox="1"/>
          <p:nvPr/>
        </p:nvSpPr>
        <p:spPr>
          <a:xfrm>
            <a:off x="548640" y="1508760"/>
            <a:ext cx="2651760" cy="822960"/>
          </a:xfrm>
          <a:prstGeom prst="rect">
            <a:avLst/>
          </a:prstGeom>
          <a:noFill/>
          <a:ln/>
        </p:spPr>
        <p:txBody>
          <a:bodyPr wrap="square" lIns="0" tIns="0" rIns="0" bIns="0" rtlCol="0" anchor="b"/>
          <a:lstStyle/>
          <a:p>
            <a:pPr algn="ctr" indent="0" marL="0">
              <a:buNone/>
            </a:pPr>
            <a:r>
              <a:rPr lang="en-US" sz="4000" b="1" dirty="0">
                <a:solidFill>
                  <a:srgbClr val="1E7F4F"/>
                </a:solidFill>
                <a:latin typeface="Cambria" pitchFamily="34" charset="0"/>
                <a:ea typeface="Cambria" pitchFamily="34" charset="-122"/>
                <a:cs typeface="Cambria" pitchFamily="34" charset="-120"/>
              </a:rPr>
              <a:t>76 %</a:t>
            </a:r>
            <a:endParaRPr lang="en-US" sz="4000" dirty="0"/>
          </a:p>
        </p:txBody>
      </p:sp>
      <p:sp>
        <p:nvSpPr>
          <p:cNvPr id="10" name="Text 7"/>
          <p:cNvSpPr txBox="1"/>
          <p:nvPr/>
        </p:nvSpPr>
        <p:spPr>
          <a:xfrm>
            <a:off x="548640" y="2331720"/>
            <a:ext cx="265176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exactitud del modelo cuando el codificador declaró confianza ALTA (n = 91)</a:t>
            </a:r>
            <a:endParaRPr lang="en-US" sz="1100" dirty="0"/>
          </a:p>
        </p:txBody>
      </p:sp>
      <p:sp>
        <p:nvSpPr>
          <p:cNvPr id="11" name="Text 8"/>
          <p:cNvSpPr txBox="1"/>
          <p:nvPr/>
        </p:nvSpPr>
        <p:spPr>
          <a:xfrm>
            <a:off x="3291840" y="1508760"/>
            <a:ext cx="2651760" cy="822960"/>
          </a:xfrm>
          <a:prstGeom prst="rect">
            <a:avLst/>
          </a:prstGeom>
          <a:noFill/>
          <a:ln/>
        </p:spPr>
        <p:txBody>
          <a:bodyPr wrap="square" lIns="0" tIns="0" rIns="0" bIns="0" rtlCol="0" anchor="b"/>
          <a:lstStyle/>
          <a:p>
            <a:pPr algn="ctr" indent="0" marL="0">
              <a:buNone/>
            </a:pPr>
            <a:r>
              <a:rPr lang="en-US" sz="4000" b="1" dirty="0">
                <a:solidFill>
                  <a:srgbClr val="B3261E"/>
                </a:solidFill>
                <a:latin typeface="Cambria" pitchFamily="34" charset="0"/>
                <a:ea typeface="Cambria" pitchFamily="34" charset="-122"/>
                <a:cs typeface="Cambria" pitchFamily="34" charset="-120"/>
              </a:rPr>
              <a:t>41 %</a:t>
            </a:r>
            <a:endParaRPr lang="en-US" sz="4000" dirty="0"/>
          </a:p>
        </p:txBody>
      </p:sp>
      <p:sp>
        <p:nvSpPr>
          <p:cNvPr id="12" name="Text 9"/>
          <p:cNvSpPr txBox="1"/>
          <p:nvPr/>
        </p:nvSpPr>
        <p:spPr>
          <a:xfrm>
            <a:off x="3291840" y="2331720"/>
            <a:ext cx="265176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cuando declaró confianza MEDIA (n = 22)</a:t>
            </a:r>
            <a:endParaRPr lang="en-US" sz="1100" dirty="0"/>
          </a:p>
        </p:txBody>
      </p:sp>
      <p:sp>
        <p:nvSpPr>
          <p:cNvPr id="13" name="Text 10"/>
          <p:cNvSpPr txBox="1"/>
          <p:nvPr/>
        </p:nvSpPr>
        <p:spPr>
          <a:xfrm>
            <a:off x="6035040" y="1508760"/>
            <a:ext cx="265176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0.89 vs 0.65</a:t>
            </a:r>
            <a:endParaRPr lang="en-US" sz="4000" dirty="0"/>
          </a:p>
        </p:txBody>
      </p:sp>
      <p:sp>
        <p:nvSpPr>
          <p:cNvPr id="14" name="Text 11"/>
          <p:cNvSpPr txBox="1"/>
          <p:nvPr/>
        </p:nvSpPr>
        <p:spPr>
          <a:xfrm>
            <a:off x="6035040" y="2331720"/>
            <a:ext cx="265176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exactitud en normas unidimensionales (19) vs con etiquetas secundarias (100)</a:t>
            </a:r>
            <a:endParaRPr lang="en-US" sz="1100" dirty="0"/>
          </a:p>
        </p:txBody>
      </p:sp>
      <p:sp>
        <p:nvSpPr>
          <p:cNvPr id="15" name="Text 12"/>
          <p:cNvSpPr txBox="1"/>
          <p:nvPr/>
        </p:nvSpPr>
        <p:spPr>
          <a:xfrm>
            <a:off x="8778240" y="1508760"/>
            <a:ext cx="283464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35 / 37</a:t>
            </a:r>
            <a:endParaRPr lang="en-US" sz="4000" dirty="0"/>
          </a:p>
        </p:txBody>
      </p:sp>
      <p:sp>
        <p:nvSpPr>
          <p:cNvPr id="16" name="Text 13"/>
          <p:cNvSpPr txBox="1"/>
          <p:nvPr/>
        </p:nvSpPr>
        <p:spPr>
          <a:xfrm>
            <a:off x="8778240" y="2331720"/>
            <a:ext cx="283464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errores del modelo que caen en normas multidimensionales</a:t>
            </a:r>
            <a:endParaRPr lang="en-US" sz="1100" dirty="0"/>
          </a:p>
        </p:txBody>
      </p:sp>
      <p:sp>
        <p:nvSpPr>
          <p:cNvPr id="17" name="Shape 14"/>
          <p:cNvSpPr/>
          <p:nvPr/>
        </p:nvSpPr>
        <p:spPr>
          <a:xfrm>
            <a:off x="548640" y="3200400"/>
            <a:ext cx="5486400" cy="2697480"/>
          </a:xfrm>
          <a:prstGeom prst="roundRect">
            <a:avLst>
              <a:gd name="adj" fmla="val 2712"/>
            </a:avLst>
          </a:prstGeom>
          <a:solidFill>
            <a:srgbClr val="F4F2EF"/>
          </a:solidFill>
          <a:ln w="12700">
            <a:solidFill>
              <a:srgbClr val="F4F2EF"/>
            </a:solidFill>
            <a:prstDash val="solid"/>
          </a:ln>
        </p:spPr>
      </p:sp>
      <p:sp>
        <p:nvSpPr>
          <p:cNvPr id="18" name="Text 15"/>
          <p:cNvSpPr txBox="1"/>
          <p:nvPr/>
        </p:nvSpPr>
        <p:spPr>
          <a:xfrm>
            <a:off x="731520" y="3337560"/>
            <a:ext cx="512064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Qué aporta el instrumento</a:t>
            </a:r>
            <a:endParaRPr lang="en-US" sz="1400" dirty="0"/>
          </a:p>
        </p:txBody>
      </p:sp>
      <p:sp>
        <p:nvSpPr>
          <p:cNvPr id="19" name="Text 16"/>
          <p:cNvSpPr txBox="1"/>
          <p:nvPr/>
        </p:nvSpPr>
        <p:spPr>
          <a:xfrm>
            <a:off x="731520" y="3703320"/>
            <a:ext cx="5120640" cy="20574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Define el conjunto de prueba: exactamente las normas que el investigador leyó a ciegas (142; 119 en la versión congelada).</a:t>
            </a:r>
            <a:endParaRPr lang="en-US" sz="1150" dirty="0"/>
          </a:p>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Confianza humana y etiquetas secundarias: los errores del modelo se concentran donde el humano también dudó y donde la norma toca más de una dimensión → evidencia empírica de multi-etiqueta.</a:t>
            </a:r>
            <a:endParaRPr lang="en-US" sz="1150" dirty="0"/>
          </a:p>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Dominio vs. framework de seis dimensiones: asociación moderada (V de Cramér 0.34 con D3, 0.28 con D4); el de seis no es una partición del de cinco.</a:t>
            </a:r>
            <a:endParaRPr lang="en-US" sz="1150" dirty="0"/>
          </a:p>
          <a:p>
            <a:pPr marL="342900" indent="-342900">
              <a:spcAft>
                <a:spcPts val="400"/>
              </a:spcAft>
              <a:buSzPct val="100000"/>
              <a:buChar char="•"/>
            </a:pPr>
            <a:r>
              <a:rPr lang="en-US" sz="1150" dirty="0">
                <a:solidFill>
                  <a:srgbClr val="1B1A19"/>
                </a:solidFill>
                <a:latin typeface="Calibri" pitchFamily="34" charset="0"/>
                <a:ea typeface="Calibri" pitchFamily="34" charset="-122"/>
                <a:cs typeface="Calibri" pitchFamily="34" charset="-120"/>
              </a:rPr>
              <a:t>No recodifica Dominio: el κ humano-humano sigue pendiente (plantilla generada, 125 normas).</a:t>
            </a:r>
            <a:endParaRPr lang="en-US" sz="1150" dirty="0"/>
          </a:p>
        </p:txBody>
      </p:sp>
      <p:sp>
        <p:nvSpPr>
          <p:cNvPr id="20" name="Shape 17"/>
          <p:cNvSpPr/>
          <p:nvPr/>
        </p:nvSpPr>
        <p:spPr>
          <a:xfrm>
            <a:off x="6263640" y="3200400"/>
            <a:ext cx="5379415" cy="2697480"/>
          </a:xfrm>
          <a:prstGeom prst="roundRect">
            <a:avLst>
              <a:gd name="adj" fmla="val 2712"/>
            </a:avLst>
          </a:prstGeom>
          <a:solidFill>
            <a:srgbClr val="F3E6EA"/>
          </a:solidFill>
          <a:ln w="12700">
            <a:solidFill>
              <a:srgbClr val="F3E6EA"/>
            </a:solidFill>
            <a:prstDash val="solid"/>
          </a:ln>
        </p:spPr>
      </p:sp>
      <p:sp>
        <p:nvSpPr>
          <p:cNvPr id="21" name="Text 18"/>
          <p:cNvSpPr txBox="1"/>
          <p:nvPr/>
        </p:nvSpPr>
        <p:spPr>
          <a:xfrm>
            <a:off x="6446520" y="3337560"/>
            <a:ext cx="501365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Robustez fuera de la versión congelada</a:t>
            </a:r>
            <a:endParaRPr lang="en-US" sz="1400" dirty="0"/>
          </a:p>
        </p:txBody>
      </p:sp>
      <p:sp>
        <p:nvSpPr>
          <p:cNvPr id="22" name="Text 19"/>
          <p:cNvSpPr txBox="1"/>
          <p:nvPr/>
        </p:nvSpPr>
        <p:spPr>
          <a:xfrm>
            <a:off x="6446520" y="3703320"/>
            <a:ext cx="5013655" cy="20574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23 normas incorporadas a GENIAL después del corte (11 países, Caribe anglófono en su mayoría, 7 técnicas).</a:t>
            </a:r>
            <a:endParaRPr lang="en-US" sz="1150" dirty="0"/>
          </a:p>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Exactitud 0.39 [IC95 0.22, 0.59] · top-2 0.57 · confianza media del modelo 0.33.</a:t>
            </a:r>
            <a:endParaRPr lang="en-US" sz="1150" dirty="0"/>
          </a:p>
          <a:p>
            <a:pPr marL="342900" indent="-342900">
              <a:spcAft>
                <a:spcPts val="400"/>
              </a:spcAft>
              <a:buSzPct val="100000"/>
              <a:buChar char="•"/>
            </a:pPr>
            <a:r>
              <a:rPr lang="en-US" sz="1150" dirty="0">
                <a:solidFill>
                  <a:srgbClr val="1B1A19"/>
                </a:solidFill>
                <a:latin typeface="Calibri" pitchFamily="34" charset="0"/>
                <a:ea typeface="Calibri" pitchFamily="34" charset="-122"/>
                <a:cs typeface="Calibri" pitchFamily="34" charset="-120"/>
              </a:rPr>
              <a:t>Fuera de la distribución de entrenamiento —otro idioma, otra región, la clase más débil— el modelo no es fiable: la revisión obligatoria para países &lt; 20 normas e idiomas minoritarios queda justificada con datos.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Operación: codificación asistida, no automatización</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Curva enrutamiento–exactitud con probabilidades fuera de muestra (n = 813) · regla de gobernanza · IMN trazable</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15</a:t>
            </a:r>
            <a:endParaRPr lang="en-US" sz="900" dirty="0"/>
          </a:p>
        </p:txBody>
      </p:sp>
      <p:pic>
        <p:nvPicPr>
          <p:cNvPr id="9" name="Image 0" descr="11_curva_enrutamiento.png">    </p:cNvPr>
          <p:cNvPicPr>
            <a:picLocks noChangeAspect="1"/>
          </p:cNvPicPr>
          <p:nvPr/>
        </p:nvPicPr>
        <p:blipFill>
          <a:blip r:embed="rId1"/>
          <a:stretch>
            <a:fillRect/>
          </a:stretch>
        </p:blipFill>
        <p:spPr>
          <a:xfrm>
            <a:off x="548640" y="1463040"/>
            <a:ext cx="6675120" cy="2934820"/>
          </a:xfrm>
          <a:prstGeom prst="rect">
            <a:avLst/>
          </a:prstGeom>
        </p:spPr>
      </p:pic>
      <p:pic>
        <p:nvPicPr>
          <p:cNvPr id="10" name="Image 1" descr="fig_operacion.png">    </p:cNvPr>
          <p:cNvPicPr>
            <a:picLocks noChangeAspect="1"/>
          </p:cNvPicPr>
          <p:nvPr/>
        </p:nvPicPr>
        <p:blipFill>
          <a:blip r:embed="rId2"/>
          <a:stretch>
            <a:fillRect/>
          </a:stretch>
        </p:blipFill>
        <p:spPr>
          <a:xfrm>
            <a:off x="548640" y="4572000"/>
            <a:ext cx="6675120" cy="1340774"/>
          </a:xfrm>
          <a:prstGeom prst="rect">
            <a:avLst/>
          </a:prstGeom>
        </p:spPr>
      </p:pic>
      <p:sp>
        <p:nvSpPr>
          <p:cNvPr id="11" name="Text 6"/>
          <p:cNvSpPr txBox="1"/>
          <p:nvPr/>
        </p:nvSpPr>
        <p:spPr>
          <a:xfrm>
            <a:off x="7498080" y="1417320"/>
            <a:ext cx="21031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0.50</a:t>
            </a:r>
            <a:endParaRPr lang="en-US" sz="4000" dirty="0"/>
          </a:p>
        </p:txBody>
      </p:sp>
      <p:sp>
        <p:nvSpPr>
          <p:cNvPr id="12" name="Text 7"/>
          <p:cNvSpPr txBox="1"/>
          <p:nvPr/>
        </p:nvSpPr>
        <p:spPr>
          <a:xfrm>
            <a:off x="7498080" y="2240280"/>
            <a:ext cx="21031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umbral para ≥ 85 % de exactitud automática</a:t>
            </a:r>
            <a:endParaRPr lang="en-US" sz="1100" dirty="0"/>
          </a:p>
        </p:txBody>
      </p:sp>
      <p:sp>
        <p:nvSpPr>
          <p:cNvPr id="13" name="Text 8"/>
          <p:cNvSpPr txBox="1"/>
          <p:nvPr/>
        </p:nvSpPr>
        <p:spPr>
          <a:xfrm>
            <a:off x="9646920" y="1417320"/>
            <a:ext cx="2103120" cy="822960"/>
          </a:xfrm>
          <a:prstGeom prst="rect">
            <a:avLst/>
          </a:prstGeom>
          <a:noFill/>
          <a:ln/>
        </p:spPr>
        <p:txBody>
          <a:bodyPr wrap="square" lIns="0" tIns="0" rIns="0" bIns="0" rtlCol="0" anchor="b"/>
          <a:lstStyle/>
          <a:p>
            <a:pPr algn="ctr" indent="0" marL="0">
              <a:buNone/>
            </a:pPr>
            <a:r>
              <a:rPr lang="en-US" sz="4000" b="1" dirty="0">
                <a:solidFill>
                  <a:srgbClr val="B3261E"/>
                </a:solidFill>
                <a:latin typeface="Cambria" pitchFamily="34" charset="0"/>
                <a:ea typeface="Cambria" pitchFamily="34" charset="-122"/>
                <a:cs typeface="Cambria" pitchFamily="34" charset="-120"/>
              </a:rPr>
              <a:t>84 %</a:t>
            </a:r>
            <a:endParaRPr lang="en-US" sz="4000" dirty="0"/>
          </a:p>
        </p:txBody>
      </p:sp>
      <p:sp>
        <p:nvSpPr>
          <p:cNvPr id="14" name="Text 9"/>
          <p:cNvSpPr txBox="1"/>
          <p:nvPr/>
        </p:nvSpPr>
        <p:spPr>
          <a:xfrm>
            <a:off x="9646920" y="2240280"/>
            <a:ext cx="21031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de normas a revisión humana (meta ≤ 30 %)</a:t>
            </a:r>
            <a:endParaRPr lang="en-US" sz="1100" dirty="0"/>
          </a:p>
        </p:txBody>
      </p:sp>
      <p:sp>
        <p:nvSpPr>
          <p:cNvPr id="15" name="Text 10"/>
          <p:cNvSpPr txBox="1"/>
          <p:nvPr/>
        </p:nvSpPr>
        <p:spPr>
          <a:xfrm>
            <a:off x="7498080" y="2880360"/>
            <a:ext cx="21031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21 / 136</a:t>
            </a:r>
            <a:endParaRPr lang="en-US" sz="4000" dirty="0"/>
          </a:p>
        </p:txBody>
      </p:sp>
      <p:sp>
        <p:nvSpPr>
          <p:cNvPr id="16" name="Text 11"/>
          <p:cNvSpPr txBox="1"/>
          <p:nvPr/>
        </p:nvSpPr>
        <p:spPr>
          <a:xfrm>
            <a:off x="7498080" y="3703320"/>
            <a:ext cx="21031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horas-persona ahorradas por pasada (10 min/norma)</a:t>
            </a:r>
            <a:endParaRPr lang="en-US" sz="1100" dirty="0"/>
          </a:p>
        </p:txBody>
      </p:sp>
      <p:sp>
        <p:nvSpPr>
          <p:cNvPr id="17" name="Text 12"/>
          <p:cNvSpPr txBox="1"/>
          <p:nvPr/>
        </p:nvSpPr>
        <p:spPr>
          <a:xfrm>
            <a:off x="9646920" y="2880360"/>
            <a:ext cx="2103120" cy="822960"/>
          </a:xfrm>
          <a:prstGeom prst="rect">
            <a:avLst/>
          </a:prstGeom>
          <a:noFill/>
          <a:ln/>
        </p:spPr>
        <p:txBody>
          <a:bodyPr wrap="square" lIns="0" tIns="0" rIns="0" bIns="0" rtlCol="0" anchor="b"/>
          <a:lstStyle/>
          <a:p>
            <a:pPr algn="ctr" indent="0" marL="0">
              <a:buNone/>
            </a:pPr>
            <a:r>
              <a:rPr lang="en-US" sz="4000" b="1" dirty="0">
                <a:solidFill>
                  <a:srgbClr val="1E7F4F"/>
                </a:solidFill>
                <a:latin typeface="Cambria" pitchFamily="34" charset="0"/>
                <a:ea typeface="Cambria" pitchFamily="34" charset="-122"/>
                <a:cs typeface="Cambria" pitchFamily="34" charset="-120"/>
              </a:rPr>
              <a:t>5 → 2</a:t>
            </a:r>
            <a:endParaRPr lang="en-US" sz="4000" dirty="0"/>
          </a:p>
        </p:txBody>
      </p:sp>
      <p:sp>
        <p:nvSpPr>
          <p:cNvPr id="18" name="Text 13"/>
          <p:cNvSpPr txBox="1"/>
          <p:nvPr/>
        </p:nvSpPr>
        <p:spPr>
          <a:xfrm>
            <a:off x="9646920" y="3703320"/>
            <a:ext cx="21031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opciones por norma con top-2 en el 85 % de los casos</a:t>
            </a:r>
            <a:endParaRPr lang="en-US" sz="1100" dirty="0"/>
          </a:p>
        </p:txBody>
      </p:sp>
      <p:sp>
        <p:nvSpPr>
          <p:cNvPr id="19" name="Shape 14"/>
          <p:cNvSpPr/>
          <p:nvPr/>
        </p:nvSpPr>
        <p:spPr>
          <a:xfrm>
            <a:off x="7498080" y="4434840"/>
            <a:ext cx="4144975" cy="1554480"/>
          </a:xfrm>
          <a:prstGeom prst="roundRect">
            <a:avLst>
              <a:gd name="adj" fmla="val 4706"/>
            </a:avLst>
          </a:prstGeom>
          <a:solidFill>
            <a:srgbClr val="F3E6EA"/>
          </a:solidFill>
          <a:ln w="12700">
            <a:solidFill>
              <a:srgbClr val="F3E6EA"/>
            </a:solidFill>
            <a:prstDash val="solid"/>
          </a:ln>
        </p:spPr>
      </p:sp>
      <p:sp>
        <p:nvSpPr>
          <p:cNvPr id="20" name="Text 15"/>
          <p:cNvSpPr txBox="1"/>
          <p:nvPr/>
        </p:nvSpPr>
        <p:spPr>
          <a:xfrm>
            <a:off x="7680960" y="4572000"/>
            <a:ext cx="377921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Recomendación para el observatorio</a:t>
            </a:r>
            <a:endParaRPr lang="en-US" sz="1400" dirty="0"/>
          </a:p>
        </p:txBody>
      </p:sp>
      <p:sp>
        <p:nvSpPr>
          <p:cNvPr id="21" name="Text 16"/>
          <p:cNvSpPr txBox="1"/>
          <p:nvPr/>
        </p:nvSpPr>
        <p:spPr>
          <a:xfrm>
            <a:off x="7680960" y="4937760"/>
            <a:ext cx="3779215" cy="91440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El modelo propone dos candidatas con su probabilidad; el codificador decide. Revisión obligatoria para países con &lt; 20 normas e idiomas minoritarios. La tabla del IMN registra por país cuántas normas tienen respaldo humano y cuántas solo del modelo, con margen.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Impacto social y responsabilidad: escalar sin invisibilizar</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Auditoría de equidad por jurisdicción (CV por grupo, n = 813) · regla de gobernanza · cadena de responsabilidad</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16</a:t>
            </a:r>
            <a:endParaRPr lang="en-US" sz="900" dirty="0"/>
          </a:p>
        </p:txBody>
      </p:sp>
      <p:pic>
        <p:nvPicPr>
          <p:cNvPr id="9" name="Image 0" descr="12_fairness_grupos.png">    </p:cNvPr>
          <p:cNvPicPr>
            <a:picLocks noChangeAspect="1"/>
          </p:cNvPicPr>
          <p:nvPr/>
        </p:nvPicPr>
        <p:blipFill>
          <a:blip r:embed="rId1"/>
          <a:stretch>
            <a:fillRect/>
          </a:stretch>
        </p:blipFill>
        <p:spPr>
          <a:xfrm>
            <a:off x="548640" y="1417320"/>
            <a:ext cx="6949440" cy="2663952"/>
          </a:xfrm>
          <a:prstGeom prst="rect">
            <a:avLst/>
          </a:prstGeom>
        </p:spPr>
      </p:pic>
      <p:sp>
        <p:nvSpPr>
          <p:cNvPr id="10" name="Shape 6"/>
          <p:cNvSpPr/>
          <p:nvPr/>
        </p:nvSpPr>
        <p:spPr>
          <a:xfrm>
            <a:off x="548640" y="4206240"/>
            <a:ext cx="6949440" cy="1737360"/>
          </a:xfrm>
          <a:prstGeom prst="roundRect">
            <a:avLst>
              <a:gd name="adj" fmla="val 4211"/>
            </a:avLst>
          </a:prstGeom>
          <a:solidFill>
            <a:srgbClr val="F4F2EF"/>
          </a:solidFill>
          <a:ln w="12700">
            <a:solidFill>
              <a:srgbClr val="F4F2EF"/>
            </a:solidFill>
            <a:prstDash val="solid"/>
          </a:ln>
        </p:spPr>
      </p:sp>
      <p:sp>
        <p:nvSpPr>
          <p:cNvPr id="11" name="Text 7"/>
          <p:cNvSpPr txBox="1"/>
          <p:nvPr/>
        </p:nvSpPr>
        <p:spPr>
          <a:xfrm>
            <a:off x="731520" y="4343400"/>
            <a:ext cx="65836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Lo que muestra la auditoría</a:t>
            </a:r>
            <a:endParaRPr lang="en-US" sz="1400" dirty="0"/>
          </a:p>
        </p:txBody>
      </p:sp>
      <p:sp>
        <p:nvSpPr>
          <p:cNvPr id="12" name="Text 8"/>
          <p:cNvSpPr txBox="1"/>
          <p:nvPr/>
        </p:nvSpPr>
        <p:spPr>
          <a:xfrm>
            <a:off x="731520" y="4709160"/>
            <a:ext cx="6583680" cy="10972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1A19"/>
                </a:solidFill>
                <a:latin typeface="Calibri" pitchFamily="34" charset="0"/>
                <a:ea typeface="Calibri" pitchFamily="34" charset="-122"/>
                <a:cs typeface="Calibri" pitchFamily="34" charset="-120"/>
              </a:rPr>
              <a:t>El modelo rinde peor donde hay menos datos: Caribe 0.38 y Brasil 0.47 frente a 0.67 en Hispanoamérica continental; inglés 0.36 frente a español 0.66 (razón &lt; 0.8).</a:t>
            </a:r>
            <a:endParaRPr lang="en-US" sz="1100" dirty="0"/>
          </a:p>
          <a:p>
            <a:pPr marL="342900" indent="-342900">
              <a:spcAft>
                <a:spcPts val="400"/>
              </a:spcAft>
              <a:buSzPct val="100000"/>
              <a:buChar char="•"/>
            </a:pPr>
            <a:r>
              <a:rPr lang="en-US" sz="1100" dirty="0">
                <a:solidFill>
                  <a:srgbClr val="1B1A19"/>
                </a:solidFill>
                <a:latin typeface="Calibri" pitchFamily="34" charset="0"/>
                <a:ea typeface="Calibri" pitchFamily="34" charset="-122"/>
                <a:cs typeface="Calibri" pitchFamily="34" charset="-120"/>
              </a:rPr>
              <a:t>La regla de gobernanza envía a revisión humana el 100 % de esas normas; tras la auditoría se añadió el portugués (Brasil pasaba al tramo automático con exactitud 0.33).</a:t>
            </a:r>
            <a:endParaRPr lang="en-US" sz="1100" dirty="0"/>
          </a:p>
          <a:p>
            <a:pPr marL="342900" indent="-342900">
              <a:spcAft>
                <a:spcPts val="400"/>
              </a:spcAft>
              <a:buSzPct val="100000"/>
              <a:buChar char="•"/>
            </a:pPr>
            <a:r>
              <a:rPr lang="en-US" sz="1100" dirty="0">
                <a:solidFill>
                  <a:srgbClr val="1B1A19"/>
                </a:solidFill>
                <a:latin typeface="Calibri" pitchFamily="34" charset="0"/>
                <a:ea typeface="Calibri" pitchFamily="34" charset="-122"/>
                <a:cs typeface="Calibri" pitchFamily="34" charset="-120"/>
              </a:rPr>
              <a:t>Los costos del sesgo se trasladan al presupuesto del observatorio, no a los países.</a:t>
            </a:r>
            <a:endParaRPr lang="en-US" sz="1100" dirty="0"/>
          </a:p>
        </p:txBody>
      </p:sp>
      <p:sp>
        <p:nvSpPr>
          <p:cNvPr id="13" name="Shape 9"/>
          <p:cNvSpPr/>
          <p:nvPr/>
        </p:nvSpPr>
        <p:spPr>
          <a:xfrm>
            <a:off x="7726680" y="1417320"/>
            <a:ext cx="3916375" cy="2148840"/>
          </a:xfrm>
          <a:prstGeom prst="roundRect">
            <a:avLst>
              <a:gd name="adj" fmla="val 3404"/>
            </a:avLst>
          </a:prstGeom>
          <a:solidFill>
            <a:srgbClr val="F4F2EF"/>
          </a:solidFill>
          <a:ln w="12700">
            <a:solidFill>
              <a:srgbClr val="F4F2EF"/>
            </a:solidFill>
            <a:prstDash val="solid"/>
          </a:ln>
        </p:spPr>
      </p:sp>
      <p:sp>
        <p:nvSpPr>
          <p:cNvPr id="14" name="Text 10"/>
          <p:cNvSpPr txBox="1"/>
          <p:nvPr/>
        </p:nvSpPr>
        <p:spPr>
          <a:xfrm>
            <a:off x="7909560" y="1554480"/>
            <a:ext cx="355061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Stakeholders y riesgos</a:t>
            </a:r>
            <a:endParaRPr lang="en-US" sz="1400" dirty="0"/>
          </a:p>
        </p:txBody>
      </p:sp>
      <p:sp>
        <p:nvSpPr>
          <p:cNvPr id="15" name="Text 11"/>
          <p:cNvSpPr txBox="1"/>
          <p:nvPr/>
        </p:nvSpPr>
        <p:spPr>
          <a:xfrm>
            <a:off x="7909560" y="1920240"/>
            <a:ext cx="3550615" cy="15087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1A19"/>
                </a:solidFill>
                <a:latin typeface="Calibri" pitchFamily="34" charset="0"/>
                <a:ea typeface="Calibri" pitchFamily="34" charset="-122"/>
                <a:cs typeface="Calibri" pitchFamily="34" charset="-120"/>
              </a:rPr>
              <a:t>Codificadores (sesgo de automatización) · coordinación GENIAL (índice con error) · países comparados (uso reputacional del ranking) · jurisdicciones pequeñas y no hispanohablantes (invisibilización) · comunidad (reutilización).</a:t>
            </a:r>
            <a:endParaRPr lang="en-US" sz="1100" dirty="0"/>
          </a:p>
          <a:p>
            <a:pPr marL="342900" indent="-342900">
              <a:spcAft>
                <a:spcPts val="400"/>
              </a:spcAft>
              <a:buSzPct val="100000"/>
              <a:buChar char="•"/>
            </a:pPr>
            <a:r>
              <a:rPr lang="en-US" sz="1100" dirty="0">
                <a:solidFill>
                  <a:srgbClr val="1B1A19"/>
                </a:solidFill>
                <a:latin typeface="Calibri" pitchFamily="34" charset="0"/>
                <a:ea typeface="Calibri" pitchFamily="34" charset="-122"/>
                <a:cs typeface="Calibri" pitchFamily="34" charset="-120"/>
              </a:rPr>
              <a:t>Privacidad: el nombre del codificador es dato personal; se excluye del modelo y se anonimiza. Ley de IA de la UE: riesgo mínimo (no decide sobre personas).</a:t>
            </a:r>
            <a:endParaRPr lang="en-US" sz="1100" dirty="0"/>
          </a:p>
        </p:txBody>
      </p:sp>
      <p:sp>
        <p:nvSpPr>
          <p:cNvPr id="16" name="Shape 12"/>
          <p:cNvSpPr/>
          <p:nvPr/>
        </p:nvSpPr>
        <p:spPr>
          <a:xfrm>
            <a:off x="7726680" y="3703320"/>
            <a:ext cx="3916375" cy="2240280"/>
          </a:xfrm>
          <a:prstGeom prst="roundRect">
            <a:avLst>
              <a:gd name="adj" fmla="val 3265"/>
            </a:avLst>
          </a:prstGeom>
          <a:solidFill>
            <a:srgbClr val="F3E6EA"/>
          </a:solidFill>
          <a:ln w="12700">
            <a:solidFill>
              <a:srgbClr val="F3E6EA"/>
            </a:solidFill>
            <a:prstDash val="solid"/>
          </a:ln>
        </p:spPr>
      </p:sp>
      <p:sp>
        <p:nvSpPr>
          <p:cNvPr id="17" name="Text 13"/>
          <p:cNvSpPr txBox="1"/>
          <p:nvPr/>
        </p:nvSpPr>
        <p:spPr>
          <a:xfrm>
            <a:off x="7909560" y="3840480"/>
            <a:ext cx="355061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Compromisos</a:t>
            </a:r>
            <a:endParaRPr lang="en-US" sz="1400" dirty="0"/>
          </a:p>
        </p:txBody>
      </p:sp>
      <p:sp>
        <p:nvSpPr>
          <p:cNvPr id="18" name="Text 14"/>
          <p:cNvSpPr txBox="1"/>
          <p:nvPr/>
        </p:nvSpPr>
        <p:spPr>
          <a:xfrm>
            <a:off x="7909560" y="4206240"/>
            <a:ext cx="3550615" cy="1600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1A19"/>
                </a:solidFill>
                <a:latin typeface="Calibri" pitchFamily="34" charset="0"/>
                <a:ea typeface="Calibri" pitchFamily="34" charset="-122"/>
                <a:cs typeface="Calibri" pitchFamily="34" charset="-120"/>
              </a:rPr>
              <a:t>Auditoría de equidad en cada versión; ningún valor del IMN sin revisión humana en los grupos en riesgo.</a:t>
            </a:r>
            <a:endParaRPr lang="en-US" sz="1100" dirty="0"/>
          </a:p>
          <a:p>
            <a:pPr marL="342900" indent="-342900">
              <a:spcAft>
                <a:spcPts val="400"/>
              </a:spcAft>
              <a:buSzPct val="100000"/>
              <a:buChar char="•"/>
            </a:pPr>
            <a:r>
              <a:rPr lang="en-US" sz="1100" dirty="0">
                <a:solidFill>
                  <a:srgbClr val="1B1A19"/>
                </a:solidFill>
                <a:latin typeface="Calibri" pitchFamily="34" charset="0"/>
                <a:ea typeface="Calibri" pitchFamily="34" charset="-122"/>
                <a:cs typeface="Calibri" pitchFamily="34" charset="-120"/>
              </a:rPr>
              <a:t>Cada cifra del IMN con su margen y su porcentaje de respaldo humano; model card y datasheet actualizadas.</a:t>
            </a:r>
            <a:endParaRPr lang="en-US" sz="1100" dirty="0"/>
          </a:p>
          <a:p>
            <a:pPr marL="342900" indent="-342900">
              <a:spcAft>
                <a:spcPts val="400"/>
              </a:spcAft>
              <a:buSzPct val="100000"/>
              <a:buChar char="•"/>
            </a:pPr>
            <a:r>
              <a:rPr lang="en-US" sz="1100" dirty="0">
                <a:solidFill>
                  <a:srgbClr val="1B1A19"/>
                </a:solidFill>
                <a:latin typeface="Calibri" pitchFamily="34" charset="0"/>
                <a:ea typeface="Calibri" pitchFamily="34" charset="-122"/>
                <a:cs typeface="Calibri" pitchFamily="34" charset="-120"/>
              </a:rPr>
              <a:t>El modelo nunca evalúa a codificadores individuales; canal de apelación para países e IES.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Contraste con los umbrales prefijados y limitaciones</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Los criterios se fijaron antes de ejecutar; se reportan también los que no se cumplen</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914400"/>
        </p:xfrm>
        <a:graphic>
          <a:graphicData uri="http://schemas.openxmlformats.org/drawingml/2006/table">
            <a:tbl>
              <a:tblPr/>
              <a:tblGrid>
                <a:gridCol w="3291840"/>
                <a:gridCol w="2286000"/>
                <a:gridCol w="118872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 prefijado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Estado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Superar ambas líneas base con McNemar p &lt; 0.05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p &lt; 0.001 y p = 0.012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F1 macro mínimo ≥ 0.60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CV 0.587 [0.549, 0.623] · ciego 0.617 [0.505, 0.712]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8860B"/>
                          </a:solidFill>
                          <a:latin typeface="Calibri" pitchFamily="34" charset="0"/>
                          <a:ea typeface="Calibri" pitchFamily="34" charset="-122"/>
                          <a:cs typeface="Calibri" pitchFamily="34" charset="-120"/>
                        </a:rPr>
                        <a:t>en el borde</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F1 macro excelencia ≥ 0.70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IC excluye 0.70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no alcanzado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Ninguna clase con F1 &lt; 0.40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Técnico 0.35 (Administrativo 0.41)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incumplido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κ modelo-humano ≥ 0.60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CV 0.50 · ciego 0.56 (moderado)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no alcanzado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 30 % enrutado con ≥ 85 % de exactitud automática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84 % enrutado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no viable</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0" name="Shape 6"/>
          <p:cNvSpPr/>
          <p:nvPr/>
        </p:nvSpPr>
        <p:spPr>
          <a:xfrm>
            <a:off x="7589520" y="1508760"/>
            <a:ext cx="4053535" cy="4434840"/>
          </a:xfrm>
          <a:prstGeom prst="roundRect">
            <a:avLst>
              <a:gd name="adj" fmla="val 1805"/>
            </a:avLst>
          </a:prstGeom>
          <a:solidFill>
            <a:srgbClr val="F4F2EF"/>
          </a:solidFill>
          <a:ln w="12700">
            <a:solidFill>
              <a:srgbClr val="F4F2EF"/>
            </a:solidFill>
            <a:prstDash val="solid"/>
          </a:ln>
        </p:spPr>
      </p:sp>
      <p:sp>
        <p:nvSpPr>
          <p:cNvPr id="11" name="Text 7"/>
          <p:cNvSpPr txBox="1"/>
          <p:nvPr/>
        </p:nvSpPr>
        <p:spPr>
          <a:xfrm>
            <a:off x="7772400" y="1645920"/>
            <a:ext cx="368777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Limitaciones</a:t>
            </a:r>
            <a:endParaRPr lang="en-US" sz="1400" dirty="0"/>
          </a:p>
        </p:txBody>
      </p:sp>
      <p:sp>
        <p:nvSpPr>
          <p:cNvPr id="12" name="Text 8"/>
          <p:cNvSpPr txBox="1"/>
          <p:nvPr/>
        </p:nvSpPr>
        <p:spPr>
          <a:xfrm>
            <a:off x="7772400" y="2011680"/>
            <a:ext cx="3687775" cy="37947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A19"/>
                </a:solidFill>
                <a:latin typeface="Calibri" pitchFamily="34" charset="0"/>
                <a:ea typeface="Calibri" pitchFamily="34" charset="-122"/>
                <a:cs typeface="Calibri" pitchFamily="34" charset="-120"/>
              </a:rPr>
              <a:t>Estándar de referencia con un solo codificador por norma: parte del error puede ser desacuerdo legítimo. El instrumento del investigador codifica seis dimensiones nuevas, no Dominio; el κ humano-humano requiere la recodificación de Dominio (plantilla lista, ≈ 30 min).</a:t>
            </a:r>
            <a:endParaRPr lang="en-US" sz="1150" dirty="0"/>
          </a:p>
          <a:p>
            <a:pPr marL="342900" indent="-342900">
              <a:spcAft>
                <a:spcPts val="600"/>
              </a:spcAft>
              <a:buSzPct val="100000"/>
              <a:buChar char="•"/>
            </a:pPr>
            <a:r>
              <a:rPr lang="en-US" sz="1150" dirty="0">
                <a:solidFill>
                  <a:srgbClr val="1B1A19"/>
                </a:solidFill>
                <a:latin typeface="Calibri" pitchFamily="34" charset="0"/>
                <a:ea typeface="Calibri" pitchFamily="34" charset="-122"/>
                <a:cs typeface="Calibri" pitchFamily="34" charset="-120"/>
              </a:rPr>
              <a:t>Texto corto (mediana 44 palabras) y en parte redactado por el codificador, no por el legislador.</a:t>
            </a:r>
            <a:endParaRPr lang="en-US" sz="1150" dirty="0"/>
          </a:p>
          <a:p>
            <a:pPr marL="342900" indent="-342900">
              <a:spcAft>
                <a:spcPts val="600"/>
              </a:spcAft>
              <a:buSzPct val="100000"/>
              <a:buChar char="•"/>
            </a:pPr>
            <a:r>
              <a:rPr lang="en-US" sz="1150" dirty="0">
                <a:solidFill>
                  <a:srgbClr val="1B1A19"/>
                </a:solidFill>
                <a:latin typeface="Calibri" pitchFamily="34" charset="0"/>
                <a:ea typeface="Calibri" pitchFamily="34" charset="-122"/>
                <a:cs typeface="Calibri" pitchFamily="34" charset="-120"/>
              </a:rPr>
              <a:t>Conjunto ciego pequeño (125; 10 normas técnicas) y dominado por normas de confianza alta: intervalos anchos. 23 normas nuevas del Caribe: exactitud 0.39.</a:t>
            </a:r>
            <a:endParaRPr lang="en-US" sz="1150" dirty="0"/>
          </a:p>
          <a:p>
            <a:pPr marL="342900" indent="-342900">
              <a:spcAft>
                <a:spcPts val="600"/>
              </a:spcAft>
              <a:buSzPct val="100000"/>
              <a:buChar char="•"/>
            </a:pPr>
            <a:r>
              <a:rPr lang="en-US" sz="1150" dirty="0">
                <a:solidFill>
                  <a:srgbClr val="1B1A19"/>
                </a:solidFill>
                <a:latin typeface="Calibri" pitchFamily="34" charset="0"/>
                <a:ea typeface="Calibri" pitchFamily="34" charset="-122"/>
                <a:cs typeface="Calibri" pitchFamily="34" charset="-120"/>
              </a:rPr>
              <a:t>Rama LLM evaluada con un solo proveedor y un solo prompt (Claude Sonnet 5.5): 6 normas sin respuesta; empate estadístico con la RL.</a:t>
            </a:r>
            <a:endParaRPr lang="en-US" sz="1150" dirty="0"/>
          </a:p>
          <a:p>
            <a:pPr marL="342900" indent="-342900">
              <a:spcAft>
                <a:spcPts val="400"/>
              </a:spcAft>
              <a:buSzPct val="100000"/>
              <a:buChar char="•"/>
            </a:pPr>
            <a:r>
              <a:rPr lang="en-US" sz="1150" dirty="0">
                <a:solidFill>
                  <a:srgbClr val="1B1A19"/>
                </a:solidFill>
                <a:latin typeface="Calibri" pitchFamily="34" charset="0"/>
                <a:ea typeface="Calibri" pitchFamily="34" charset="-122"/>
                <a:cs typeface="Calibri" pitchFamily="34" charset="-120"/>
              </a:rPr>
              <a:t>Corpus no redistribuible: se publican hash, estadísticas agregadas y una muestra anonimizada de 40 normas.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Conclusiones y trabajo futuro</a:t>
            </a:r>
            <a:endParaRPr lang="en-US" sz="2800" dirty="0"/>
          </a:p>
        </p:txBody>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6" name="Text 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18</a:t>
            </a:r>
            <a:endParaRPr lang="en-US" sz="900" dirty="0"/>
          </a:p>
        </p:txBody>
      </p:sp>
      <p:sp>
        <p:nvSpPr>
          <p:cNvPr id="8" name="Shape 5"/>
          <p:cNvSpPr/>
          <p:nvPr/>
        </p:nvSpPr>
        <p:spPr>
          <a:xfrm>
            <a:off x="548640" y="1371600"/>
            <a:ext cx="3566160" cy="2651760"/>
          </a:xfrm>
          <a:prstGeom prst="roundRect">
            <a:avLst>
              <a:gd name="adj" fmla="val 2759"/>
            </a:avLst>
          </a:prstGeom>
          <a:solidFill>
            <a:srgbClr val="F4F2EF"/>
          </a:solidFill>
          <a:ln w="12700">
            <a:solidFill>
              <a:srgbClr val="F4F2EF"/>
            </a:solidFill>
            <a:prstDash val="solid"/>
          </a:ln>
        </p:spPr>
      </p:sp>
      <p:sp>
        <p:nvSpPr>
          <p:cNvPr id="9" name="Shape 6"/>
          <p:cNvSpPr/>
          <p:nvPr/>
        </p:nvSpPr>
        <p:spPr>
          <a:xfrm>
            <a:off x="731520" y="1554480"/>
            <a:ext cx="502920" cy="502920"/>
          </a:xfrm>
          <a:prstGeom prst="ellipse">
            <a:avLst/>
          </a:prstGeom>
          <a:solidFill>
            <a:srgbClr val="7A1F3D"/>
          </a:solidFill>
          <a:ln w="12700">
            <a:solidFill>
              <a:srgbClr val="7A1F3D"/>
            </a:solidFill>
            <a:prstDash val="solid"/>
          </a:ln>
        </p:spPr>
      </p:sp>
      <p:sp>
        <p:nvSpPr>
          <p:cNvPr id="10" name="Text 7"/>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371600" y="1554480"/>
            <a:ext cx="2560320" cy="502920"/>
          </a:xfrm>
          <a:prstGeom prst="rect">
            <a:avLst/>
          </a:prstGeom>
          <a:noFill/>
          <a:ln/>
        </p:spPr>
        <p:txBody>
          <a:bodyPr wrap="square" lIns="0" tIns="0" rIns="0" bIns="0" rtlCol="0" anchor="ctr"/>
          <a:lstStyle/>
          <a:p>
            <a:pPr indent="0" marL="0">
              <a:buNone/>
            </a:pPr>
            <a:r>
              <a:rPr lang="en-US" sz="1500" b="1" dirty="0">
                <a:solidFill>
                  <a:srgbClr val="7A1F3D"/>
                </a:solidFill>
                <a:latin typeface="Calibri" pitchFamily="34" charset="0"/>
                <a:ea typeface="Calibri" pitchFamily="34" charset="-122"/>
                <a:cs typeface="Calibri" pitchFamily="34" charset="-120"/>
              </a:rPr>
              <a:t>Aprende, pero no sustituye</a:t>
            </a:r>
            <a:endParaRPr lang="en-US" sz="1500" dirty="0"/>
          </a:p>
        </p:txBody>
      </p:sp>
      <p:sp>
        <p:nvSpPr>
          <p:cNvPr id="12" name="Text 9"/>
          <p:cNvSpPr txBox="1"/>
          <p:nvPr/>
        </p:nvSpPr>
        <p:spPr>
          <a:xfrm>
            <a:off x="731520" y="2194560"/>
            <a:ext cx="3200400" cy="1737360"/>
          </a:xfrm>
          <a:prstGeom prst="rect">
            <a:avLst/>
          </a:prstGeom>
          <a:noFill/>
          <a:ln/>
        </p:spPr>
        <p:txBody>
          <a:bodyPr wrap="square" lIns="0" tIns="0" rIns="0" bIns="0" rtlCol="0" anchor="t"/>
          <a:lstStyle/>
          <a:p>
            <a:pPr indent="0" marL="0">
              <a:buNone/>
            </a:pPr>
            <a:r>
              <a:rPr lang="en-US" sz="1200" dirty="0">
                <a:solidFill>
                  <a:srgbClr val="1B1A19"/>
                </a:solidFill>
                <a:latin typeface="Calibri" pitchFamily="34" charset="0"/>
                <a:ea typeface="Calibri" pitchFamily="34" charset="-122"/>
                <a:cs typeface="Calibri" pitchFamily="34" charset="-120"/>
              </a:rPr>
              <a:t>Con 813 normas y texto corto, un lineal interpretable aprende la estructura del framework GENIAL y supera con significancia a toda heurística sin IA; no alcanza la calidad para reemplazar al codificador.</a:t>
            </a:r>
            <a:endParaRPr lang="en-US" sz="1200" dirty="0"/>
          </a:p>
        </p:txBody>
      </p:sp>
      <p:sp>
        <p:nvSpPr>
          <p:cNvPr id="13" name="Shape 10"/>
          <p:cNvSpPr/>
          <p:nvPr/>
        </p:nvSpPr>
        <p:spPr>
          <a:xfrm>
            <a:off x="4297680" y="1371600"/>
            <a:ext cx="3566160" cy="2651760"/>
          </a:xfrm>
          <a:prstGeom prst="roundRect">
            <a:avLst>
              <a:gd name="adj" fmla="val 2759"/>
            </a:avLst>
          </a:prstGeom>
          <a:solidFill>
            <a:srgbClr val="F3E6EA"/>
          </a:solidFill>
          <a:ln w="12700">
            <a:solidFill>
              <a:srgbClr val="F3E6EA"/>
            </a:solidFill>
            <a:prstDash val="solid"/>
          </a:ln>
        </p:spPr>
      </p:sp>
      <p:sp>
        <p:nvSpPr>
          <p:cNvPr id="14" name="Shape 11"/>
          <p:cNvSpPr/>
          <p:nvPr/>
        </p:nvSpPr>
        <p:spPr>
          <a:xfrm>
            <a:off x="4480560" y="1554480"/>
            <a:ext cx="502920" cy="502920"/>
          </a:xfrm>
          <a:prstGeom prst="ellipse">
            <a:avLst/>
          </a:prstGeom>
          <a:solidFill>
            <a:srgbClr val="7A1F3D"/>
          </a:solidFill>
          <a:ln w="12700">
            <a:solidFill>
              <a:srgbClr val="7A1F3D"/>
            </a:solidFill>
            <a:prstDash val="solid"/>
          </a:ln>
        </p:spPr>
      </p:sp>
      <p:sp>
        <p:nvSpPr>
          <p:cNvPr id="15" name="Text 12"/>
          <p:cNvSpPr txBox="1"/>
          <p:nvPr/>
        </p:nvSpPr>
        <p:spPr>
          <a:xfrm>
            <a:off x="448056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120640" y="1554480"/>
            <a:ext cx="2560320" cy="502920"/>
          </a:xfrm>
          <a:prstGeom prst="rect">
            <a:avLst/>
          </a:prstGeom>
          <a:noFill/>
          <a:ln/>
        </p:spPr>
        <p:txBody>
          <a:bodyPr wrap="square" lIns="0" tIns="0" rIns="0" bIns="0" rtlCol="0" anchor="ctr"/>
          <a:lstStyle/>
          <a:p>
            <a:pPr indent="0" marL="0">
              <a:buNone/>
            </a:pPr>
            <a:r>
              <a:rPr lang="en-US" sz="1500" b="1" dirty="0">
                <a:solidFill>
                  <a:srgbClr val="7A1F3D"/>
                </a:solidFill>
                <a:latin typeface="Calibri" pitchFamily="34" charset="0"/>
                <a:ea typeface="Calibri" pitchFamily="34" charset="-122"/>
                <a:cs typeface="Calibri" pitchFamily="34" charset="-120"/>
              </a:rPr>
              <a:t>Asistencia y diagnóstico</a:t>
            </a:r>
            <a:endParaRPr lang="en-US" sz="1500" dirty="0"/>
          </a:p>
        </p:txBody>
      </p:sp>
      <p:sp>
        <p:nvSpPr>
          <p:cNvPr id="17" name="Text 14"/>
          <p:cNvSpPr txBox="1"/>
          <p:nvPr/>
        </p:nvSpPr>
        <p:spPr>
          <a:xfrm>
            <a:off x="4480560" y="2194560"/>
            <a:ext cx="3200400" cy="1737360"/>
          </a:xfrm>
          <a:prstGeom prst="rect">
            <a:avLst/>
          </a:prstGeom>
          <a:noFill/>
          <a:ln/>
        </p:spPr>
        <p:txBody>
          <a:bodyPr wrap="square" lIns="0" tIns="0" rIns="0" bIns="0" rtlCol="0" anchor="t"/>
          <a:lstStyle/>
          <a:p>
            <a:pPr indent="0" marL="0">
              <a:buNone/>
            </a:pPr>
            <a:r>
              <a:rPr lang="en-US" sz="1200" dirty="0">
                <a:solidFill>
                  <a:srgbClr val="1B1A19"/>
                </a:solidFill>
                <a:latin typeface="Calibri" pitchFamily="34" charset="0"/>
                <a:ea typeface="Calibri" pitchFamily="34" charset="-122"/>
                <a:cs typeface="Calibri" pitchFamily="34" charset="-120"/>
              </a:rPr>
              <a:t>Dos candidatas correctas en el 85 % de los casos, y errores que señalan normas de frontera y dimensiones cuya definición conviene revisar.</a:t>
            </a:r>
            <a:endParaRPr lang="en-US" sz="1200" dirty="0"/>
          </a:p>
        </p:txBody>
      </p:sp>
      <p:sp>
        <p:nvSpPr>
          <p:cNvPr id="18" name="Shape 15"/>
          <p:cNvSpPr/>
          <p:nvPr/>
        </p:nvSpPr>
        <p:spPr>
          <a:xfrm>
            <a:off x="8046720" y="1371600"/>
            <a:ext cx="3566160" cy="2651760"/>
          </a:xfrm>
          <a:prstGeom prst="roundRect">
            <a:avLst>
              <a:gd name="adj" fmla="val 2759"/>
            </a:avLst>
          </a:prstGeom>
          <a:solidFill>
            <a:srgbClr val="F4F2EF"/>
          </a:solidFill>
          <a:ln w="12700">
            <a:solidFill>
              <a:srgbClr val="F4F2EF"/>
            </a:solidFill>
            <a:prstDash val="solid"/>
          </a:ln>
        </p:spPr>
      </p:sp>
      <p:sp>
        <p:nvSpPr>
          <p:cNvPr id="19" name="Shape 16"/>
          <p:cNvSpPr/>
          <p:nvPr/>
        </p:nvSpPr>
        <p:spPr>
          <a:xfrm>
            <a:off x="8229600" y="1554480"/>
            <a:ext cx="502920" cy="502920"/>
          </a:xfrm>
          <a:prstGeom prst="ellipse">
            <a:avLst/>
          </a:prstGeom>
          <a:solidFill>
            <a:srgbClr val="7A1F3D"/>
          </a:solidFill>
          <a:ln w="12700">
            <a:solidFill>
              <a:srgbClr val="7A1F3D"/>
            </a:solidFill>
            <a:prstDash val="solid"/>
          </a:ln>
        </p:spPr>
      </p:sp>
      <p:sp>
        <p:nvSpPr>
          <p:cNvPr id="20" name="Text 17"/>
          <p:cNvSpPr txBox="1"/>
          <p:nvPr/>
        </p:nvSpPr>
        <p:spPr>
          <a:xfrm>
            <a:off x="822960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8869680" y="1554480"/>
            <a:ext cx="2560320" cy="502920"/>
          </a:xfrm>
          <a:prstGeom prst="rect">
            <a:avLst/>
          </a:prstGeom>
          <a:noFill/>
          <a:ln/>
        </p:spPr>
        <p:txBody>
          <a:bodyPr wrap="square" lIns="0" tIns="0" rIns="0" bIns="0" rtlCol="0" anchor="ctr"/>
          <a:lstStyle/>
          <a:p>
            <a:pPr indent="0" marL="0">
              <a:buNone/>
            </a:pPr>
            <a:r>
              <a:rPr lang="en-US" sz="1500" b="1" dirty="0">
                <a:solidFill>
                  <a:srgbClr val="7A1F3D"/>
                </a:solidFill>
                <a:latin typeface="Calibri" pitchFamily="34" charset="0"/>
                <a:ea typeface="Calibri" pitchFamily="34" charset="-122"/>
                <a:cs typeface="Calibri" pitchFamily="34" charset="-120"/>
              </a:rPr>
              <a:t>Rigor antes que cifra</a:t>
            </a:r>
            <a:endParaRPr lang="en-US" sz="1500" dirty="0"/>
          </a:p>
        </p:txBody>
      </p:sp>
      <p:sp>
        <p:nvSpPr>
          <p:cNvPr id="22" name="Text 19"/>
          <p:cNvSpPr txBox="1"/>
          <p:nvPr/>
        </p:nvSpPr>
        <p:spPr>
          <a:xfrm>
            <a:off x="8229600" y="2194560"/>
            <a:ext cx="3200400" cy="1737360"/>
          </a:xfrm>
          <a:prstGeom prst="rect">
            <a:avLst/>
          </a:prstGeom>
          <a:noFill/>
          <a:ln/>
        </p:spPr>
        <p:txBody>
          <a:bodyPr wrap="square" lIns="0" tIns="0" rIns="0" bIns="0" rtlCol="0" anchor="t"/>
          <a:lstStyle/>
          <a:p>
            <a:pPr indent="0" marL="0">
              <a:buNone/>
            </a:pPr>
            <a:r>
              <a:rPr lang="en-US" sz="1200" dirty="0">
                <a:solidFill>
                  <a:srgbClr val="1B1A19"/>
                </a:solidFill>
                <a:latin typeface="Calibri" pitchFamily="34" charset="0"/>
                <a:ea typeface="Calibri" pitchFamily="34" charset="-122"/>
                <a:cs typeface="Calibri" pitchFamily="34" charset="-120"/>
              </a:rPr>
              <a:t>Umbrales prefijados, intervalos de confianza y pruebas pareadas permiten decir esto con precisión, incluidos los criterios que no se cumplen.</a:t>
            </a:r>
            <a:endParaRPr lang="en-US" sz="1200" dirty="0"/>
          </a:p>
        </p:txBody>
      </p:sp>
      <p:sp>
        <p:nvSpPr>
          <p:cNvPr id="23" name="Text 20"/>
          <p:cNvSpPr txBox="1"/>
          <p:nvPr/>
        </p:nvSpPr>
        <p:spPr>
          <a:xfrm>
            <a:off x="548640" y="4297680"/>
            <a:ext cx="3657600" cy="365760"/>
          </a:xfrm>
          <a:prstGeom prst="rect">
            <a:avLst/>
          </a:prstGeom>
          <a:noFill/>
          <a:ln/>
        </p:spPr>
        <p:txBody>
          <a:bodyPr wrap="square" lIns="0" tIns="0" rIns="0" bIns="0" rtlCol="0" anchor="ctr"/>
          <a:lstStyle/>
          <a:p>
            <a:pPr indent="0" marL="0">
              <a:buNone/>
            </a:pPr>
            <a:r>
              <a:rPr lang="en-US" sz="1500" b="1" dirty="0">
                <a:solidFill>
                  <a:srgbClr val="1B1A19"/>
                </a:solidFill>
                <a:latin typeface="Calibri" pitchFamily="34" charset="0"/>
                <a:ea typeface="Calibri" pitchFamily="34" charset="-122"/>
                <a:cs typeface="Calibri" pitchFamily="34" charset="-120"/>
              </a:rPr>
              <a:t>Trabajo futuro</a:t>
            </a:r>
            <a:endParaRPr lang="en-US" sz="1500" dirty="0"/>
          </a:p>
        </p:txBody>
      </p:sp>
      <p:sp>
        <p:nvSpPr>
          <p:cNvPr id="24" name="Shape 21"/>
          <p:cNvSpPr/>
          <p:nvPr/>
        </p:nvSpPr>
        <p:spPr>
          <a:xfrm>
            <a:off x="548640" y="4818888"/>
            <a:ext cx="256032" cy="256032"/>
          </a:xfrm>
          <a:prstGeom prst="ellipse">
            <a:avLst/>
          </a:prstGeom>
          <a:solidFill>
            <a:srgbClr val="7A1F3D"/>
          </a:solidFill>
          <a:ln w="12700">
            <a:solidFill>
              <a:srgbClr val="7A1F3D"/>
            </a:solidFill>
            <a:prstDash val="solid"/>
          </a:ln>
        </p:spPr>
      </p:sp>
      <p:sp>
        <p:nvSpPr>
          <p:cNvPr id="25" name="Text 22"/>
          <p:cNvSpPr txBox="1"/>
          <p:nvPr/>
        </p:nvSpPr>
        <p:spPr>
          <a:xfrm>
            <a:off x="960120" y="4709160"/>
            <a:ext cx="5120640" cy="502920"/>
          </a:xfrm>
          <a:prstGeom prst="rect">
            <a:avLst/>
          </a:prstGeom>
          <a:noFill/>
          <a:ln/>
        </p:spPr>
        <p:txBody>
          <a:bodyPr wrap="square" lIns="0" tIns="0" rIns="0" bIns="0" rtlCol="0" anchor="ctr"/>
          <a:lstStyle/>
          <a:p>
            <a:pPr indent="0" marL="0">
              <a:buNone/>
            </a:pPr>
            <a:r>
              <a:rPr lang="en-US" sz="1200" b="1" dirty="0">
                <a:solidFill>
                  <a:srgbClr val="1B1A19"/>
                </a:solidFill>
                <a:latin typeface="Calibri" pitchFamily="34" charset="0"/>
                <a:ea typeface="Calibri" pitchFamily="34" charset="-122"/>
                <a:cs typeface="Calibri" pitchFamily="34" charset="-120"/>
              </a:rPr>
              <a:t>LLM como segunda opinión · </a:t>
            </a:r>
            <a:pPr indent="0" marL="0">
              <a:buNone/>
            </a:pPr>
            <a:r>
              <a:rPr lang="en-US" sz="1200" dirty="0">
                <a:solidFill>
                  <a:srgbClr val="1B1A19"/>
                </a:solidFill>
                <a:latin typeface="Calibri" pitchFamily="34" charset="0"/>
                <a:ea typeface="Calibri" pitchFamily="34" charset="-122"/>
                <a:cs typeface="Calibri" pitchFamily="34" charset="-120"/>
              </a:rPr>
              <a:t>usar el LLM solo en las normas enviadas a revisión humana y medir si acelera al codificador</a:t>
            </a:r>
            <a:endParaRPr lang="en-US" sz="1200" dirty="0"/>
          </a:p>
        </p:txBody>
      </p:sp>
      <p:sp>
        <p:nvSpPr>
          <p:cNvPr id="26" name="Shape 23"/>
          <p:cNvSpPr/>
          <p:nvPr/>
        </p:nvSpPr>
        <p:spPr>
          <a:xfrm>
            <a:off x="6217920" y="4818888"/>
            <a:ext cx="256032" cy="256032"/>
          </a:xfrm>
          <a:prstGeom prst="ellipse">
            <a:avLst/>
          </a:prstGeom>
          <a:solidFill>
            <a:srgbClr val="7A1F3D"/>
          </a:solidFill>
          <a:ln w="12700">
            <a:solidFill>
              <a:srgbClr val="7A1F3D"/>
            </a:solidFill>
            <a:prstDash val="solid"/>
          </a:ln>
        </p:spPr>
      </p:sp>
      <p:sp>
        <p:nvSpPr>
          <p:cNvPr id="27" name="Text 24"/>
          <p:cNvSpPr txBox="1"/>
          <p:nvPr/>
        </p:nvSpPr>
        <p:spPr>
          <a:xfrm>
            <a:off x="6629400" y="4709160"/>
            <a:ext cx="5120640" cy="502920"/>
          </a:xfrm>
          <a:prstGeom prst="rect">
            <a:avLst/>
          </a:prstGeom>
          <a:noFill/>
          <a:ln/>
        </p:spPr>
        <p:txBody>
          <a:bodyPr wrap="square" lIns="0" tIns="0" rIns="0" bIns="0" rtlCol="0" anchor="ctr"/>
          <a:lstStyle/>
          <a:p>
            <a:pPr indent="0" marL="0">
              <a:buNone/>
            </a:pPr>
            <a:r>
              <a:rPr lang="en-US" sz="1200" b="1" dirty="0">
                <a:solidFill>
                  <a:srgbClr val="1B1A19"/>
                </a:solidFill>
                <a:latin typeface="Calibri" pitchFamily="34" charset="0"/>
                <a:ea typeface="Calibri" pitchFamily="34" charset="-122"/>
                <a:cs typeface="Calibri" pitchFamily="34" charset="-120"/>
              </a:rPr>
              <a:t>Medir el techo humano · </a:t>
            </a:r>
            <a:pPr indent="0" marL="0">
              <a:buNone/>
            </a:pPr>
            <a:r>
              <a:rPr lang="en-US" sz="1200" dirty="0">
                <a:solidFill>
                  <a:srgbClr val="1B1A19"/>
                </a:solidFill>
                <a:latin typeface="Calibri" pitchFamily="34" charset="0"/>
                <a:ea typeface="Calibri" pitchFamily="34" charset="-122"/>
                <a:cs typeface="Calibri" pitchFamily="34" charset="-120"/>
              </a:rPr>
              <a:t>doble codificación ciega → κ humano-humano sobre el mismo conjunto</a:t>
            </a:r>
            <a:endParaRPr lang="en-US" sz="1200" dirty="0"/>
          </a:p>
        </p:txBody>
      </p:sp>
      <p:sp>
        <p:nvSpPr>
          <p:cNvPr id="28" name="Shape 25"/>
          <p:cNvSpPr/>
          <p:nvPr/>
        </p:nvSpPr>
        <p:spPr>
          <a:xfrm>
            <a:off x="548640" y="5504688"/>
            <a:ext cx="256032" cy="256032"/>
          </a:xfrm>
          <a:prstGeom prst="ellipse">
            <a:avLst/>
          </a:prstGeom>
          <a:solidFill>
            <a:srgbClr val="7A1F3D"/>
          </a:solidFill>
          <a:ln w="12700">
            <a:solidFill>
              <a:srgbClr val="7A1F3D"/>
            </a:solidFill>
            <a:prstDash val="solid"/>
          </a:ln>
        </p:spPr>
      </p:sp>
      <p:sp>
        <p:nvSpPr>
          <p:cNvPr id="29" name="Text 26"/>
          <p:cNvSpPr txBox="1"/>
          <p:nvPr/>
        </p:nvSpPr>
        <p:spPr>
          <a:xfrm>
            <a:off x="960120" y="5394960"/>
            <a:ext cx="5120640" cy="502920"/>
          </a:xfrm>
          <a:prstGeom prst="rect">
            <a:avLst/>
          </a:prstGeom>
          <a:noFill/>
          <a:ln/>
        </p:spPr>
        <p:txBody>
          <a:bodyPr wrap="square" lIns="0" tIns="0" rIns="0" bIns="0" rtlCol="0" anchor="ctr"/>
          <a:lstStyle/>
          <a:p>
            <a:pPr indent="0" marL="0">
              <a:buNone/>
            </a:pPr>
            <a:r>
              <a:rPr lang="en-US" sz="1200" b="1" dirty="0">
                <a:solidFill>
                  <a:srgbClr val="1B1A19"/>
                </a:solidFill>
                <a:latin typeface="Calibri" pitchFamily="34" charset="0"/>
                <a:ea typeface="Calibri" pitchFamily="34" charset="-122"/>
                <a:cs typeface="Calibri" pitchFamily="34" charset="-120"/>
              </a:rPr>
              <a:t>Más texto por norma · </a:t>
            </a:r>
            <a:pPr indent="0" marL="0">
              <a:buNone/>
            </a:pPr>
            <a:r>
              <a:rPr lang="en-US" sz="1200" dirty="0">
                <a:solidFill>
                  <a:srgbClr val="1B1A19"/>
                </a:solidFill>
                <a:latin typeface="Calibri" pitchFamily="34" charset="0"/>
                <a:ea typeface="Calibri" pitchFamily="34" charset="-122"/>
                <a:cs typeface="Calibri" pitchFamily="34" charset="-120"/>
              </a:rPr>
              <a:t>incorporar el cuerpo de la norma, no solo título + observaciones</a:t>
            </a:r>
            <a:endParaRPr lang="en-US" sz="1200" dirty="0"/>
          </a:p>
        </p:txBody>
      </p:sp>
      <p:sp>
        <p:nvSpPr>
          <p:cNvPr id="30" name="Shape 27"/>
          <p:cNvSpPr/>
          <p:nvPr/>
        </p:nvSpPr>
        <p:spPr>
          <a:xfrm>
            <a:off x="6217920" y="5504688"/>
            <a:ext cx="256032" cy="256032"/>
          </a:xfrm>
          <a:prstGeom prst="ellipse">
            <a:avLst/>
          </a:prstGeom>
          <a:solidFill>
            <a:srgbClr val="7A1F3D"/>
          </a:solidFill>
          <a:ln w="12700">
            <a:solidFill>
              <a:srgbClr val="7A1F3D"/>
            </a:solidFill>
            <a:prstDash val="solid"/>
          </a:ln>
        </p:spPr>
      </p:sp>
      <p:sp>
        <p:nvSpPr>
          <p:cNvPr id="31" name="Text 28"/>
          <p:cNvSpPr txBox="1"/>
          <p:nvPr/>
        </p:nvSpPr>
        <p:spPr>
          <a:xfrm>
            <a:off x="6629400" y="5394960"/>
            <a:ext cx="5120640" cy="502920"/>
          </a:xfrm>
          <a:prstGeom prst="rect">
            <a:avLst/>
          </a:prstGeom>
          <a:noFill/>
          <a:ln/>
        </p:spPr>
        <p:txBody>
          <a:bodyPr wrap="square" lIns="0" tIns="0" rIns="0" bIns="0" rtlCol="0" anchor="ctr"/>
          <a:lstStyle/>
          <a:p>
            <a:pPr indent="0" marL="0">
              <a:buNone/>
            </a:pPr>
            <a:r>
              <a:rPr lang="en-US" sz="1200" b="1" dirty="0">
                <a:solidFill>
                  <a:srgbClr val="1B1A19"/>
                </a:solidFill>
                <a:latin typeface="Calibri" pitchFamily="34" charset="0"/>
                <a:ea typeface="Calibri" pitchFamily="34" charset="-122"/>
                <a:cs typeface="Calibri" pitchFamily="34" charset="-120"/>
              </a:rPr>
              <a:t>Multi-etiqueta explícita · </a:t>
            </a:r>
            <a:pPr indent="0" marL="0">
              <a:buNone/>
            </a:pPr>
            <a:r>
              <a:rPr lang="en-US" sz="1200" dirty="0">
                <a:solidFill>
                  <a:srgbClr val="1B1A19"/>
                </a:solidFill>
                <a:latin typeface="Calibri" pitchFamily="34" charset="0"/>
                <a:ea typeface="Calibri" pitchFamily="34" charset="-122"/>
                <a:cs typeface="Calibri" pitchFamily="34" charset="-120"/>
              </a:rPr>
              <a:t>si la tipificación de errores lo justifica, tarea multi-etiqueta y ajuste del IMN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B0F1F"/>
        </a:solidFill>
      </p:bgPr>
    </p:bg>
    <p:spTree>
      <p:nvGrpSpPr>
        <p:cNvPr id="1" name=""/>
        <p:cNvGrpSpPr/>
        <p:nvPr/>
      </p:nvGrpSpPr>
      <p:grpSpPr>
        <a:xfrm>
          <a:off x="0" y="0"/>
          <a:ext cx="0" cy="0"/>
          <a:chOff x="0" y="0"/>
          <a:chExt cx="0" cy="0"/>
        </a:xfrm>
      </p:grpSpPr>
      <p:sp>
        <p:nvSpPr>
          <p:cNvPr id="2" name="Text 0"/>
          <p:cNvSpPr txBox="1"/>
          <p:nvPr/>
        </p:nvSpPr>
        <p:spPr>
          <a:xfrm>
            <a:off x="548640" y="1188720"/>
            <a:ext cx="11094415"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3" name="Text 1"/>
          <p:cNvSpPr txBox="1"/>
          <p:nvPr/>
        </p:nvSpPr>
        <p:spPr>
          <a:xfrm>
            <a:off x="548640" y="2286000"/>
            <a:ext cx="11094415" cy="457200"/>
          </a:xfrm>
          <a:prstGeom prst="rect">
            <a:avLst/>
          </a:prstGeom>
          <a:noFill/>
          <a:ln/>
        </p:spPr>
        <p:txBody>
          <a:bodyPr wrap="square" lIns="0" tIns="0" rIns="0" bIns="0" rtlCol="0" anchor="ctr"/>
          <a:lstStyle/>
          <a:p>
            <a:pPr indent="0" marL="0">
              <a:buNone/>
            </a:pPr>
            <a:r>
              <a:rPr lang="en-US" sz="1600" i="1" dirty="0">
                <a:solidFill>
                  <a:srgbClr val="E8CFD8"/>
                </a:solidFill>
                <a:latin typeface="Calibri" pitchFamily="34" charset="0"/>
                <a:ea typeface="Calibri" pitchFamily="34" charset="-122"/>
                <a:cs typeface="Calibri" pitchFamily="34" charset="-120"/>
              </a:rPr>
              <a:t>Clasificación automática de normativa sobre IA en la educación superior de ALC · hacia un IMN escalable</a:t>
            </a:r>
            <a:endParaRPr lang="en-US" sz="1600" dirty="0"/>
          </a:p>
        </p:txBody>
      </p:sp>
      <p:sp>
        <p:nvSpPr>
          <p:cNvPr id="4" name="Shape 2"/>
          <p:cNvSpPr/>
          <p:nvPr/>
        </p:nvSpPr>
        <p:spPr>
          <a:xfrm>
            <a:off x="548640" y="3200400"/>
            <a:ext cx="3566160" cy="2377440"/>
          </a:xfrm>
          <a:prstGeom prst="roundRect">
            <a:avLst>
              <a:gd name="adj" fmla="val 3077"/>
            </a:avLst>
          </a:prstGeom>
          <a:solidFill>
            <a:srgbClr val="4E1A30"/>
          </a:solidFill>
          <a:ln w="12700">
            <a:solidFill>
              <a:srgbClr val="4E1A30"/>
            </a:solidFill>
            <a:prstDash val="solid"/>
          </a:ln>
        </p:spPr>
      </p:sp>
      <p:sp>
        <p:nvSpPr>
          <p:cNvPr id="5" name="Text 3"/>
          <p:cNvSpPr txBox="1"/>
          <p:nvPr/>
        </p:nvSpPr>
        <p:spPr>
          <a:xfrm>
            <a:off x="777240" y="3337560"/>
            <a:ext cx="310896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Repositorio</a:t>
            </a:r>
            <a:endParaRPr lang="en-US" sz="1500" dirty="0"/>
          </a:p>
        </p:txBody>
      </p:sp>
      <p:sp>
        <p:nvSpPr>
          <p:cNvPr id="6" name="Text 4"/>
          <p:cNvSpPr txBox="1"/>
          <p:nvPr/>
        </p:nvSpPr>
        <p:spPr>
          <a:xfrm>
            <a:off x="777240" y="3794760"/>
            <a:ext cx="3108960" cy="1691640"/>
          </a:xfrm>
          <a:prstGeom prst="rect">
            <a:avLst/>
          </a:prstGeom>
          <a:noFill/>
          <a:ln/>
        </p:spPr>
        <p:txBody>
          <a:bodyPr wrap="square" lIns="0" tIns="0" rIns="0" bIns="0" rtlCol="0" anchor="t"/>
          <a:lstStyle/>
          <a:p>
            <a:pPr indent="0" marL="0">
              <a:buNone/>
            </a:pPr>
            <a:r>
              <a:rPr lang="en-US" sz="1200" dirty="0">
                <a:solidFill>
                  <a:srgbClr val="F3E6EA"/>
                </a:solidFill>
                <a:latin typeface="Calibri" pitchFamily="34" charset="0"/>
                <a:ea typeface="Calibri" pitchFamily="34" charset="-122"/>
                <a:cs typeface="Calibri" pitchFamily="34" charset="-120"/>
              </a:rPr>
              <a:t>github.com/jorgemaldonadom-cmd/</a:t>
            </a:r>
            <a:endParaRPr lang="en-US" sz="1200" dirty="0"/>
          </a:p>
          <a:p>
            <a:pPr indent="0" marL="0">
              <a:buNone/>
            </a:pPr>
            <a:r>
              <a:rPr lang="en-US" sz="1200" dirty="0">
                <a:solidFill>
                  <a:srgbClr val="F3E6EA"/>
                </a:solidFill>
                <a:latin typeface="Calibri" pitchFamily="34" charset="0"/>
                <a:ea typeface="Calibri" pitchFamily="34" charset="-122"/>
                <a:cs typeface="Calibri" pitchFamily="34" charset="-120"/>
              </a:rPr>
              <a:t>genial-clasificador-normativa</a:t>
            </a:r>
            <a:endParaRPr lang="en-US" sz="1200" dirty="0"/>
          </a:p>
          <a:p>
            <a:pPr indent="0" marL="0">
              <a:buNone/>
            </a:pPr>
            <a:r>
              <a:rPr lang="en-US" sz="1200" dirty="0">
                <a:solidFill>
                  <a:srgbClr val="F3E6EA"/>
                </a:solidFill>
                <a:latin typeface="Calibri" pitchFamily="34" charset="0"/>
                <a:ea typeface="Calibri" pitchFamily="34" charset="-122"/>
                <a:cs typeface="Calibri" pitchFamily="34" charset="-120"/>
              </a:rPr>
              <a:t>código MIT · cuaderno ejecutado · síntesis de resultados · muestra anonimizada</a:t>
            </a:r>
            <a:endParaRPr lang="en-US" sz="1200" dirty="0"/>
          </a:p>
        </p:txBody>
      </p:sp>
      <p:sp>
        <p:nvSpPr>
          <p:cNvPr id="7" name="Shape 5"/>
          <p:cNvSpPr/>
          <p:nvPr/>
        </p:nvSpPr>
        <p:spPr>
          <a:xfrm>
            <a:off x="4297680" y="3200400"/>
            <a:ext cx="3566160" cy="2377440"/>
          </a:xfrm>
          <a:prstGeom prst="roundRect">
            <a:avLst>
              <a:gd name="adj" fmla="val 3077"/>
            </a:avLst>
          </a:prstGeom>
          <a:solidFill>
            <a:srgbClr val="4E1A30"/>
          </a:solidFill>
          <a:ln w="12700">
            <a:solidFill>
              <a:srgbClr val="4E1A30"/>
            </a:solidFill>
            <a:prstDash val="solid"/>
          </a:ln>
        </p:spPr>
      </p:sp>
      <p:sp>
        <p:nvSpPr>
          <p:cNvPr id="8" name="Text 6"/>
          <p:cNvSpPr txBox="1"/>
          <p:nvPr/>
        </p:nvSpPr>
        <p:spPr>
          <a:xfrm>
            <a:off x="4526280" y="3337560"/>
            <a:ext cx="310896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Reproducibilidad</a:t>
            </a:r>
            <a:endParaRPr lang="en-US" sz="1500" dirty="0"/>
          </a:p>
        </p:txBody>
      </p:sp>
      <p:sp>
        <p:nvSpPr>
          <p:cNvPr id="9" name="Text 7"/>
          <p:cNvSpPr txBox="1"/>
          <p:nvPr/>
        </p:nvSpPr>
        <p:spPr>
          <a:xfrm>
            <a:off x="4526280" y="3794760"/>
            <a:ext cx="3108960" cy="1691640"/>
          </a:xfrm>
          <a:prstGeom prst="rect">
            <a:avLst/>
          </a:prstGeom>
          <a:noFill/>
          <a:ln/>
        </p:spPr>
        <p:txBody>
          <a:bodyPr wrap="square" lIns="0" tIns="0" rIns="0" bIns="0" rtlCol="0" anchor="t"/>
          <a:lstStyle/>
          <a:p>
            <a:pPr indent="0" marL="0">
              <a:buNone/>
            </a:pPr>
            <a:r>
              <a:rPr lang="en-US" sz="1200" dirty="0">
                <a:solidFill>
                  <a:srgbClr val="F3E6EA"/>
                </a:solidFill>
                <a:latin typeface="Calibri" pitchFamily="34" charset="0"/>
                <a:ea typeface="Calibri" pitchFamily="34" charset="-122"/>
                <a:cs typeface="Calibri" pitchFamily="34" charset="-120"/>
              </a:rPr>
              <a:t>semilla fija · versiones fijadas · SHA-256 del corpus verificado · etiquetas de prueba leídas una sola vez · 8 pruebas unitarias</a:t>
            </a:r>
            <a:endParaRPr lang="en-US" sz="1200" dirty="0"/>
          </a:p>
        </p:txBody>
      </p:sp>
      <p:sp>
        <p:nvSpPr>
          <p:cNvPr id="10" name="Shape 8"/>
          <p:cNvSpPr/>
          <p:nvPr/>
        </p:nvSpPr>
        <p:spPr>
          <a:xfrm>
            <a:off x="8046720" y="3200400"/>
            <a:ext cx="3566160" cy="2377440"/>
          </a:xfrm>
          <a:prstGeom prst="roundRect">
            <a:avLst>
              <a:gd name="adj" fmla="val 3077"/>
            </a:avLst>
          </a:prstGeom>
          <a:solidFill>
            <a:srgbClr val="4E1A30"/>
          </a:solidFill>
          <a:ln w="12700">
            <a:solidFill>
              <a:srgbClr val="4E1A30"/>
            </a:solidFill>
            <a:prstDash val="solid"/>
          </a:ln>
        </p:spPr>
      </p:sp>
      <p:sp>
        <p:nvSpPr>
          <p:cNvPr id="11" name="Text 9"/>
          <p:cNvSpPr txBox="1"/>
          <p:nvPr/>
        </p:nvSpPr>
        <p:spPr>
          <a:xfrm>
            <a:off x="8275320" y="3337560"/>
            <a:ext cx="310896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Agradecimientos</a:t>
            </a:r>
            <a:endParaRPr lang="en-US" sz="1500" dirty="0"/>
          </a:p>
        </p:txBody>
      </p:sp>
      <p:sp>
        <p:nvSpPr>
          <p:cNvPr id="12" name="Text 10"/>
          <p:cNvSpPr txBox="1"/>
          <p:nvPr/>
        </p:nvSpPr>
        <p:spPr>
          <a:xfrm>
            <a:off x="8275320" y="3794760"/>
            <a:ext cx="3108960" cy="1691640"/>
          </a:xfrm>
          <a:prstGeom prst="rect">
            <a:avLst/>
          </a:prstGeom>
          <a:noFill/>
          <a:ln/>
        </p:spPr>
        <p:txBody>
          <a:bodyPr wrap="square" lIns="0" tIns="0" rIns="0" bIns="0" rtlCol="0" anchor="t"/>
          <a:lstStyle/>
          <a:p>
            <a:pPr indent="0" marL="0">
              <a:buNone/>
            </a:pPr>
            <a:r>
              <a:rPr lang="en-US" sz="1200" dirty="0">
                <a:solidFill>
                  <a:srgbClr val="F3E6EA"/>
                </a:solidFill>
                <a:latin typeface="Calibri" pitchFamily="34" charset="0"/>
                <a:ea typeface="Calibri" pitchFamily="34" charset="-122"/>
                <a:cs typeface="Calibri" pitchFamily="34" charset="-120"/>
              </a:rPr>
              <a:t>Proyecto GENIAL (Erasmus+) por el acceso al corpus</a:t>
            </a:r>
            <a:endParaRPr lang="en-US" sz="1200" dirty="0"/>
          </a:p>
          <a:p>
            <a:pPr indent="0" marL="0">
              <a:buNone/>
            </a:pPr>
            <a:r>
              <a:rPr lang="en-US" sz="1200" dirty="0">
                <a:solidFill>
                  <a:srgbClr val="F3E6EA"/>
                </a:solidFill>
                <a:latin typeface="Calibri" pitchFamily="34" charset="0"/>
                <a:ea typeface="Calibri" pitchFamily="34" charset="-122"/>
                <a:cs typeface="Calibri" pitchFamily="34" charset="-120"/>
              </a:rPr>
              <a:t>Prof. Gladys María Villegas Rugel, tutora</a:t>
            </a:r>
            <a:endParaRPr lang="en-US" sz="1200" dirty="0"/>
          </a:p>
          <a:p>
            <a:pPr indent="0" marL="0">
              <a:buNone/>
            </a:pPr>
            <a:r>
              <a:rPr lang="en-US" sz="1200" dirty="0">
                <a:solidFill>
                  <a:srgbClr val="F3E6EA"/>
                </a:solidFill>
                <a:latin typeface="Calibri" pitchFamily="34" charset="0"/>
                <a:ea typeface="Calibri" pitchFamily="34" charset="-122"/>
                <a:cs typeface="Calibri" pitchFamily="34" charset="-120"/>
              </a:rPr>
              <a:t>UEES · Maestría en Inteligencia Artificial</a:t>
            </a:r>
            <a:endParaRPr lang="en-US" sz="1200" dirty="0"/>
          </a:p>
        </p:txBody>
      </p:sp>
      <p:sp>
        <p:nvSpPr>
          <p:cNvPr id="13" name="Text 11"/>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200" dirty="0">
                <a:solidFill>
                  <a:srgbClr val="E8CFD8"/>
                </a:solidFill>
                <a:latin typeface="Calibri" pitchFamily="34" charset="0"/>
                <a:ea typeface="Calibri" pitchFamily="34" charset="-122"/>
                <a:cs typeface="Calibri" pitchFamily="34" charset="-120"/>
              </a:rPr>
              <a:t>Jorge Javier Maldonado Mahauad · Melissa Figallo · Grupo 9 · octubre de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Clasificación automática de normativa sobre IA en educación superior de ALC</dc:title>
  <dc:subject>PptxGenJS Presentation</dc:subject>
  <dc:creator>Grupo 9 · UEES</dc:creator>
  <cp:lastModifiedBy>Grupo 9 · UEES</cp:lastModifiedBy>
  <cp:revision>1</cp:revision>
  <dcterms:created xsi:type="dcterms:W3CDTF">2026-10-11T04:51:06Z</dcterms:created>
  <dcterms:modified xsi:type="dcterms:W3CDTF">2026-10-11T04:51:06Z</dcterms:modified>
</cp:coreProperties>
</file>