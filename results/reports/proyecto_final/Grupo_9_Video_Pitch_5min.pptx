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1. Lee Jorge. De 0:00 a 0:30.
Ciento treinta y cinco horas. Eso cuesta hoy una sola pasada de codificación en el observatorio GENIAL: leer 813 normas sobre inteligencia artificial y decidir, una por una, de qué trata cada una. Y cada mes aparecen leyes y políticas nuevas. Somos Jorge Maldonado y Melissa Figallo, Grupo 9, y en cinco minutos les mostramos cómo convertir ese costo creciente en un proceso sostenible.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2. Lee Melissa. De 0:30 a 1:15.
GENIAL, un consorcio Erasmus Plus de universidades europeas y latinoamericanas, mide la madurez normativa en inteligencia artificial de 28 jurisdicciones. Diez investigadores leen cada norma, la resumen y la clasifican en una de cinco dimensiones: pedagógica, ética, administrativa, protección de datos o técnica. De ese conteo nace el Índice de Madurez Normativa de cada país.
Hoy cada norma cuesta diez minutos, la lee una sola persona y nadie mide cuánto acordarían dos codificadores. Cada actualización repite las 135 horas y la fiabilidad del índice es desconocida. La salida fácil, un modelo de lenguaje de pago, envía el texto a un tercero, cuesta por norma y no explica sus decisiones.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3. Lee Jorge. De 1:15 a 2:15.
Nuestra respuesta cabe en una frase. Para los codificadores de GENIAL, construimos una herramienta de codificación asistida que propone dos dimensiones por norma y señala cuáles necesitan revisión humana. A diferencia de la codificación manual o de un modelo de lenguaje de pago, es explicable, está auditada por país, no cuesta por norma y no saca datos del observatorio.
En la práctica, el codificador pega el título y las observaciones. El sistema devuelve la dimensión más probable y una segunda candidata, con su confianza y las palabras que pesaron. Y aplica una regla de gobernanza: si la confianza es baja, el idioma no es español o el país tiene pocas normas, la norma va a revisión humana. Aprendió de las 813 normas que GENIAL ya codificó; es un modelo de 160 kilobytes que se reentrena en dos segundos, corre en un navegador y ya está en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4. Lee Melissa. De 2:15 a 2:50.
No es una promesa: está probado con 125 normas codificadas a ciegas por un investigador de GENIAL, que el modelo nunca vio. De cada cien normas, adivinar siempre la categoría más frecuente acierta 36; clasificar por el tipo de documento sin leerlo, 54; nuestro modelo, 67, y en 86 de cada cien la respuesta correcta está entre las dos que propone. Un modelo de lenguaje con quince ejemplos llega a 64: lo mismo, pero pagando por norma y con los datos fuera. Frente a las líneas base, la mejora es significativa.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5. Lee Jorge. De 2:50 a 3:15.
Un caso real: la política de privacidad de la Universidad Técnica Particular de Loja. El sistema propone Protección de Datos con 62 por ciento de confianza y, en segundo lugar, Administrativo. El codificador había elegido Administrativo. ¿Se equivocó el modelo? Sí, y ese error es información valiosa: 35 de los 37 errores revisados son normas que tratan dos temas cuando el instrumento solo admite uno. El límite: en Administrativo y Técnico, las categorías pequeñas, el modelo ayuda, pero no basta.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6. Lee Melissa. De 3:15 a 4:00.
Un sistema así solo vale si se puede confiar en él. El riesgo principal es el sesgo por jurisdicción: acierta 66 de cada cien normas en español, 47 en portugués y 36 en inglés; 67 en Hispanoamérica y 38 en el Caribe. La causa es el corpus, 88 por ciento en español: no se corrige con más modelo, se contiene. La regla de gobernanza envía a revisión humana el cien por ciento de las normas de Brasil, del Caribe y de los países con menos de veinte normas. Privacidad: el nombre del codificador se excluyó y anonimizó, y la aplicación no guarda ni envía nada. Y la decisión final es siempre de una persona: el índice nunca se publica sin respaldo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7. Lee Jorge. De 4:00 a 4:40.
¿Qué cambia? Hoy, 135 horas por pasada y una fiabilidad que nadie conoce. Con la solución, medido: el 15 por ciento de las normas sale con 85 por ciento de acierto sin que nadie las lea, 21 horas menos por pasada. En el resto, el codificador elige entre dos opciones en lugar de cinco; cuánto ahorra eso aún no lo sabemos y no lo prometemos: lo mide el piloto. Tres fases. La primera ya está hecha: prototipo desplegado y auditado. La segunda, un piloto de seis semanas: dos codificadores, cien normas codificadas por duplicado, para medir acuerdo humano y minutos por norma. La tercera la integra en la hoja de codificación y la reentrena con cada actualización. Infraestructura: costo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8. Lee Jorge y Melissa. De 4:40 a 5:00.
El observatorio no necesita que una máquina decida por él. Necesita que cada codificador decida mejor y más rápido, y que cada cifra del índice diga cuánta revisión humana lleva detrás. Pedimos una sola decisión: autorizar el piloto, dos codificadores y cien normas. Código, aplicación y auditoría están en los códigos QR.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B0F1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7A1F3D"/>
          </a:solidFill>
          <a:ln w="12700">
            <a:solidFill>
              <a:srgbClr val="7A1F3D"/>
            </a:solidFill>
            <a:prstDash val="solid"/>
          </a:ln>
        </p:spPr>
      </p:sp>
      <p:sp>
        <p:nvSpPr>
          <p:cNvPr id="3" name="Text 1"/>
          <p:cNvSpPr/>
          <p:nvPr/>
        </p:nvSpPr>
        <p:spPr>
          <a:xfrm>
            <a:off x="822960" y="548640"/>
            <a:ext cx="10058400" cy="365760"/>
          </a:xfrm>
          <a:prstGeom prst="rect">
            <a:avLst/>
          </a:prstGeom>
          <a:noFill/>
          <a:ln/>
        </p:spPr>
        <p:txBody>
          <a:bodyPr wrap="square" rtlCol="0" anchor="ctr"/>
          <a:lstStyle/>
          <a:p>
            <a:pPr indent="0" marL="0">
              <a:buNone/>
            </a:pPr>
            <a:r>
              <a:rPr lang="en-US" sz="1200" spc="100" kern="0" dirty="0">
                <a:solidFill>
                  <a:srgbClr val="E8D5DB"/>
                </a:solidFill>
                <a:latin typeface="Calibri" pitchFamily="34" charset="0"/>
                <a:ea typeface="Calibri" pitchFamily="34" charset="-122"/>
                <a:cs typeface="Calibri" pitchFamily="34" charset="-120"/>
              </a:rPr>
              <a:t>Proyecto Integrador en IA · MIAR0545 · Video pitch · Grupo 9</a:t>
            </a:r>
            <a:endParaRPr lang="en-US" sz="1200" dirty="0"/>
          </a:p>
        </p:txBody>
      </p:sp>
      <p:sp>
        <p:nvSpPr>
          <p:cNvPr id="4" name="Text 2"/>
          <p:cNvSpPr/>
          <p:nvPr/>
        </p:nvSpPr>
        <p:spPr>
          <a:xfrm>
            <a:off x="822960" y="1097280"/>
            <a:ext cx="5486400" cy="1737360"/>
          </a:xfrm>
          <a:prstGeom prst="rect">
            <a:avLst/>
          </a:prstGeom>
          <a:noFill/>
          <a:ln/>
        </p:spPr>
        <p:txBody>
          <a:bodyPr wrap="square" rtlCol="0" anchor="ctr"/>
          <a:lstStyle/>
          <a:p>
            <a:pPr indent="0" marL="0">
              <a:buNone/>
            </a:pPr>
            <a:r>
              <a:rPr lang="en-US" sz="11200" b="1" dirty="0">
                <a:solidFill>
                  <a:srgbClr val="E3B341"/>
                </a:solidFill>
                <a:latin typeface="Cambria" pitchFamily="34" charset="0"/>
                <a:ea typeface="Cambria" pitchFamily="34" charset="-122"/>
                <a:cs typeface="Cambria" pitchFamily="34" charset="-120"/>
              </a:rPr>
              <a:t>135 h</a:t>
            </a:r>
            <a:endParaRPr lang="en-US" sz="11200" dirty="0"/>
          </a:p>
        </p:txBody>
      </p:sp>
      <p:sp>
        <p:nvSpPr>
          <p:cNvPr id="5" name="Text 3"/>
          <p:cNvSpPr/>
          <p:nvPr/>
        </p:nvSpPr>
        <p:spPr>
          <a:xfrm>
            <a:off x="822960" y="2880360"/>
            <a:ext cx="6583680" cy="1005840"/>
          </a:xfrm>
          <a:prstGeom prst="rect">
            <a:avLst/>
          </a:prstGeom>
          <a:noFill/>
          <a:ln/>
        </p:spPr>
        <p:txBody>
          <a:bodyPr wrap="square" rtlCol="0" anchor="ctr"/>
          <a:lstStyle/>
          <a:p>
            <a:pPr indent="0" marL="0">
              <a:buNone/>
            </a:pPr>
            <a:r>
              <a:rPr lang="en-US" sz="1600" dirty="0">
                <a:solidFill>
                  <a:srgbClr val="FFFFFF"/>
                </a:solidFill>
                <a:latin typeface="Calibri" pitchFamily="34" charset="0"/>
                <a:ea typeface="Calibri" pitchFamily="34" charset="-122"/>
                <a:cs typeface="Calibri" pitchFamily="34" charset="-120"/>
              </a:rPr>
              <a:t>horas-persona cuesta hoy una sola pasada de codificación: leer 813 normas sobre IA y decidir, una por una, de qué trata cada una. Y el corpus crece.</a:t>
            </a:r>
            <a:endParaRPr lang="en-US" sz="1600" dirty="0"/>
          </a:p>
        </p:txBody>
      </p:sp>
      <p:sp>
        <p:nvSpPr>
          <p:cNvPr id="6" name="Shape 4"/>
          <p:cNvSpPr/>
          <p:nvPr/>
        </p:nvSpPr>
        <p:spPr>
          <a:xfrm>
            <a:off x="822960" y="4160520"/>
            <a:ext cx="1828800" cy="0"/>
          </a:xfrm>
          <a:prstGeom prst="line">
            <a:avLst/>
          </a:prstGeom>
          <a:noFill/>
          <a:ln w="25400">
            <a:solidFill>
              <a:srgbClr val="E3B341"/>
            </a:solidFill>
            <a:prstDash val="solid"/>
          </a:ln>
        </p:spPr>
      </p:sp>
      <p:sp>
        <p:nvSpPr>
          <p:cNvPr id="7" name="Text 5"/>
          <p:cNvSpPr/>
          <p:nvPr/>
        </p:nvSpPr>
        <p:spPr>
          <a:xfrm>
            <a:off x="822960" y="4297680"/>
            <a:ext cx="7863840" cy="64008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Clasificación automática de normativa sobre IA en la educación superior de América Latina</a:t>
            </a:r>
            <a:endParaRPr lang="en-US" sz="2200" dirty="0"/>
          </a:p>
        </p:txBody>
      </p:sp>
      <p:sp>
        <p:nvSpPr>
          <p:cNvPr id="8" name="Text 6"/>
          <p:cNvSpPr/>
          <p:nvPr/>
        </p:nvSpPr>
        <p:spPr>
          <a:xfrm>
            <a:off x="822960" y="4937760"/>
            <a:ext cx="7863840" cy="457200"/>
          </a:xfrm>
          <a:prstGeom prst="rect">
            <a:avLst/>
          </a:prstGeom>
          <a:noFill/>
          <a:ln/>
        </p:spPr>
        <p:txBody>
          <a:bodyPr wrap="square" rtlCol="0" anchor="ctr"/>
          <a:lstStyle/>
          <a:p>
            <a:pPr indent="0" marL="0">
              <a:buNone/>
            </a:pPr>
            <a:r>
              <a:rPr lang="en-US" sz="1300" dirty="0">
                <a:solidFill>
                  <a:srgbClr val="E8D5DB"/>
                </a:solidFill>
                <a:latin typeface="Calibri" pitchFamily="34" charset="0"/>
                <a:ea typeface="Calibri" pitchFamily="34" charset="-122"/>
                <a:cs typeface="Calibri" pitchFamily="34" charset="-120"/>
              </a:rPr>
              <a:t>Hacia un Índice de Madurez Normativa escalable · codificación asistida con revisión humana · corpus GENIAL (Erasmus+)</a:t>
            </a:r>
            <a:endParaRPr lang="en-US" sz="1300" dirty="0"/>
          </a:p>
        </p:txBody>
      </p:sp>
      <p:sp>
        <p:nvSpPr>
          <p:cNvPr id="9" name="Text 7"/>
          <p:cNvSpPr/>
          <p:nvPr/>
        </p:nvSpPr>
        <p:spPr>
          <a:xfrm>
            <a:off x="822960" y="5943600"/>
            <a:ext cx="8229600" cy="365760"/>
          </a:xfrm>
          <a:prstGeom prst="rect">
            <a:avLst/>
          </a:prstGeom>
          <a:noFill/>
          <a:ln/>
        </p:spPr>
        <p:txBody>
          <a:bodyPr wrap="square" rtlCol="0" anchor="ctr"/>
          <a:lstStyle/>
          <a:p>
            <a:pPr indent="0" marL="0">
              <a:buNone/>
            </a:pPr>
            <a:r>
              <a:rPr lang="en-US" sz="1100" dirty="0">
                <a:solidFill>
                  <a:srgbClr val="E8D5DB"/>
                </a:solidFill>
                <a:latin typeface="Calibri" pitchFamily="34" charset="0"/>
                <a:ea typeface="Calibri" pitchFamily="34" charset="-122"/>
                <a:cs typeface="Calibri" pitchFamily="34" charset="-120"/>
              </a:rPr>
              <a:t>Jorge Javier Maldonado Mahauad · Melissa Figallo · Tutora: Gladys María Villegas Rugel · UEES, 2026</a:t>
            </a:r>
            <a:endParaRPr lang="en-US" sz="1100" dirty="0"/>
          </a:p>
        </p:txBody>
      </p:sp>
      <p:pic>
        <p:nvPicPr>
          <p:cNvPr id="10" name="Image 0" descr="/home/claude/repo_genial/results/reports/proyecto_final/qr_repo.png">    </p:cNvPr>
          <p:cNvPicPr>
            <a:picLocks noChangeAspect="1"/>
          </p:cNvPicPr>
          <p:nvPr/>
        </p:nvPicPr>
        <p:blipFill>
          <a:blip r:embed="rId1"/>
          <a:stretch>
            <a:fillRect/>
          </a:stretch>
        </p:blipFill>
        <p:spPr>
          <a:xfrm>
            <a:off x="9601200" y="4160520"/>
            <a:ext cx="1737360" cy="1737360"/>
          </a:xfrm>
          <a:prstGeom prst="rect">
            <a:avLst/>
          </a:prstGeom>
        </p:spPr>
      </p:pic>
      <p:sp>
        <p:nvSpPr>
          <p:cNvPr id="11" name="Text 8"/>
          <p:cNvSpPr/>
          <p:nvPr/>
        </p:nvSpPr>
        <p:spPr>
          <a:xfrm>
            <a:off x="9418320" y="5943600"/>
            <a:ext cx="2103120" cy="274320"/>
          </a:xfrm>
          <a:prstGeom prst="rect">
            <a:avLst/>
          </a:prstGeom>
          <a:noFill/>
          <a:ln/>
        </p:spPr>
        <p:txBody>
          <a:bodyPr wrap="square" rtlCol="0" anchor="ctr"/>
          <a:lstStyle/>
          <a:p>
            <a:pPr algn="ctr" indent="0" marL="0">
              <a:buNone/>
            </a:pPr>
            <a:r>
              <a:rPr lang="en-US" sz="1000" dirty="0">
                <a:solidFill>
                  <a:srgbClr val="E8D5DB"/>
                </a:solidFill>
                <a:latin typeface="Calibri" pitchFamily="34" charset="0"/>
                <a:ea typeface="Calibri" pitchFamily="34" charset="-122"/>
                <a:cs typeface="Calibri" pitchFamily="34" charset="-120"/>
              </a:rPr>
              <a:t>Repositorio</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7A1F3D"/>
          </a:solidFill>
          <a:ln w="12700">
            <a:solidFill>
              <a:srgbClr val="7A1F3D"/>
            </a:solidFill>
            <a:prstDash val="solid"/>
          </a:ln>
        </p:spPr>
      </p:sp>
      <p:sp>
        <p:nvSpPr>
          <p:cNvPr id="3" name="Text 1"/>
          <p:cNvSpPr/>
          <p:nvPr/>
        </p:nvSpPr>
        <p:spPr>
          <a:xfrm>
            <a:off x="457200" y="256032"/>
            <a:ext cx="7315200" cy="274320"/>
          </a:xfrm>
          <a:prstGeom prst="rect">
            <a:avLst/>
          </a:prstGeom>
          <a:noFill/>
          <a:ln/>
        </p:spPr>
        <p:txBody>
          <a:bodyPr wrap="square" rtlCol="0" anchor="ctr"/>
          <a:lstStyle/>
          <a:p>
            <a:pPr indent="0" marL="0">
              <a:buNone/>
            </a:pPr>
            <a:r>
              <a:rPr lang="en-US" sz="1100" b="1" spc="200" kern="0" dirty="0">
                <a:solidFill>
                  <a:srgbClr val="7A1F3D"/>
                </a:solidFill>
                <a:latin typeface="Calibri" pitchFamily="34" charset="0"/>
                <a:ea typeface="Calibri" pitchFamily="34" charset="-122"/>
                <a:cs typeface="Calibri" pitchFamily="34" charset="-120"/>
              </a:rPr>
              <a:t>2 · PROBLEMA</a:t>
            </a:r>
            <a:endParaRPr lang="en-US" sz="1100" dirty="0"/>
          </a:p>
        </p:txBody>
      </p:sp>
      <p:sp>
        <p:nvSpPr>
          <p:cNvPr id="4" name="Text 2"/>
          <p:cNvSpPr/>
          <p:nvPr/>
        </p:nvSpPr>
        <p:spPr>
          <a:xfrm>
            <a:off x="9418320" y="256032"/>
            <a:ext cx="2286000" cy="274320"/>
          </a:xfrm>
          <a:prstGeom prst="rect">
            <a:avLst/>
          </a:prstGeom>
          <a:noFill/>
          <a:ln/>
        </p:spPr>
        <p:txBody>
          <a:bodyPr wrap="square" rtlCol="0" anchor="ctr"/>
          <a:lstStyle/>
          <a:p>
            <a:pPr algn="r" indent="0" marL="0">
              <a:buNone/>
            </a:pPr>
            <a:r>
              <a:rPr lang="en-US" sz="1100" b="1" dirty="0">
                <a:solidFill>
                  <a:srgbClr val="6E6862"/>
                </a:solidFill>
                <a:latin typeface="Calibri" pitchFamily="34" charset="0"/>
                <a:ea typeface="Calibri" pitchFamily="34" charset="-122"/>
                <a:cs typeface="Calibri" pitchFamily="34" charset="-120"/>
              </a:rPr>
              <a:t>0:30 – 1:15</a:t>
            </a:r>
            <a:endParaRPr lang="en-US" sz="1100" dirty="0"/>
          </a:p>
        </p:txBody>
      </p:sp>
      <p:sp>
        <p:nvSpPr>
          <p:cNvPr id="5" name="Text 3"/>
          <p:cNvSpPr/>
          <p:nvPr/>
        </p:nvSpPr>
        <p:spPr>
          <a:xfrm>
            <a:off x="457200" y="502920"/>
            <a:ext cx="11247120" cy="731520"/>
          </a:xfrm>
          <a:prstGeom prst="rect">
            <a:avLst/>
          </a:prstGeom>
          <a:noFill/>
          <a:ln/>
        </p:spPr>
        <p:txBody>
          <a:bodyPr wrap="square" rtlCol="0" anchor="t"/>
          <a:lstStyle/>
          <a:p>
            <a:pPr indent="0" marL="0">
              <a:buNone/>
            </a:pPr>
            <a:r>
              <a:rPr lang="en-US" sz="2400" b="1" dirty="0">
                <a:solidFill>
                  <a:srgbClr val="1B1A19"/>
                </a:solidFill>
                <a:latin typeface="Cambria" pitchFamily="34" charset="0"/>
                <a:ea typeface="Cambria" pitchFamily="34" charset="-122"/>
                <a:cs typeface="Cambria" pitchFamily="34" charset="-120"/>
              </a:rPr>
              <a:t>Quién lo sufre, cuánto cuesta hoy y por qué importa ahora</a:t>
            </a:r>
            <a:endParaRPr lang="en-US" sz="2400" dirty="0"/>
          </a:p>
        </p:txBody>
      </p:sp>
      <p:sp>
        <p:nvSpPr>
          <p:cNvPr id="6" name="Text 4"/>
          <p:cNvSpPr/>
          <p:nvPr/>
        </p:nvSpPr>
        <p:spPr>
          <a:xfrm>
            <a:off x="457200" y="6446520"/>
            <a:ext cx="9144000" cy="274320"/>
          </a:xfrm>
          <a:prstGeom prst="rect">
            <a:avLst/>
          </a:prstGeom>
          <a:noFill/>
          <a:ln/>
        </p:spPr>
        <p:txBody>
          <a:bodyPr wrap="square"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 · github.com/jorgemaldonadom-cmd/genial-clasificador-normativa</a:t>
            </a:r>
            <a:endParaRPr lang="en-US" sz="900" dirty="0"/>
          </a:p>
        </p:txBody>
      </p:sp>
      <p:sp>
        <p:nvSpPr>
          <p:cNvPr id="7" name="Text 5"/>
          <p:cNvSpPr/>
          <p:nvPr/>
        </p:nvSpPr>
        <p:spPr>
          <a:xfrm>
            <a:off x="11247120" y="6446520"/>
            <a:ext cx="548640" cy="274320"/>
          </a:xfrm>
          <a:prstGeom prst="rect">
            <a:avLst/>
          </a:prstGeom>
          <a:noFill/>
          <a:ln/>
        </p:spPr>
        <p:txBody>
          <a:bodyPr wrap="square"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2 / 8</a:t>
            </a:r>
            <a:endParaRPr lang="en-US" sz="900" dirty="0"/>
          </a:p>
        </p:txBody>
      </p:sp>
      <p:sp>
        <p:nvSpPr>
          <p:cNvPr id="8" name="Shape 6"/>
          <p:cNvSpPr/>
          <p:nvPr/>
        </p:nvSpPr>
        <p:spPr>
          <a:xfrm>
            <a:off x="457200" y="1463040"/>
            <a:ext cx="2606040" cy="914400"/>
          </a:xfrm>
          <a:prstGeom prst="rect">
            <a:avLst/>
          </a:prstGeom>
          <a:solidFill>
            <a:srgbClr val="F3E6EA"/>
          </a:solidFill>
          <a:ln w="12700">
            <a:solidFill>
              <a:srgbClr val="F3E6EA"/>
            </a:solidFill>
            <a:prstDash val="solid"/>
          </a:ln>
        </p:spPr>
      </p:sp>
      <p:sp>
        <p:nvSpPr>
          <p:cNvPr id="9" name="Text 7"/>
          <p:cNvSpPr/>
          <p:nvPr/>
        </p:nvSpPr>
        <p:spPr>
          <a:xfrm>
            <a:off x="457200" y="1463040"/>
            <a:ext cx="2606040" cy="914400"/>
          </a:xfrm>
          <a:prstGeom prst="rect">
            <a:avLst/>
          </a:prstGeom>
          <a:noFill/>
          <a:ln/>
        </p:spPr>
        <p:txBody>
          <a:bodyPr wrap="square" rtlCol="0" anchor="ctr"/>
          <a:lstStyle/>
          <a:p>
            <a:pPr algn="ctr" indent="0" marL="0">
              <a:buNone/>
            </a:pPr>
            <a:r>
              <a:rPr lang="en-US" sz="1050" dirty="0">
                <a:solidFill>
                  <a:srgbClr val="1B1A19"/>
                </a:solidFill>
                <a:latin typeface="Calibri" pitchFamily="34" charset="0"/>
                <a:ea typeface="Calibri" pitchFamily="34" charset="-122"/>
                <a:cs typeface="Calibri" pitchFamily="34" charset="-120"/>
              </a:rPr>
              <a:t>Norma pública</a:t>
            </a:r>
            <a:endParaRPr lang="en-US" sz="1050" dirty="0"/>
          </a:p>
          <a:p>
            <a:pPr algn="ctr" indent="0" marL="0">
              <a:buNone/>
            </a:pPr>
            <a:r>
              <a:rPr lang="en-US" sz="1050" dirty="0">
                <a:solidFill>
                  <a:srgbClr val="1B1A19"/>
                </a:solidFill>
                <a:latin typeface="Calibri" pitchFamily="34" charset="0"/>
                <a:ea typeface="Calibri" pitchFamily="34" charset="-122"/>
                <a:cs typeface="Calibri" pitchFamily="34" charset="-120"/>
              </a:rPr>
              <a:t>(ley, estrategia, reglamento)</a:t>
            </a:r>
            <a:endParaRPr lang="en-US" sz="1050" dirty="0"/>
          </a:p>
        </p:txBody>
      </p:sp>
      <p:sp>
        <p:nvSpPr>
          <p:cNvPr id="10" name="Text 8"/>
          <p:cNvSpPr/>
          <p:nvPr/>
        </p:nvSpPr>
        <p:spPr>
          <a:xfrm>
            <a:off x="3063240" y="1463040"/>
            <a:ext cx="182880" cy="914400"/>
          </a:xfrm>
          <a:prstGeom prst="rect">
            <a:avLst/>
          </a:prstGeom>
          <a:noFill/>
          <a:ln/>
        </p:spPr>
        <p:txBody>
          <a:bodyPr wrap="square" rtlCol="0" anchor="ctr"/>
          <a:lstStyle/>
          <a:p>
            <a:pPr algn="ctr" indent="0" marL="0">
              <a:buNone/>
            </a:pPr>
            <a:r>
              <a:rPr lang="en-US" sz="1400" dirty="0">
                <a:solidFill>
                  <a:srgbClr val="7A1F3D"/>
                </a:solidFill>
              </a:rPr>
              <a:t>→</a:t>
            </a:r>
            <a:endParaRPr lang="en-US" sz="1400" dirty="0"/>
          </a:p>
        </p:txBody>
      </p:sp>
      <p:sp>
        <p:nvSpPr>
          <p:cNvPr id="11" name="Shape 9"/>
          <p:cNvSpPr/>
          <p:nvPr/>
        </p:nvSpPr>
        <p:spPr>
          <a:xfrm>
            <a:off x="3246120" y="1463040"/>
            <a:ext cx="2606040" cy="914400"/>
          </a:xfrm>
          <a:prstGeom prst="rect">
            <a:avLst/>
          </a:prstGeom>
          <a:solidFill>
            <a:srgbClr val="7A1F3D"/>
          </a:solidFill>
          <a:ln w="12700">
            <a:solidFill>
              <a:srgbClr val="7A1F3D"/>
            </a:solidFill>
            <a:prstDash val="solid"/>
          </a:ln>
        </p:spPr>
      </p:sp>
      <p:sp>
        <p:nvSpPr>
          <p:cNvPr id="12" name="Text 10"/>
          <p:cNvSpPr/>
          <p:nvPr/>
        </p:nvSpPr>
        <p:spPr>
          <a:xfrm>
            <a:off x="3246120" y="1463040"/>
            <a:ext cx="2606040" cy="914400"/>
          </a:xfrm>
          <a:prstGeom prst="rect">
            <a:avLst/>
          </a:prstGeom>
          <a:noFill/>
          <a:ln/>
        </p:spPr>
        <p:txBody>
          <a:bodyPr wrap="square"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Lectura y resumen</a:t>
            </a:r>
            <a:endParaRPr lang="en-US" sz="1050" dirty="0"/>
          </a:p>
          <a:p>
            <a:pPr algn="ctr" indent="0" marL="0">
              <a:buNone/>
            </a:pPr>
            <a:r>
              <a:rPr lang="en-US" sz="1050" dirty="0">
                <a:solidFill>
                  <a:srgbClr val="FFFFFF"/>
                </a:solidFill>
                <a:latin typeface="Calibri" pitchFamily="34" charset="0"/>
                <a:ea typeface="Calibri" pitchFamily="34" charset="-122"/>
                <a:cs typeface="Calibri" pitchFamily="34" charset="-120"/>
              </a:rPr>
              <a:t>por un investigador</a:t>
            </a:r>
            <a:endParaRPr lang="en-US" sz="1050" dirty="0"/>
          </a:p>
        </p:txBody>
      </p:sp>
      <p:sp>
        <p:nvSpPr>
          <p:cNvPr id="13" name="Text 11"/>
          <p:cNvSpPr/>
          <p:nvPr/>
        </p:nvSpPr>
        <p:spPr>
          <a:xfrm>
            <a:off x="5852160" y="1463040"/>
            <a:ext cx="182880" cy="914400"/>
          </a:xfrm>
          <a:prstGeom prst="rect">
            <a:avLst/>
          </a:prstGeom>
          <a:noFill/>
          <a:ln/>
        </p:spPr>
        <p:txBody>
          <a:bodyPr wrap="square" rtlCol="0" anchor="ctr"/>
          <a:lstStyle/>
          <a:p>
            <a:pPr algn="ctr" indent="0" marL="0">
              <a:buNone/>
            </a:pPr>
            <a:r>
              <a:rPr lang="en-US" sz="1400" dirty="0">
                <a:solidFill>
                  <a:srgbClr val="7A1F3D"/>
                </a:solidFill>
              </a:rPr>
              <a:t>→</a:t>
            </a:r>
            <a:endParaRPr lang="en-US" sz="1400" dirty="0"/>
          </a:p>
        </p:txBody>
      </p:sp>
      <p:sp>
        <p:nvSpPr>
          <p:cNvPr id="14" name="Shape 12"/>
          <p:cNvSpPr/>
          <p:nvPr/>
        </p:nvSpPr>
        <p:spPr>
          <a:xfrm>
            <a:off x="6035040" y="1463040"/>
            <a:ext cx="2606040" cy="914400"/>
          </a:xfrm>
          <a:prstGeom prst="rect">
            <a:avLst/>
          </a:prstGeom>
          <a:solidFill>
            <a:srgbClr val="F3E6EA"/>
          </a:solidFill>
          <a:ln w="12700">
            <a:solidFill>
              <a:srgbClr val="F3E6EA"/>
            </a:solidFill>
            <a:prstDash val="solid"/>
          </a:ln>
        </p:spPr>
      </p:sp>
      <p:sp>
        <p:nvSpPr>
          <p:cNvPr id="15" name="Text 13"/>
          <p:cNvSpPr/>
          <p:nvPr/>
        </p:nvSpPr>
        <p:spPr>
          <a:xfrm>
            <a:off x="6035040" y="1463040"/>
            <a:ext cx="2606040" cy="914400"/>
          </a:xfrm>
          <a:prstGeom prst="rect">
            <a:avLst/>
          </a:prstGeom>
          <a:noFill/>
          <a:ln/>
        </p:spPr>
        <p:txBody>
          <a:bodyPr wrap="square" rtlCol="0" anchor="ctr"/>
          <a:lstStyle/>
          <a:p>
            <a:pPr algn="ctr" indent="0" marL="0">
              <a:buNone/>
            </a:pPr>
            <a:r>
              <a:rPr lang="en-US" sz="1050" dirty="0">
                <a:solidFill>
                  <a:srgbClr val="1B1A19"/>
                </a:solidFill>
                <a:latin typeface="Calibri" pitchFamily="34" charset="0"/>
                <a:ea typeface="Calibri" pitchFamily="34" charset="-122"/>
                <a:cs typeface="Calibri" pitchFamily="34" charset="-120"/>
              </a:rPr>
              <a:t>Una de 5 dimensiones</a:t>
            </a:r>
            <a:endParaRPr lang="en-US" sz="1050" dirty="0"/>
          </a:p>
          <a:p>
            <a:pPr algn="ctr" indent="0" marL="0">
              <a:buNone/>
            </a:pPr>
            <a:r>
              <a:rPr lang="en-US" sz="1050" dirty="0">
                <a:solidFill>
                  <a:srgbClr val="1B1A19"/>
                </a:solidFill>
                <a:latin typeface="Calibri" pitchFamily="34" charset="0"/>
                <a:ea typeface="Calibri" pitchFamily="34" charset="-122"/>
                <a:cs typeface="Calibri" pitchFamily="34" charset="-120"/>
              </a:rPr>
              <a:t>(pedagógica, ética, administrativa, protección de datos, técnica)</a:t>
            </a:r>
            <a:endParaRPr lang="en-US" sz="1050" dirty="0"/>
          </a:p>
        </p:txBody>
      </p:sp>
      <p:sp>
        <p:nvSpPr>
          <p:cNvPr id="16" name="Text 14"/>
          <p:cNvSpPr/>
          <p:nvPr/>
        </p:nvSpPr>
        <p:spPr>
          <a:xfrm>
            <a:off x="8641080" y="1463040"/>
            <a:ext cx="182880" cy="914400"/>
          </a:xfrm>
          <a:prstGeom prst="rect">
            <a:avLst/>
          </a:prstGeom>
          <a:noFill/>
          <a:ln/>
        </p:spPr>
        <p:txBody>
          <a:bodyPr wrap="square" rtlCol="0" anchor="ctr"/>
          <a:lstStyle/>
          <a:p>
            <a:pPr algn="ctr" indent="0" marL="0">
              <a:buNone/>
            </a:pPr>
            <a:r>
              <a:rPr lang="en-US" sz="1400" dirty="0">
                <a:solidFill>
                  <a:srgbClr val="7A1F3D"/>
                </a:solidFill>
              </a:rPr>
              <a:t>→</a:t>
            </a:r>
            <a:endParaRPr lang="en-US" sz="1400" dirty="0"/>
          </a:p>
        </p:txBody>
      </p:sp>
      <p:sp>
        <p:nvSpPr>
          <p:cNvPr id="17" name="Shape 15"/>
          <p:cNvSpPr/>
          <p:nvPr/>
        </p:nvSpPr>
        <p:spPr>
          <a:xfrm>
            <a:off x="8823960" y="1463040"/>
            <a:ext cx="2606040" cy="914400"/>
          </a:xfrm>
          <a:prstGeom prst="rect">
            <a:avLst/>
          </a:prstGeom>
          <a:solidFill>
            <a:srgbClr val="F3E6EA"/>
          </a:solidFill>
          <a:ln w="12700">
            <a:solidFill>
              <a:srgbClr val="F3E6EA"/>
            </a:solidFill>
            <a:prstDash val="solid"/>
          </a:ln>
        </p:spPr>
      </p:sp>
      <p:sp>
        <p:nvSpPr>
          <p:cNvPr id="18" name="Text 16"/>
          <p:cNvSpPr/>
          <p:nvPr/>
        </p:nvSpPr>
        <p:spPr>
          <a:xfrm>
            <a:off x="8823960" y="1463040"/>
            <a:ext cx="2606040" cy="914400"/>
          </a:xfrm>
          <a:prstGeom prst="rect">
            <a:avLst/>
          </a:prstGeom>
          <a:noFill/>
          <a:ln/>
        </p:spPr>
        <p:txBody>
          <a:bodyPr wrap="square" rtlCol="0" anchor="ctr"/>
          <a:lstStyle/>
          <a:p>
            <a:pPr algn="ctr" indent="0" marL="0">
              <a:buNone/>
            </a:pPr>
            <a:r>
              <a:rPr lang="en-US" sz="1050" dirty="0">
                <a:solidFill>
                  <a:srgbClr val="1B1A19"/>
                </a:solidFill>
                <a:latin typeface="Calibri" pitchFamily="34" charset="0"/>
                <a:ea typeface="Calibri" pitchFamily="34" charset="-122"/>
                <a:cs typeface="Calibri" pitchFamily="34" charset="-120"/>
              </a:rPr>
              <a:t>Índice de Madurez</a:t>
            </a:r>
            <a:endParaRPr lang="en-US" sz="1050" dirty="0"/>
          </a:p>
          <a:p>
            <a:pPr algn="ctr" indent="0" marL="0">
              <a:buNone/>
            </a:pPr>
            <a:r>
              <a:rPr lang="en-US" sz="1050" dirty="0">
                <a:solidFill>
                  <a:srgbClr val="1B1A19"/>
                </a:solidFill>
                <a:latin typeface="Calibri" pitchFamily="34" charset="0"/>
                <a:ea typeface="Calibri" pitchFamily="34" charset="-122"/>
                <a:cs typeface="Calibri" pitchFamily="34" charset="-120"/>
              </a:rPr>
              <a:t>Normativa por país</a:t>
            </a:r>
            <a:endParaRPr lang="en-US" sz="1050" dirty="0"/>
          </a:p>
        </p:txBody>
      </p:sp>
      <p:sp>
        <p:nvSpPr>
          <p:cNvPr id="19" name="Shape 17"/>
          <p:cNvSpPr/>
          <p:nvPr/>
        </p:nvSpPr>
        <p:spPr>
          <a:xfrm>
            <a:off x="457200" y="2651760"/>
            <a:ext cx="2651760" cy="1051560"/>
          </a:xfrm>
          <a:prstGeom prst="rect">
            <a:avLst/>
          </a:prstGeom>
          <a:solidFill>
            <a:srgbClr val="F3E6EA"/>
          </a:solidFill>
          <a:ln w="12700">
            <a:solidFill>
              <a:srgbClr val="F3E6EA"/>
            </a:solidFill>
            <a:prstDash val="solid"/>
          </a:ln>
        </p:spPr>
      </p:sp>
      <p:sp>
        <p:nvSpPr>
          <p:cNvPr id="20" name="Text 18"/>
          <p:cNvSpPr/>
          <p:nvPr/>
        </p:nvSpPr>
        <p:spPr>
          <a:xfrm>
            <a:off x="566928" y="2706624"/>
            <a:ext cx="2432304" cy="546811"/>
          </a:xfrm>
          <a:prstGeom prst="rect">
            <a:avLst/>
          </a:prstGeom>
          <a:noFill/>
          <a:ln/>
        </p:spPr>
        <p:txBody>
          <a:bodyPr wrap="square" rtlCol="0" anchor="b"/>
          <a:lstStyle/>
          <a:p>
            <a:pPr indent="0" marL="0">
              <a:buNone/>
            </a:pPr>
            <a:r>
              <a:rPr lang="en-US" sz="2600" b="1" dirty="0">
                <a:solidFill>
                  <a:srgbClr val="7A1F3D"/>
                </a:solidFill>
                <a:latin typeface="Cambria" pitchFamily="34" charset="0"/>
                <a:ea typeface="Cambria" pitchFamily="34" charset="-122"/>
                <a:cs typeface="Cambria" pitchFamily="34" charset="-120"/>
              </a:rPr>
              <a:t>10 min</a:t>
            </a:r>
            <a:endParaRPr lang="en-US" sz="2600" dirty="0"/>
          </a:p>
        </p:txBody>
      </p:sp>
      <p:sp>
        <p:nvSpPr>
          <p:cNvPr id="21" name="Text 19"/>
          <p:cNvSpPr/>
          <p:nvPr/>
        </p:nvSpPr>
        <p:spPr>
          <a:xfrm>
            <a:off x="566928" y="3240634"/>
            <a:ext cx="2432304" cy="441655"/>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por norma, leída por una sola persona</a:t>
            </a:r>
            <a:endParaRPr lang="en-US" sz="1050" dirty="0"/>
          </a:p>
        </p:txBody>
      </p:sp>
      <p:sp>
        <p:nvSpPr>
          <p:cNvPr id="22" name="Shape 20"/>
          <p:cNvSpPr/>
          <p:nvPr/>
        </p:nvSpPr>
        <p:spPr>
          <a:xfrm>
            <a:off x="3246120" y="2651760"/>
            <a:ext cx="2651760" cy="1051560"/>
          </a:xfrm>
          <a:prstGeom prst="rect">
            <a:avLst/>
          </a:prstGeom>
          <a:solidFill>
            <a:srgbClr val="F3E6EA"/>
          </a:solidFill>
          <a:ln w="12700">
            <a:solidFill>
              <a:srgbClr val="F3E6EA"/>
            </a:solidFill>
            <a:prstDash val="solid"/>
          </a:ln>
        </p:spPr>
      </p:sp>
      <p:sp>
        <p:nvSpPr>
          <p:cNvPr id="23" name="Text 21"/>
          <p:cNvSpPr/>
          <p:nvPr/>
        </p:nvSpPr>
        <p:spPr>
          <a:xfrm>
            <a:off x="3355848" y="2706624"/>
            <a:ext cx="2432304" cy="546811"/>
          </a:xfrm>
          <a:prstGeom prst="rect">
            <a:avLst/>
          </a:prstGeom>
          <a:noFill/>
          <a:ln/>
        </p:spPr>
        <p:txBody>
          <a:bodyPr wrap="square" rtlCol="0" anchor="b"/>
          <a:lstStyle/>
          <a:p>
            <a:pPr indent="0" marL="0">
              <a:buNone/>
            </a:pPr>
            <a:r>
              <a:rPr lang="en-US" sz="2600" b="1" dirty="0">
                <a:solidFill>
                  <a:srgbClr val="7A1F3D"/>
                </a:solidFill>
                <a:latin typeface="Cambria" pitchFamily="34" charset="0"/>
                <a:ea typeface="Cambria" pitchFamily="34" charset="-122"/>
                <a:cs typeface="Cambria" pitchFamily="34" charset="-120"/>
              </a:rPr>
              <a:t>0</a:t>
            </a:r>
            <a:endParaRPr lang="en-US" sz="2600" dirty="0"/>
          </a:p>
        </p:txBody>
      </p:sp>
      <p:sp>
        <p:nvSpPr>
          <p:cNvPr id="24" name="Text 22"/>
          <p:cNvSpPr/>
          <p:nvPr/>
        </p:nvSpPr>
        <p:spPr>
          <a:xfrm>
            <a:off x="3355848" y="3240634"/>
            <a:ext cx="2432304" cy="441655"/>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medidas de acuerdo entre dos codificadores</a:t>
            </a:r>
            <a:endParaRPr lang="en-US" sz="1050" dirty="0"/>
          </a:p>
        </p:txBody>
      </p:sp>
      <p:sp>
        <p:nvSpPr>
          <p:cNvPr id="25" name="Shape 23"/>
          <p:cNvSpPr/>
          <p:nvPr/>
        </p:nvSpPr>
        <p:spPr>
          <a:xfrm>
            <a:off x="6035040" y="2651760"/>
            <a:ext cx="2651760" cy="1051560"/>
          </a:xfrm>
          <a:prstGeom prst="rect">
            <a:avLst/>
          </a:prstGeom>
          <a:solidFill>
            <a:srgbClr val="F3E6EA"/>
          </a:solidFill>
          <a:ln w="12700">
            <a:solidFill>
              <a:srgbClr val="F3E6EA"/>
            </a:solidFill>
            <a:prstDash val="solid"/>
          </a:ln>
        </p:spPr>
      </p:sp>
      <p:sp>
        <p:nvSpPr>
          <p:cNvPr id="26" name="Text 24"/>
          <p:cNvSpPr/>
          <p:nvPr/>
        </p:nvSpPr>
        <p:spPr>
          <a:xfrm>
            <a:off x="6144768" y="2706624"/>
            <a:ext cx="2432304" cy="546811"/>
          </a:xfrm>
          <a:prstGeom prst="rect">
            <a:avLst/>
          </a:prstGeom>
          <a:noFill/>
          <a:ln/>
        </p:spPr>
        <p:txBody>
          <a:bodyPr wrap="square" rtlCol="0" anchor="b"/>
          <a:lstStyle/>
          <a:p>
            <a:pPr indent="0" marL="0">
              <a:buNone/>
            </a:pPr>
            <a:r>
              <a:rPr lang="en-US" sz="2600" b="1" dirty="0">
                <a:solidFill>
                  <a:srgbClr val="7A1F3D"/>
                </a:solidFill>
                <a:latin typeface="Cambria" pitchFamily="34" charset="0"/>
                <a:ea typeface="Cambria" pitchFamily="34" charset="-122"/>
                <a:cs typeface="Cambria" pitchFamily="34" charset="-120"/>
              </a:rPr>
              <a:t>28 · 10</a:t>
            </a:r>
            <a:endParaRPr lang="en-US" sz="2600" dirty="0"/>
          </a:p>
        </p:txBody>
      </p:sp>
      <p:sp>
        <p:nvSpPr>
          <p:cNvPr id="27" name="Text 25"/>
          <p:cNvSpPr/>
          <p:nvPr/>
        </p:nvSpPr>
        <p:spPr>
          <a:xfrm>
            <a:off x="6144768" y="3240634"/>
            <a:ext cx="2432304" cy="441655"/>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jurisdicciones · investigadores codificando</a:t>
            </a:r>
            <a:endParaRPr lang="en-US" sz="1050" dirty="0"/>
          </a:p>
        </p:txBody>
      </p:sp>
      <p:sp>
        <p:nvSpPr>
          <p:cNvPr id="28" name="Shape 26"/>
          <p:cNvSpPr/>
          <p:nvPr/>
        </p:nvSpPr>
        <p:spPr>
          <a:xfrm>
            <a:off x="8823960" y="2651760"/>
            <a:ext cx="2907792" cy="1051560"/>
          </a:xfrm>
          <a:prstGeom prst="rect">
            <a:avLst/>
          </a:prstGeom>
          <a:solidFill>
            <a:srgbClr val="F3E6EA"/>
          </a:solidFill>
          <a:ln w="12700">
            <a:solidFill>
              <a:srgbClr val="F3E6EA"/>
            </a:solidFill>
            <a:prstDash val="solid"/>
          </a:ln>
        </p:spPr>
      </p:sp>
      <p:sp>
        <p:nvSpPr>
          <p:cNvPr id="29" name="Text 27"/>
          <p:cNvSpPr/>
          <p:nvPr/>
        </p:nvSpPr>
        <p:spPr>
          <a:xfrm>
            <a:off x="8933688" y="2706624"/>
            <a:ext cx="2688336" cy="546811"/>
          </a:xfrm>
          <a:prstGeom prst="rect">
            <a:avLst/>
          </a:prstGeom>
          <a:noFill/>
          <a:ln/>
        </p:spPr>
        <p:txBody>
          <a:bodyPr wrap="square" rtlCol="0" anchor="b"/>
          <a:lstStyle/>
          <a:p>
            <a:pPr indent="0" marL="0">
              <a:buNone/>
            </a:pPr>
            <a:r>
              <a:rPr lang="en-US" sz="2600" b="1" dirty="0">
                <a:solidFill>
                  <a:srgbClr val="7A1F3D"/>
                </a:solidFill>
                <a:latin typeface="Cambria" pitchFamily="34" charset="0"/>
                <a:ea typeface="Cambria" pitchFamily="34" charset="-122"/>
                <a:cs typeface="Cambria" pitchFamily="34" charset="-120"/>
              </a:rPr>
              <a:t>813 ↑</a:t>
            </a:r>
            <a:endParaRPr lang="en-US" sz="2600" dirty="0"/>
          </a:p>
        </p:txBody>
      </p:sp>
      <p:sp>
        <p:nvSpPr>
          <p:cNvPr id="30" name="Text 28"/>
          <p:cNvSpPr/>
          <p:nvPr/>
        </p:nvSpPr>
        <p:spPr>
          <a:xfrm>
            <a:off x="8933688" y="3240634"/>
            <a:ext cx="2688336" cy="441655"/>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normas hoy; crece con cada ley y cada política universitaria</a:t>
            </a:r>
            <a:endParaRPr lang="en-US" sz="1050" dirty="0"/>
          </a:p>
        </p:txBody>
      </p:sp>
      <p:sp>
        <p:nvSpPr>
          <p:cNvPr id="31" name="Shape 29"/>
          <p:cNvSpPr/>
          <p:nvPr/>
        </p:nvSpPr>
        <p:spPr>
          <a:xfrm>
            <a:off x="457200" y="3931920"/>
            <a:ext cx="5532120" cy="2331720"/>
          </a:xfrm>
          <a:prstGeom prst="rect">
            <a:avLst/>
          </a:prstGeom>
          <a:solidFill>
            <a:srgbClr val="FFFFFF"/>
          </a:solidFill>
          <a:ln w="12700">
            <a:solidFill>
              <a:srgbClr val="D9CFD2"/>
            </a:solidFill>
            <a:prstDash val="solid"/>
          </a:ln>
        </p:spPr>
      </p:sp>
      <p:sp>
        <p:nvSpPr>
          <p:cNvPr id="32" name="Text 30"/>
          <p:cNvSpPr/>
          <p:nvPr/>
        </p:nvSpPr>
        <p:spPr>
          <a:xfrm>
            <a:off x="594360" y="4005072"/>
            <a:ext cx="5257800" cy="292608"/>
          </a:xfrm>
          <a:prstGeom prst="rect">
            <a:avLst/>
          </a:prstGeom>
          <a:noFill/>
          <a:ln/>
        </p:spPr>
        <p:txBody>
          <a:bodyPr wrap="square" rtlCol="0" anchor="ctr"/>
          <a:lstStyle/>
          <a:p>
            <a:pPr indent="0" marL="0">
              <a:buNone/>
            </a:pPr>
            <a:r>
              <a:rPr lang="en-US" sz="1200" b="1" dirty="0">
                <a:solidFill>
                  <a:srgbClr val="7A1F3D"/>
                </a:solidFill>
                <a:latin typeface="Calibri" pitchFamily="34" charset="0"/>
                <a:ea typeface="Calibri" pitchFamily="34" charset="-122"/>
                <a:cs typeface="Calibri" pitchFamily="34" charset="-120"/>
              </a:rPr>
              <a:t>Qué duele hoy y a quién</a:t>
            </a:r>
            <a:endParaRPr lang="en-US" sz="1200" dirty="0"/>
          </a:p>
        </p:txBody>
      </p:sp>
      <p:sp>
        <p:nvSpPr>
          <p:cNvPr id="33" name="Text 31"/>
          <p:cNvSpPr/>
          <p:nvPr/>
        </p:nvSpPr>
        <p:spPr>
          <a:xfrm>
            <a:off x="594360" y="4315968"/>
            <a:ext cx="5257800" cy="1874520"/>
          </a:xfrm>
          <a:prstGeom prst="rect">
            <a:avLst/>
          </a:prstGeom>
          <a:noFill/>
          <a:ln/>
        </p:spPr>
        <p:txBody>
          <a:bodyPr wrap="square" rtlCol="0" anchor="t"/>
          <a:lstStyle/>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Codificadores de GENIAL: cada actualización repite las 135 horas</a:t>
            </a:r>
            <a:endParaRPr lang="en-US" sz="1100" dirty="0"/>
          </a:p>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Coordinación: la fiabilidad del dato es desconocida (un codificador por norma)</a:t>
            </a:r>
            <a:endParaRPr lang="en-US" sz="1100" dirty="0"/>
          </a:p>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Países: el índice se actualiza tarde y sin margen de error declarado</a:t>
            </a:r>
            <a:endParaRPr lang="en-US" sz="1100" dirty="0"/>
          </a:p>
        </p:txBody>
      </p:sp>
      <p:sp>
        <p:nvSpPr>
          <p:cNvPr id="34" name="Shape 32"/>
          <p:cNvSpPr/>
          <p:nvPr/>
        </p:nvSpPr>
        <p:spPr>
          <a:xfrm>
            <a:off x="6199632" y="3931920"/>
            <a:ext cx="5532120" cy="2331720"/>
          </a:xfrm>
          <a:prstGeom prst="rect">
            <a:avLst/>
          </a:prstGeom>
          <a:solidFill>
            <a:srgbClr val="F3E6EA"/>
          </a:solidFill>
          <a:ln w="12700">
            <a:solidFill>
              <a:srgbClr val="F3E6EA"/>
            </a:solidFill>
            <a:prstDash val="solid"/>
          </a:ln>
        </p:spPr>
      </p:sp>
      <p:sp>
        <p:nvSpPr>
          <p:cNvPr id="35" name="Text 33"/>
          <p:cNvSpPr/>
          <p:nvPr/>
        </p:nvSpPr>
        <p:spPr>
          <a:xfrm>
            <a:off x="6336792" y="4005072"/>
            <a:ext cx="5257800" cy="292608"/>
          </a:xfrm>
          <a:prstGeom prst="rect">
            <a:avLst/>
          </a:prstGeom>
          <a:noFill/>
          <a:ln/>
        </p:spPr>
        <p:txBody>
          <a:bodyPr wrap="square" rtlCol="0" anchor="ctr"/>
          <a:lstStyle/>
          <a:p>
            <a:pPr indent="0" marL="0">
              <a:buNone/>
            </a:pPr>
            <a:r>
              <a:rPr lang="en-US" sz="1200" b="1" dirty="0">
                <a:solidFill>
                  <a:srgbClr val="7A1F3D"/>
                </a:solidFill>
                <a:latin typeface="Calibri" pitchFamily="34" charset="0"/>
                <a:ea typeface="Calibri" pitchFamily="34" charset="-122"/>
                <a:cs typeface="Calibri" pitchFamily="34" charset="-120"/>
              </a:rPr>
              <a:t>Por qué las soluciones actuales no bastan</a:t>
            </a:r>
            <a:endParaRPr lang="en-US" sz="1200" dirty="0"/>
          </a:p>
        </p:txBody>
      </p:sp>
      <p:sp>
        <p:nvSpPr>
          <p:cNvPr id="36" name="Text 34"/>
          <p:cNvSpPr/>
          <p:nvPr/>
        </p:nvSpPr>
        <p:spPr>
          <a:xfrm>
            <a:off x="6336792" y="4315968"/>
            <a:ext cx="5257800" cy="1874520"/>
          </a:xfrm>
          <a:prstGeom prst="rect">
            <a:avLst/>
          </a:prstGeom>
          <a:noFill/>
          <a:ln/>
        </p:spPr>
        <p:txBody>
          <a:bodyPr wrap="square" rtlCol="0" anchor="t"/>
          <a:lstStyle/>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Más horas humanas: no escala con 28 jurisdicciones y normativa que cambia cada mes</a:t>
            </a:r>
            <a:endParaRPr lang="en-US" sz="1100" dirty="0"/>
          </a:p>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Un modelo de lenguaje de pago: envía el texto a un tercero, cuesta por norma y no explica</a:t>
            </a:r>
            <a:endParaRPr lang="en-US" sz="1100" dirty="0"/>
          </a:p>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Reglas por tipo de documento: 54 de cada 100 (lo medimos)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7A1F3D"/>
          </a:solidFill>
          <a:ln w="12700">
            <a:solidFill>
              <a:srgbClr val="7A1F3D"/>
            </a:solidFill>
            <a:prstDash val="solid"/>
          </a:ln>
        </p:spPr>
      </p:sp>
      <p:sp>
        <p:nvSpPr>
          <p:cNvPr id="3" name="Text 1"/>
          <p:cNvSpPr/>
          <p:nvPr/>
        </p:nvSpPr>
        <p:spPr>
          <a:xfrm>
            <a:off x="457200" y="256032"/>
            <a:ext cx="7315200" cy="274320"/>
          </a:xfrm>
          <a:prstGeom prst="rect">
            <a:avLst/>
          </a:prstGeom>
          <a:noFill/>
          <a:ln/>
        </p:spPr>
        <p:txBody>
          <a:bodyPr wrap="square" rtlCol="0" anchor="ctr"/>
          <a:lstStyle/>
          <a:p>
            <a:pPr indent="0" marL="0">
              <a:buNone/>
            </a:pPr>
            <a:r>
              <a:rPr lang="en-US" sz="1100" b="1" spc="200" kern="0" dirty="0">
                <a:solidFill>
                  <a:srgbClr val="7A1F3D"/>
                </a:solidFill>
                <a:latin typeface="Calibri" pitchFamily="34" charset="0"/>
                <a:ea typeface="Calibri" pitchFamily="34" charset="-122"/>
                <a:cs typeface="Calibri" pitchFamily="34" charset="-120"/>
              </a:rPr>
              <a:t>3 · SOLUCIÓN</a:t>
            </a:r>
            <a:endParaRPr lang="en-US" sz="1100" dirty="0"/>
          </a:p>
        </p:txBody>
      </p:sp>
      <p:sp>
        <p:nvSpPr>
          <p:cNvPr id="4" name="Text 2"/>
          <p:cNvSpPr/>
          <p:nvPr/>
        </p:nvSpPr>
        <p:spPr>
          <a:xfrm>
            <a:off x="9418320" y="256032"/>
            <a:ext cx="2286000" cy="274320"/>
          </a:xfrm>
          <a:prstGeom prst="rect">
            <a:avLst/>
          </a:prstGeom>
          <a:noFill/>
          <a:ln/>
        </p:spPr>
        <p:txBody>
          <a:bodyPr wrap="square" rtlCol="0" anchor="ctr"/>
          <a:lstStyle/>
          <a:p>
            <a:pPr algn="r" indent="0" marL="0">
              <a:buNone/>
            </a:pPr>
            <a:r>
              <a:rPr lang="en-US" sz="1100" b="1" dirty="0">
                <a:solidFill>
                  <a:srgbClr val="6E6862"/>
                </a:solidFill>
                <a:latin typeface="Calibri" pitchFamily="34" charset="0"/>
                <a:ea typeface="Calibri" pitchFamily="34" charset="-122"/>
                <a:cs typeface="Calibri" pitchFamily="34" charset="-120"/>
              </a:rPr>
              <a:t>1:15 – 2:15</a:t>
            </a:r>
            <a:endParaRPr lang="en-US" sz="1100" dirty="0"/>
          </a:p>
        </p:txBody>
      </p:sp>
      <p:sp>
        <p:nvSpPr>
          <p:cNvPr id="5" name="Text 3"/>
          <p:cNvSpPr/>
          <p:nvPr/>
        </p:nvSpPr>
        <p:spPr>
          <a:xfrm>
            <a:off x="457200" y="502920"/>
            <a:ext cx="11247120" cy="731520"/>
          </a:xfrm>
          <a:prstGeom prst="rect">
            <a:avLst/>
          </a:prstGeom>
          <a:noFill/>
          <a:ln/>
        </p:spPr>
        <p:txBody>
          <a:bodyPr wrap="square" rtlCol="0" anchor="t"/>
          <a:lstStyle/>
          <a:p>
            <a:pPr indent="0" marL="0">
              <a:buNone/>
            </a:pPr>
            <a:r>
              <a:rPr lang="en-US" sz="2400" b="1" dirty="0">
                <a:solidFill>
                  <a:srgbClr val="1B1A19"/>
                </a:solidFill>
                <a:latin typeface="Cambria" pitchFamily="34" charset="0"/>
                <a:ea typeface="Cambria" pitchFamily="34" charset="-122"/>
                <a:cs typeface="Cambria" pitchFamily="34" charset="-120"/>
              </a:rPr>
              <a:t>Codificación asistida: dos candidatas, una confianza y una regla de revisión</a:t>
            </a:r>
            <a:endParaRPr lang="en-US" sz="2400" dirty="0"/>
          </a:p>
        </p:txBody>
      </p:sp>
      <p:sp>
        <p:nvSpPr>
          <p:cNvPr id="6" name="Text 4"/>
          <p:cNvSpPr/>
          <p:nvPr/>
        </p:nvSpPr>
        <p:spPr>
          <a:xfrm>
            <a:off x="457200" y="6446520"/>
            <a:ext cx="9144000" cy="274320"/>
          </a:xfrm>
          <a:prstGeom prst="rect">
            <a:avLst/>
          </a:prstGeom>
          <a:noFill/>
          <a:ln/>
        </p:spPr>
        <p:txBody>
          <a:bodyPr wrap="square"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 · github.com/jorgemaldonadom-cmd/genial-clasificador-normativa</a:t>
            </a:r>
            <a:endParaRPr lang="en-US" sz="900" dirty="0"/>
          </a:p>
        </p:txBody>
      </p:sp>
      <p:sp>
        <p:nvSpPr>
          <p:cNvPr id="7" name="Text 5"/>
          <p:cNvSpPr/>
          <p:nvPr/>
        </p:nvSpPr>
        <p:spPr>
          <a:xfrm>
            <a:off x="11247120" y="6446520"/>
            <a:ext cx="548640" cy="274320"/>
          </a:xfrm>
          <a:prstGeom prst="rect">
            <a:avLst/>
          </a:prstGeom>
          <a:noFill/>
          <a:ln/>
        </p:spPr>
        <p:txBody>
          <a:bodyPr wrap="square"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3 / 8</a:t>
            </a:r>
            <a:endParaRPr lang="en-US" sz="900" dirty="0"/>
          </a:p>
        </p:txBody>
      </p:sp>
      <p:sp>
        <p:nvSpPr>
          <p:cNvPr id="8" name="Shape 6"/>
          <p:cNvSpPr/>
          <p:nvPr/>
        </p:nvSpPr>
        <p:spPr>
          <a:xfrm>
            <a:off x="457200" y="1371600"/>
            <a:ext cx="6492240" cy="1600200"/>
          </a:xfrm>
          <a:prstGeom prst="rect">
            <a:avLst/>
          </a:prstGeom>
          <a:solidFill>
            <a:srgbClr val="7A1F3D"/>
          </a:solidFill>
          <a:ln w="12700">
            <a:solidFill>
              <a:srgbClr val="7A1F3D"/>
            </a:solidFill>
            <a:prstDash val="solid"/>
          </a:ln>
        </p:spPr>
      </p:sp>
      <p:sp>
        <p:nvSpPr>
          <p:cNvPr id="9" name="Text 7"/>
          <p:cNvSpPr/>
          <p:nvPr/>
        </p:nvSpPr>
        <p:spPr>
          <a:xfrm>
            <a:off x="640080" y="1417320"/>
            <a:ext cx="6126480" cy="1508760"/>
          </a:xfrm>
          <a:prstGeom prst="rect">
            <a:avLst/>
          </a:prstGeom>
          <a:noFill/>
          <a:ln/>
        </p:spPr>
        <p:txBody>
          <a:bodyPr wrap="square"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Para </a:t>
            </a:r>
            <a:pPr indent="0" marL="0">
              <a:buNone/>
            </a:pPr>
            <a:r>
              <a:rPr lang="en-US" sz="1350" dirty="0">
                <a:solidFill>
                  <a:srgbClr val="E3B341"/>
                </a:solidFill>
                <a:latin typeface="Calibri" pitchFamily="34" charset="0"/>
                <a:ea typeface="Calibri" pitchFamily="34" charset="-122"/>
                <a:cs typeface="Calibri" pitchFamily="34" charset="-120"/>
              </a:rPr>
              <a:t>los codificadores del observatorio GENIAL</a:t>
            </a:r>
            <a:pPr indent="0" marL="0">
              <a:buNone/>
            </a:pPr>
            <a:r>
              <a:rPr lang="en-US" sz="1350" dirty="0">
                <a:solidFill>
                  <a:srgbClr val="FFFFFF"/>
                </a:solidFill>
                <a:latin typeface="Calibri" pitchFamily="34" charset="0"/>
                <a:ea typeface="Calibri" pitchFamily="34" charset="-122"/>
                <a:cs typeface="Calibri" pitchFamily="34" charset="-120"/>
              </a:rPr>
              <a:t>, que clasifican a mano cientos de normas sobre IA, </a:t>
            </a:r>
            <a:pPr indent="0" marL="0">
              <a:buNone/>
            </a:pPr>
            <a:r>
              <a:rPr lang="en-US" sz="1350" dirty="0">
                <a:solidFill>
                  <a:srgbClr val="E3B341"/>
                </a:solidFill>
                <a:latin typeface="Calibri" pitchFamily="34" charset="0"/>
                <a:ea typeface="Calibri" pitchFamily="34" charset="-122"/>
                <a:cs typeface="Calibri" pitchFamily="34" charset="-120"/>
              </a:rPr>
              <a:t>el clasificador asistido</a:t>
            </a:r>
            <a:pPr indent="0" marL="0">
              <a:buNone/>
            </a:pPr>
            <a:r>
              <a:rPr lang="en-US" sz="1350" dirty="0">
                <a:solidFill>
                  <a:srgbClr val="FFFFFF"/>
                </a:solidFill>
                <a:latin typeface="Calibri" pitchFamily="34" charset="0"/>
                <a:ea typeface="Calibri" pitchFamily="34" charset="-122"/>
                <a:cs typeface="Calibri" pitchFamily="34" charset="-120"/>
              </a:rPr>
              <a:t> es una herramienta de codificación asistida que </a:t>
            </a:r>
            <a:pPr indent="0" marL="0">
              <a:buNone/>
            </a:pPr>
            <a:r>
              <a:rPr lang="en-US" sz="1350" dirty="0">
                <a:solidFill>
                  <a:srgbClr val="E3B341"/>
                </a:solidFill>
                <a:latin typeface="Calibri" pitchFamily="34" charset="0"/>
                <a:ea typeface="Calibri" pitchFamily="34" charset="-122"/>
                <a:cs typeface="Calibri" pitchFamily="34" charset="-120"/>
              </a:rPr>
              <a:t>propone dos dimensiones y señala qué normas necesitan revisión humana</a:t>
            </a:r>
            <a:pPr indent="0" marL="0">
              <a:buNone/>
            </a:pPr>
            <a:r>
              <a:rPr lang="en-US" sz="1350" dirty="0">
                <a:solidFill>
                  <a:srgbClr val="FFFFFF"/>
                </a:solidFill>
                <a:latin typeface="Calibri" pitchFamily="34" charset="0"/>
                <a:ea typeface="Calibri" pitchFamily="34" charset="-122"/>
                <a:cs typeface="Calibri" pitchFamily="34" charset="-120"/>
              </a:rPr>
              <a:t>. A diferencia de </a:t>
            </a:r>
            <a:pPr indent="0" marL="0">
              <a:buNone/>
            </a:pPr>
            <a:r>
              <a:rPr lang="en-US" sz="1350" dirty="0">
                <a:solidFill>
                  <a:srgbClr val="E3B341"/>
                </a:solidFill>
                <a:latin typeface="Calibri" pitchFamily="34" charset="0"/>
                <a:ea typeface="Calibri" pitchFamily="34" charset="-122"/>
                <a:cs typeface="Calibri" pitchFamily="34" charset="-120"/>
              </a:rPr>
              <a:t>la codificación manual o de un LLM de pago</a:t>
            </a:r>
            <a:pPr indent="0" marL="0">
              <a:buNone/>
            </a:pPr>
            <a:r>
              <a:rPr lang="en-US" sz="1350" dirty="0">
                <a:solidFill>
                  <a:srgbClr val="FFFFFF"/>
                </a:solidFill>
                <a:latin typeface="Calibri" pitchFamily="34" charset="0"/>
                <a:ea typeface="Calibri" pitchFamily="34" charset="-122"/>
                <a:cs typeface="Calibri" pitchFamily="34" charset="-120"/>
              </a:rPr>
              <a:t>, es </a:t>
            </a:r>
            <a:pPr indent="0" marL="0">
              <a:buNone/>
            </a:pPr>
            <a:r>
              <a:rPr lang="en-US" sz="1350" dirty="0">
                <a:solidFill>
                  <a:srgbClr val="E3B341"/>
                </a:solidFill>
                <a:latin typeface="Calibri" pitchFamily="34" charset="0"/>
                <a:ea typeface="Calibri" pitchFamily="34" charset="-122"/>
                <a:cs typeface="Calibri" pitchFamily="34" charset="-120"/>
              </a:rPr>
              <a:t>explicable, auditada por país, sin coste por norma y sin sacar datos del observatorio</a:t>
            </a:r>
            <a:pPr indent="0" marL="0">
              <a:buNone/>
            </a:pPr>
            <a:r>
              <a:rPr lang="en-US" sz="1350" dirty="0">
                <a:solidFill>
                  <a:srgbClr val="FFFFFF"/>
                </a:solidFill>
                <a:latin typeface="Calibri" pitchFamily="34" charset="0"/>
                <a:ea typeface="Calibri" pitchFamily="34" charset="-122"/>
                <a:cs typeface="Calibri" pitchFamily="34" charset="-120"/>
              </a:rPr>
              <a:t>.</a:t>
            </a:r>
            <a:endParaRPr lang="en-US" sz="1350" dirty="0"/>
          </a:p>
        </p:txBody>
      </p:sp>
      <p:sp>
        <p:nvSpPr>
          <p:cNvPr id="10" name="Shape 8"/>
          <p:cNvSpPr/>
          <p:nvPr/>
        </p:nvSpPr>
        <p:spPr>
          <a:xfrm>
            <a:off x="457200" y="3200400"/>
            <a:ext cx="2039112" cy="960120"/>
          </a:xfrm>
          <a:prstGeom prst="rect">
            <a:avLst/>
          </a:prstGeom>
          <a:solidFill>
            <a:srgbClr val="F3E6EA"/>
          </a:solidFill>
          <a:ln w="12700">
            <a:solidFill>
              <a:srgbClr val="F3E6EA"/>
            </a:solidFill>
            <a:prstDash val="solid"/>
          </a:ln>
        </p:spPr>
      </p:sp>
      <p:sp>
        <p:nvSpPr>
          <p:cNvPr id="11" name="Text 9"/>
          <p:cNvSpPr/>
          <p:nvPr/>
        </p:nvSpPr>
        <p:spPr>
          <a:xfrm>
            <a:off x="457200" y="3200400"/>
            <a:ext cx="2039112" cy="960120"/>
          </a:xfrm>
          <a:prstGeom prst="rect">
            <a:avLst/>
          </a:prstGeom>
          <a:noFill/>
          <a:ln/>
        </p:spPr>
        <p:txBody>
          <a:bodyPr wrap="square" rtlCol="0" anchor="ctr"/>
          <a:lstStyle/>
          <a:p>
            <a:pPr algn="ctr" indent="0" marL="0">
              <a:buNone/>
            </a:pPr>
            <a:r>
              <a:rPr lang="en-US" sz="1050" dirty="0">
                <a:solidFill>
                  <a:srgbClr val="1B1A19"/>
                </a:solidFill>
                <a:latin typeface="Calibri" pitchFamily="34" charset="0"/>
                <a:ea typeface="Calibri" pitchFamily="34" charset="-122"/>
                <a:cs typeface="Calibri" pitchFamily="34" charset="-120"/>
              </a:rPr>
              <a:t>1 · El codificador pega título y observaciones</a:t>
            </a:r>
            <a:endParaRPr lang="en-US" sz="1050" dirty="0"/>
          </a:p>
        </p:txBody>
      </p:sp>
      <p:sp>
        <p:nvSpPr>
          <p:cNvPr id="12" name="Text 10"/>
          <p:cNvSpPr/>
          <p:nvPr/>
        </p:nvSpPr>
        <p:spPr>
          <a:xfrm>
            <a:off x="2496312" y="3200400"/>
            <a:ext cx="182880" cy="960120"/>
          </a:xfrm>
          <a:prstGeom prst="rect">
            <a:avLst/>
          </a:prstGeom>
          <a:noFill/>
          <a:ln/>
        </p:spPr>
        <p:txBody>
          <a:bodyPr wrap="square" rtlCol="0" anchor="ctr"/>
          <a:lstStyle/>
          <a:p>
            <a:pPr algn="ctr" indent="0" marL="0">
              <a:buNone/>
            </a:pPr>
            <a:r>
              <a:rPr lang="en-US" sz="1400" dirty="0">
                <a:solidFill>
                  <a:srgbClr val="7A1F3D"/>
                </a:solidFill>
              </a:rPr>
              <a:t>→</a:t>
            </a:r>
            <a:endParaRPr lang="en-US" sz="1400" dirty="0"/>
          </a:p>
        </p:txBody>
      </p:sp>
      <p:sp>
        <p:nvSpPr>
          <p:cNvPr id="13" name="Shape 11"/>
          <p:cNvSpPr/>
          <p:nvPr/>
        </p:nvSpPr>
        <p:spPr>
          <a:xfrm>
            <a:off x="2679192" y="3200400"/>
            <a:ext cx="2039112" cy="960120"/>
          </a:xfrm>
          <a:prstGeom prst="rect">
            <a:avLst/>
          </a:prstGeom>
          <a:solidFill>
            <a:srgbClr val="F3E6EA"/>
          </a:solidFill>
          <a:ln w="12700">
            <a:solidFill>
              <a:srgbClr val="F3E6EA"/>
            </a:solidFill>
            <a:prstDash val="solid"/>
          </a:ln>
        </p:spPr>
      </p:sp>
      <p:sp>
        <p:nvSpPr>
          <p:cNvPr id="14" name="Text 12"/>
          <p:cNvSpPr/>
          <p:nvPr/>
        </p:nvSpPr>
        <p:spPr>
          <a:xfrm>
            <a:off x="2679192" y="3200400"/>
            <a:ext cx="2039112" cy="960120"/>
          </a:xfrm>
          <a:prstGeom prst="rect">
            <a:avLst/>
          </a:prstGeom>
          <a:noFill/>
          <a:ln/>
        </p:spPr>
        <p:txBody>
          <a:bodyPr wrap="square" rtlCol="0" anchor="ctr"/>
          <a:lstStyle/>
          <a:p>
            <a:pPr algn="ctr" indent="0" marL="0">
              <a:buNone/>
            </a:pPr>
            <a:r>
              <a:rPr lang="en-US" sz="1050" dirty="0">
                <a:solidFill>
                  <a:srgbClr val="1B1A19"/>
                </a:solidFill>
                <a:latin typeface="Calibri" pitchFamily="34" charset="0"/>
                <a:ea typeface="Calibri" pitchFamily="34" charset="-122"/>
                <a:cs typeface="Calibri" pitchFamily="34" charset="-120"/>
              </a:rPr>
              <a:t>2 · Propone dimensión + 2.ª candidata, confianza y palabras que pesaron</a:t>
            </a:r>
            <a:endParaRPr lang="en-US" sz="1050" dirty="0"/>
          </a:p>
        </p:txBody>
      </p:sp>
      <p:sp>
        <p:nvSpPr>
          <p:cNvPr id="15" name="Text 13"/>
          <p:cNvSpPr/>
          <p:nvPr/>
        </p:nvSpPr>
        <p:spPr>
          <a:xfrm>
            <a:off x="4718304" y="3200400"/>
            <a:ext cx="182880" cy="960120"/>
          </a:xfrm>
          <a:prstGeom prst="rect">
            <a:avLst/>
          </a:prstGeom>
          <a:noFill/>
          <a:ln/>
        </p:spPr>
        <p:txBody>
          <a:bodyPr wrap="square" rtlCol="0" anchor="ctr"/>
          <a:lstStyle/>
          <a:p>
            <a:pPr algn="ctr" indent="0" marL="0">
              <a:buNone/>
            </a:pPr>
            <a:r>
              <a:rPr lang="en-US" sz="1400" dirty="0">
                <a:solidFill>
                  <a:srgbClr val="7A1F3D"/>
                </a:solidFill>
              </a:rPr>
              <a:t>→</a:t>
            </a:r>
            <a:endParaRPr lang="en-US" sz="1400" dirty="0"/>
          </a:p>
        </p:txBody>
      </p:sp>
      <p:sp>
        <p:nvSpPr>
          <p:cNvPr id="16" name="Shape 14"/>
          <p:cNvSpPr/>
          <p:nvPr/>
        </p:nvSpPr>
        <p:spPr>
          <a:xfrm>
            <a:off x="4901184" y="3200400"/>
            <a:ext cx="2039112" cy="960120"/>
          </a:xfrm>
          <a:prstGeom prst="rect">
            <a:avLst/>
          </a:prstGeom>
          <a:solidFill>
            <a:srgbClr val="7A1F3D"/>
          </a:solidFill>
          <a:ln w="12700">
            <a:solidFill>
              <a:srgbClr val="7A1F3D"/>
            </a:solidFill>
            <a:prstDash val="solid"/>
          </a:ln>
        </p:spPr>
      </p:sp>
      <p:sp>
        <p:nvSpPr>
          <p:cNvPr id="17" name="Text 15"/>
          <p:cNvSpPr/>
          <p:nvPr/>
        </p:nvSpPr>
        <p:spPr>
          <a:xfrm>
            <a:off x="4901184" y="3200400"/>
            <a:ext cx="2039112" cy="960120"/>
          </a:xfrm>
          <a:prstGeom prst="rect">
            <a:avLst/>
          </a:prstGeom>
          <a:noFill/>
          <a:ln/>
        </p:spPr>
        <p:txBody>
          <a:bodyPr wrap="square"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3 · Regla de gobernanza: automática o revisión humana</a:t>
            </a:r>
            <a:endParaRPr lang="en-US" sz="1050" dirty="0"/>
          </a:p>
        </p:txBody>
      </p:sp>
      <p:sp>
        <p:nvSpPr>
          <p:cNvPr id="18" name="Shape 16"/>
          <p:cNvSpPr/>
          <p:nvPr/>
        </p:nvSpPr>
        <p:spPr>
          <a:xfrm>
            <a:off x="457200" y="4389120"/>
            <a:ext cx="6492240" cy="1874520"/>
          </a:xfrm>
          <a:prstGeom prst="rect">
            <a:avLst/>
          </a:prstGeom>
          <a:solidFill>
            <a:srgbClr val="FFFFFF"/>
          </a:solidFill>
          <a:ln w="12700">
            <a:solidFill>
              <a:srgbClr val="D9CFD2"/>
            </a:solidFill>
            <a:prstDash val="solid"/>
          </a:ln>
        </p:spPr>
      </p:sp>
      <p:sp>
        <p:nvSpPr>
          <p:cNvPr id="19" name="Text 17"/>
          <p:cNvSpPr/>
          <p:nvPr/>
        </p:nvSpPr>
        <p:spPr>
          <a:xfrm>
            <a:off x="594360" y="4462272"/>
            <a:ext cx="6217920" cy="292608"/>
          </a:xfrm>
          <a:prstGeom prst="rect">
            <a:avLst/>
          </a:prstGeom>
          <a:noFill/>
          <a:ln/>
        </p:spPr>
        <p:txBody>
          <a:bodyPr wrap="square" rtlCol="0" anchor="ctr"/>
          <a:lstStyle/>
          <a:p>
            <a:pPr indent="0" marL="0">
              <a:buNone/>
            </a:pPr>
            <a:r>
              <a:rPr lang="en-US" sz="1200" b="1" dirty="0">
                <a:solidFill>
                  <a:srgbClr val="7A1F3D"/>
                </a:solidFill>
                <a:latin typeface="Calibri" pitchFamily="34" charset="0"/>
                <a:ea typeface="Calibri" pitchFamily="34" charset="-122"/>
                <a:cs typeface="Calibri" pitchFamily="34" charset="-120"/>
              </a:rPr>
              <a:t>Sin jerga: qué hay detrás</a:t>
            </a:r>
            <a:endParaRPr lang="en-US" sz="1200" dirty="0"/>
          </a:p>
        </p:txBody>
      </p:sp>
      <p:sp>
        <p:nvSpPr>
          <p:cNvPr id="20" name="Text 18"/>
          <p:cNvSpPr/>
          <p:nvPr/>
        </p:nvSpPr>
        <p:spPr>
          <a:xfrm>
            <a:off x="594360" y="4773168"/>
            <a:ext cx="6217920" cy="1417320"/>
          </a:xfrm>
          <a:prstGeom prst="rect">
            <a:avLst/>
          </a:prstGeom>
          <a:noFill/>
          <a:ln/>
        </p:spPr>
        <p:txBody>
          <a:bodyPr wrap="square" rtlCol="0" anchor="t"/>
          <a:lstStyle/>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Aprendió de las 813 normas ya codificadas por GENIAL (título + observaciones)</a:t>
            </a:r>
            <a:endParaRPr lang="en-US" sz="1100" dirty="0"/>
          </a:p>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Modelo de texto lineal y explicable: 160 KB, se reentrena en 2 segundos, corre en un navegador</a:t>
            </a:r>
            <a:endParaRPr lang="en-US" sz="1100" dirty="0"/>
          </a:p>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Revisión humana obligatoria si la confianza es baja, el idioma no es español o el país tiene &lt; 20 normas</a:t>
            </a:r>
            <a:endParaRPr lang="en-US" sz="1100" dirty="0"/>
          </a:p>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Desplegado: genial-clasificador.streamlit.app · español / inglés · una norma o lote CSV</a:t>
            </a:r>
            <a:endParaRPr lang="en-US" sz="1100" dirty="0"/>
          </a:p>
        </p:txBody>
      </p:sp>
      <p:pic>
        <p:nvPicPr>
          <p:cNvPr id="21" name="Image 0" descr="/home/claude/repo_genial/app/assets/02_resultado.png">    </p:cNvPr>
          <p:cNvPicPr>
            <a:picLocks noChangeAspect="1"/>
          </p:cNvPicPr>
          <p:nvPr/>
        </p:nvPicPr>
        <p:blipFill>
          <a:blip r:embed="rId1"/>
          <a:srcRect l="0" r="0" t="0" b="0"/>
          <a:stretch/>
        </p:blipFill>
        <p:spPr>
          <a:xfrm>
            <a:off x="7178040" y="1371600"/>
            <a:ext cx="4572000" cy="3931920"/>
          </a:xfrm>
          <a:prstGeom prst="rect">
            <a:avLst/>
          </a:prstGeom>
        </p:spPr>
      </p:pic>
      <p:pic>
        <p:nvPicPr>
          <p:cNvPr id="22" name="Image 1" descr="/home/claude/repo_genial/results/reports/proyecto_final/qr_app.png">    </p:cNvPr>
          <p:cNvPicPr>
            <a:picLocks noChangeAspect="1"/>
          </p:cNvPicPr>
          <p:nvPr/>
        </p:nvPicPr>
        <p:blipFill>
          <a:blip r:embed="rId2"/>
          <a:stretch>
            <a:fillRect/>
          </a:stretch>
        </p:blipFill>
        <p:spPr>
          <a:xfrm>
            <a:off x="10652760" y="5257800"/>
            <a:ext cx="1051560" cy="1051560"/>
          </a:xfrm>
          <a:prstGeom prst="rect">
            <a:avLst/>
          </a:prstGeom>
        </p:spPr>
      </p:pic>
      <p:sp>
        <p:nvSpPr>
          <p:cNvPr id="23" name="Text 19"/>
          <p:cNvSpPr/>
          <p:nvPr/>
        </p:nvSpPr>
        <p:spPr>
          <a:xfrm>
            <a:off x="7178040" y="5440680"/>
            <a:ext cx="3383280" cy="457200"/>
          </a:xfrm>
          <a:prstGeom prst="rect">
            <a:avLst/>
          </a:prstGeom>
          <a:noFill/>
          <a:ln/>
        </p:spPr>
        <p:txBody>
          <a:bodyPr wrap="square" rtlCol="0" anchor="ctr"/>
          <a:lstStyle/>
          <a:p>
            <a:pPr indent="0" marL="0">
              <a:buNone/>
            </a:pPr>
            <a:r>
              <a:rPr lang="en-US" sz="950" dirty="0">
                <a:solidFill>
                  <a:srgbClr val="6E6862"/>
                </a:solidFill>
                <a:latin typeface="Calibri" pitchFamily="34" charset="0"/>
                <a:ea typeface="Calibri" pitchFamily="34" charset="-122"/>
                <a:cs typeface="Calibri" pitchFamily="34" charset="-120"/>
              </a:rPr>
              <a:t>Aplicación real (Streamlit) · QR → probarla</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7A1F3D"/>
          </a:solidFill>
          <a:ln w="12700">
            <a:solidFill>
              <a:srgbClr val="7A1F3D"/>
            </a:solidFill>
            <a:prstDash val="solid"/>
          </a:ln>
        </p:spPr>
      </p:sp>
      <p:sp>
        <p:nvSpPr>
          <p:cNvPr id="3" name="Text 1"/>
          <p:cNvSpPr/>
          <p:nvPr/>
        </p:nvSpPr>
        <p:spPr>
          <a:xfrm>
            <a:off x="457200" y="256032"/>
            <a:ext cx="7315200" cy="274320"/>
          </a:xfrm>
          <a:prstGeom prst="rect">
            <a:avLst/>
          </a:prstGeom>
          <a:noFill/>
          <a:ln/>
        </p:spPr>
        <p:txBody>
          <a:bodyPr wrap="square" rtlCol="0" anchor="ctr"/>
          <a:lstStyle/>
          <a:p>
            <a:pPr indent="0" marL="0">
              <a:buNone/>
            </a:pPr>
            <a:r>
              <a:rPr lang="en-US" sz="1100" b="1" spc="200" kern="0" dirty="0">
                <a:solidFill>
                  <a:srgbClr val="7A1F3D"/>
                </a:solidFill>
                <a:latin typeface="Calibri" pitchFamily="34" charset="0"/>
                <a:ea typeface="Calibri" pitchFamily="34" charset="-122"/>
                <a:cs typeface="Calibri" pitchFamily="34" charset="-120"/>
              </a:rPr>
              <a:t>4 · EVIDENCIA · FRENTE AL BASELINE</a:t>
            </a:r>
            <a:endParaRPr lang="en-US" sz="1100" dirty="0"/>
          </a:p>
        </p:txBody>
      </p:sp>
      <p:sp>
        <p:nvSpPr>
          <p:cNvPr id="4" name="Text 2"/>
          <p:cNvSpPr/>
          <p:nvPr/>
        </p:nvSpPr>
        <p:spPr>
          <a:xfrm>
            <a:off x="9418320" y="256032"/>
            <a:ext cx="2286000" cy="274320"/>
          </a:xfrm>
          <a:prstGeom prst="rect">
            <a:avLst/>
          </a:prstGeom>
          <a:noFill/>
          <a:ln/>
        </p:spPr>
        <p:txBody>
          <a:bodyPr wrap="square" rtlCol="0" anchor="ctr"/>
          <a:lstStyle/>
          <a:p>
            <a:pPr algn="r" indent="0" marL="0">
              <a:buNone/>
            </a:pPr>
            <a:r>
              <a:rPr lang="en-US" sz="1100" b="1" dirty="0">
                <a:solidFill>
                  <a:srgbClr val="6E6862"/>
                </a:solidFill>
                <a:latin typeface="Calibri" pitchFamily="34" charset="0"/>
                <a:ea typeface="Calibri" pitchFamily="34" charset="-122"/>
                <a:cs typeface="Calibri" pitchFamily="34" charset="-120"/>
              </a:rPr>
              <a:t>2:15 – 2:50</a:t>
            </a:r>
            <a:endParaRPr lang="en-US" sz="1100" dirty="0"/>
          </a:p>
        </p:txBody>
      </p:sp>
      <p:sp>
        <p:nvSpPr>
          <p:cNvPr id="5" name="Text 3"/>
          <p:cNvSpPr/>
          <p:nvPr/>
        </p:nvSpPr>
        <p:spPr>
          <a:xfrm>
            <a:off x="457200" y="502920"/>
            <a:ext cx="11247120" cy="731520"/>
          </a:xfrm>
          <a:prstGeom prst="rect">
            <a:avLst/>
          </a:prstGeom>
          <a:noFill/>
          <a:ln/>
        </p:spPr>
        <p:txBody>
          <a:bodyPr wrap="square" rtlCol="0" anchor="t"/>
          <a:lstStyle/>
          <a:p>
            <a:pPr indent="0" marL="0">
              <a:buNone/>
            </a:pPr>
            <a:r>
              <a:rPr lang="en-US" sz="2400" b="1" dirty="0">
                <a:solidFill>
                  <a:srgbClr val="1B1A19"/>
                </a:solidFill>
                <a:latin typeface="Cambria" pitchFamily="34" charset="0"/>
                <a:ea typeface="Cambria" pitchFamily="34" charset="-122"/>
                <a:cs typeface="Cambria" pitchFamily="34" charset="-120"/>
              </a:rPr>
              <a:t>De cada 100 normas: 36 · 54 · 67 · 64</a:t>
            </a:r>
            <a:endParaRPr lang="en-US" sz="2400" dirty="0"/>
          </a:p>
        </p:txBody>
      </p:sp>
      <p:sp>
        <p:nvSpPr>
          <p:cNvPr id="6" name="Text 4"/>
          <p:cNvSpPr/>
          <p:nvPr/>
        </p:nvSpPr>
        <p:spPr>
          <a:xfrm>
            <a:off x="457200" y="6446520"/>
            <a:ext cx="9144000" cy="274320"/>
          </a:xfrm>
          <a:prstGeom prst="rect">
            <a:avLst/>
          </a:prstGeom>
          <a:noFill/>
          <a:ln/>
        </p:spPr>
        <p:txBody>
          <a:bodyPr wrap="square"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 · github.com/jorgemaldonadom-cmd/genial-clasificador-normativa</a:t>
            </a:r>
            <a:endParaRPr lang="en-US" sz="900" dirty="0"/>
          </a:p>
        </p:txBody>
      </p:sp>
      <p:sp>
        <p:nvSpPr>
          <p:cNvPr id="7" name="Text 5"/>
          <p:cNvSpPr/>
          <p:nvPr/>
        </p:nvSpPr>
        <p:spPr>
          <a:xfrm>
            <a:off x="11247120" y="6446520"/>
            <a:ext cx="548640" cy="274320"/>
          </a:xfrm>
          <a:prstGeom prst="rect">
            <a:avLst/>
          </a:prstGeom>
          <a:noFill/>
          <a:ln/>
        </p:spPr>
        <p:txBody>
          <a:bodyPr wrap="square"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4 / 8</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47120" cy="914400"/>
        </p:xfrm>
        <a:graphic>
          <a:graphicData uri="http://schemas.openxmlformats.org/drawingml/2006/table">
            <a:tbl>
              <a:tblPr/>
              <a:tblGrid>
                <a:gridCol w="4206240"/>
                <a:gridCol w="1737360"/>
                <a:gridCol w="1188720"/>
                <a:gridCol w="2011680"/>
                <a:gridCol w="210312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Cómo se decide la dimensión</a:t>
                      </a:r>
                      <a:endParaRPr lang="en-US" sz="11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 cada 100 normas acierta</a:t>
                      </a:r>
                      <a:endParaRPr lang="en-US" sz="11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IC 95 %</a:t>
                      </a:r>
                      <a:endParaRPr lang="en-US" sz="11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Correcta entre las 2 propuestas</a:t>
                      </a:r>
                      <a:endParaRPr lang="en-US" sz="11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7A1F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Frente a nuestro modelo</a:t>
                      </a:r>
                      <a:endParaRPr lang="en-US" sz="11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7A1F3D"/>
                    </a:solidFill>
                  </a:tcPr>
                </a:tc>
              </a:tr>
              <a:tr h="457200">
                <a:tc>
                  <a:txBody>
                    <a:bodyPr/>
                    <a:lstStyle/>
                    <a:p>
                      <a:pPr algn="l" indent="0" marL="0">
                        <a:buNone/>
                      </a:pPr>
                      <a:r>
                        <a:rPr lang="en-US" sz="1200" dirty="0">
                          <a:solidFill>
                            <a:srgbClr val="1B1A19"/>
                          </a:solidFill>
                          <a:latin typeface="Calibri" pitchFamily="34" charset="0"/>
                          <a:ea typeface="Calibri" pitchFamily="34" charset="-122"/>
                          <a:cs typeface="Calibri" pitchFamily="34" charset="-120"/>
                        </a:rPr>
                        <a:t>Siempre la categoría más frecuente (baseline)</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28 – 45</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p &lt; 0.001</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1A19"/>
                          </a:solidFill>
                          <a:latin typeface="Calibri" pitchFamily="34" charset="0"/>
                          <a:ea typeface="Calibri" pitchFamily="34" charset="-122"/>
                          <a:cs typeface="Calibri" pitchFamily="34" charset="-120"/>
                        </a:rPr>
                        <a:t>Por el tipo de documento, sin leerlo (baseline)</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54</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46 – 63</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p = 0.012</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B1A19"/>
                          </a:solidFill>
                          <a:latin typeface="Calibri" pitchFamily="34" charset="0"/>
                          <a:ea typeface="Calibri" pitchFamily="34" charset="-122"/>
                          <a:cs typeface="Calibri" pitchFamily="34" charset="-120"/>
                        </a:rPr>
                        <a:t>Nuestro modelo (prueba ciega, modelo desplegado)</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3E6EA"/>
                    </a:solidFill>
                  </a:tcPr>
                </a:tc>
                <a:tc>
                  <a:txBody>
                    <a:bodyPr/>
                    <a:lstStyle/>
                    <a:p>
                      <a:pPr algn="ctr" indent="0" marL="0">
                        <a:buNone/>
                      </a:pPr>
                      <a:r>
                        <a:rPr lang="en-US" sz="1200" b="1" dirty="0">
                          <a:solidFill>
                            <a:srgbClr val="1B1A19"/>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3E6EA"/>
                    </a:solidFill>
                  </a:tcPr>
                </a:tc>
                <a:tc>
                  <a:txBody>
                    <a:bodyPr/>
                    <a:lstStyle/>
                    <a:p>
                      <a:pPr algn="ctr" indent="0" marL="0">
                        <a:buNone/>
                      </a:pPr>
                      <a:r>
                        <a:rPr lang="en-US" sz="1200" b="1" dirty="0">
                          <a:solidFill>
                            <a:srgbClr val="1B1A19"/>
                          </a:solidFill>
                          <a:latin typeface="Calibri" pitchFamily="34" charset="0"/>
                          <a:ea typeface="Calibri" pitchFamily="34" charset="-122"/>
                          <a:cs typeface="Calibri" pitchFamily="34" charset="-120"/>
                        </a:rPr>
                        <a:t>59 – 75</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3E6EA"/>
                    </a:solidFill>
                  </a:tcPr>
                </a:tc>
                <a:tc>
                  <a:txBody>
                    <a:bodyPr/>
                    <a:lstStyle/>
                    <a:p>
                      <a:pPr algn="ctr" indent="0" marL="0">
                        <a:buNone/>
                      </a:pPr>
                      <a:r>
                        <a:rPr lang="en-US" sz="1200" b="1" dirty="0">
                          <a:solidFill>
                            <a:srgbClr val="1B1A19"/>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3E6EA"/>
                    </a:solidFill>
                  </a:tcPr>
                </a:tc>
                <a:tc>
                  <a:txBody>
                    <a:bodyPr/>
                    <a:lstStyle/>
                    <a:p>
                      <a:pPr algn="ctr" indent="0" marL="0">
                        <a:buNone/>
                      </a:pPr>
                      <a:r>
                        <a:rPr lang="en-US" sz="1200" b="1" dirty="0">
                          <a:solidFill>
                            <a:srgbClr val="1B1A1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3E6EA"/>
                    </a:solidFill>
                  </a:tcPr>
                </a:tc>
              </a:tr>
              <a:tr h="457200">
                <a:tc>
                  <a:txBody>
                    <a:bodyPr/>
                    <a:lstStyle/>
                    <a:p>
                      <a:pPr algn="l" indent="0" marL="0">
                        <a:buNone/>
                      </a:pPr>
                      <a:r>
                        <a:rPr lang="en-US" sz="1200" dirty="0">
                          <a:solidFill>
                            <a:srgbClr val="1B1A19"/>
                          </a:solidFill>
                          <a:latin typeface="Calibri" pitchFamily="34" charset="0"/>
                          <a:ea typeface="Calibri" pitchFamily="34" charset="-122"/>
                          <a:cs typeface="Calibri" pitchFamily="34" charset="-120"/>
                        </a:rPr>
                        <a:t>Claude Sonnet con 15 ejemplos (3 corridas)</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55 – 72</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1A19"/>
                          </a:solidFill>
                          <a:latin typeface="Calibri" pitchFamily="34" charset="0"/>
                          <a:ea typeface="Calibri" pitchFamily="34" charset="-122"/>
                          <a:cs typeface="Calibri" pitchFamily="34" charset="-120"/>
                        </a:rPr>
                        <a:t>p = 0.61 · con coste y datos fuera</a:t>
                      </a:r>
                      <a:endParaRPr lang="en-US" sz="120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r>
            </a:tbl>
          </a:graphicData>
        </a:graphic>
      </p:graphicFrame>
      <p:sp>
        <p:nvSpPr>
          <p:cNvPr id="9" name="Text 6"/>
          <p:cNvSpPr/>
          <p:nvPr/>
        </p:nvSpPr>
        <p:spPr>
          <a:xfrm>
            <a:off x="457200" y="3794760"/>
            <a:ext cx="11247120" cy="411480"/>
          </a:xfrm>
          <a:prstGeom prst="rect">
            <a:avLst/>
          </a:prstGeom>
          <a:noFill/>
          <a:ln/>
        </p:spPr>
        <p:txBody>
          <a:bodyPr wrap="square" rtlCol="0" anchor="ctr"/>
          <a:lstStyle/>
          <a:p>
            <a:pPr indent="0" marL="0">
              <a:buNone/>
            </a:pPr>
            <a:r>
              <a:rPr lang="en-US" sz="950" i="1" dirty="0">
                <a:solidFill>
                  <a:srgbClr val="6E6862"/>
                </a:solidFill>
                <a:latin typeface="Calibri" pitchFamily="34" charset="0"/>
                <a:ea typeface="Calibri" pitchFamily="34" charset="-122"/>
                <a:cs typeface="Calibri" pitchFamily="34" charset="-120"/>
              </a:rPr>
              <a:t>Prueba ciega: 125 normas codificadas por un investigador de GENIAL, nunca vistas por el modelo · intervalos de Wilson · McNemar pareado · métricas técnicas (F1 macro 0.63 [0.53, 0.72], κ 0.54) en results/metrics/</a:t>
            </a:r>
            <a:endParaRPr lang="en-US" sz="950" dirty="0"/>
          </a:p>
        </p:txBody>
      </p:sp>
      <p:sp>
        <p:nvSpPr>
          <p:cNvPr id="10" name="Shape 7"/>
          <p:cNvSpPr/>
          <p:nvPr/>
        </p:nvSpPr>
        <p:spPr>
          <a:xfrm>
            <a:off x="457200" y="4343400"/>
            <a:ext cx="3566160" cy="1463040"/>
          </a:xfrm>
          <a:prstGeom prst="rect">
            <a:avLst/>
          </a:prstGeom>
          <a:solidFill>
            <a:srgbClr val="F3E6EA"/>
          </a:solidFill>
          <a:ln w="12700">
            <a:solidFill>
              <a:srgbClr val="F3E6EA"/>
            </a:solidFill>
            <a:prstDash val="solid"/>
          </a:ln>
        </p:spPr>
      </p:sp>
      <p:sp>
        <p:nvSpPr>
          <p:cNvPr id="11" name="Text 8"/>
          <p:cNvSpPr/>
          <p:nvPr/>
        </p:nvSpPr>
        <p:spPr>
          <a:xfrm>
            <a:off x="566928" y="4398264"/>
            <a:ext cx="3346704" cy="760781"/>
          </a:xfrm>
          <a:prstGeom prst="rect">
            <a:avLst/>
          </a:prstGeom>
          <a:noFill/>
          <a:ln/>
        </p:spPr>
        <p:txBody>
          <a:bodyPr wrap="square" rtlCol="0" anchor="b"/>
          <a:lstStyle/>
          <a:p>
            <a:pPr indent="0" marL="0">
              <a:buNone/>
            </a:pPr>
            <a:r>
              <a:rPr lang="en-US" sz="3000" b="1" dirty="0">
                <a:solidFill>
                  <a:srgbClr val="7A1F3D"/>
                </a:solidFill>
                <a:latin typeface="Cambria" pitchFamily="34" charset="0"/>
                <a:ea typeface="Cambria" pitchFamily="34" charset="-122"/>
                <a:cs typeface="Cambria" pitchFamily="34" charset="-120"/>
              </a:rPr>
              <a:t>86 de 100</a:t>
            </a:r>
            <a:endParaRPr lang="en-US" sz="3000" dirty="0"/>
          </a:p>
        </p:txBody>
      </p:sp>
      <p:sp>
        <p:nvSpPr>
          <p:cNvPr id="12" name="Text 9"/>
          <p:cNvSpPr/>
          <p:nvPr/>
        </p:nvSpPr>
        <p:spPr>
          <a:xfrm>
            <a:off x="566928" y="5162702"/>
            <a:ext cx="3346704" cy="614477"/>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la dimensión correcta está entre las dos propuestas: el codificador elige entre 2, no entre 5</a:t>
            </a:r>
            <a:endParaRPr lang="en-US" sz="1050" dirty="0"/>
          </a:p>
        </p:txBody>
      </p:sp>
      <p:sp>
        <p:nvSpPr>
          <p:cNvPr id="13" name="Shape 10"/>
          <p:cNvSpPr/>
          <p:nvPr/>
        </p:nvSpPr>
        <p:spPr>
          <a:xfrm>
            <a:off x="4297680" y="4343400"/>
            <a:ext cx="3566160" cy="1463040"/>
          </a:xfrm>
          <a:prstGeom prst="rect">
            <a:avLst/>
          </a:prstGeom>
          <a:solidFill>
            <a:srgbClr val="F3E6EA"/>
          </a:solidFill>
          <a:ln w="12700">
            <a:solidFill>
              <a:srgbClr val="F3E6EA"/>
            </a:solidFill>
            <a:prstDash val="solid"/>
          </a:ln>
        </p:spPr>
      </p:sp>
      <p:sp>
        <p:nvSpPr>
          <p:cNvPr id="14" name="Text 11"/>
          <p:cNvSpPr/>
          <p:nvPr/>
        </p:nvSpPr>
        <p:spPr>
          <a:xfrm>
            <a:off x="4407408" y="4398264"/>
            <a:ext cx="3346704" cy="760781"/>
          </a:xfrm>
          <a:prstGeom prst="rect">
            <a:avLst/>
          </a:prstGeom>
          <a:noFill/>
          <a:ln/>
        </p:spPr>
        <p:txBody>
          <a:bodyPr wrap="square" rtlCol="0" anchor="b"/>
          <a:lstStyle/>
          <a:p>
            <a:pPr indent="0" marL="0">
              <a:buNone/>
            </a:pPr>
            <a:r>
              <a:rPr lang="en-US" sz="3000" b="1" dirty="0">
                <a:solidFill>
                  <a:srgbClr val="2E6B3A"/>
                </a:solidFill>
                <a:latin typeface="Cambria" pitchFamily="34" charset="0"/>
                <a:ea typeface="Cambria" pitchFamily="34" charset="-122"/>
                <a:cs typeface="Cambria" pitchFamily="34" charset="-120"/>
              </a:rPr>
              <a:t>+13 / +31</a:t>
            </a:r>
            <a:endParaRPr lang="en-US" sz="3000" dirty="0"/>
          </a:p>
        </p:txBody>
      </p:sp>
      <p:sp>
        <p:nvSpPr>
          <p:cNvPr id="15" name="Text 12"/>
          <p:cNvSpPr/>
          <p:nvPr/>
        </p:nvSpPr>
        <p:spPr>
          <a:xfrm>
            <a:off x="4407408" y="5162702"/>
            <a:ext cx="3346704" cy="614477"/>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normas más acertadas de cada 100 frente a las dos líneas base, con significación estadística</a:t>
            </a:r>
            <a:endParaRPr lang="en-US" sz="1050" dirty="0"/>
          </a:p>
        </p:txBody>
      </p:sp>
      <p:sp>
        <p:nvSpPr>
          <p:cNvPr id="16" name="Shape 13"/>
          <p:cNvSpPr/>
          <p:nvPr/>
        </p:nvSpPr>
        <p:spPr>
          <a:xfrm>
            <a:off x="8138160" y="4343400"/>
            <a:ext cx="3593592" cy="1463040"/>
          </a:xfrm>
          <a:prstGeom prst="rect">
            <a:avLst/>
          </a:prstGeom>
          <a:solidFill>
            <a:srgbClr val="F3E6EA"/>
          </a:solidFill>
          <a:ln w="12700">
            <a:solidFill>
              <a:srgbClr val="F3E6EA"/>
            </a:solidFill>
            <a:prstDash val="solid"/>
          </a:ln>
        </p:spPr>
      </p:sp>
      <p:sp>
        <p:nvSpPr>
          <p:cNvPr id="17" name="Text 14"/>
          <p:cNvSpPr/>
          <p:nvPr/>
        </p:nvSpPr>
        <p:spPr>
          <a:xfrm>
            <a:off x="8247888" y="4398264"/>
            <a:ext cx="3374136" cy="760781"/>
          </a:xfrm>
          <a:prstGeom prst="rect">
            <a:avLst/>
          </a:prstGeom>
          <a:noFill/>
          <a:ln/>
        </p:spPr>
        <p:txBody>
          <a:bodyPr wrap="square" rtlCol="0" anchor="b"/>
          <a:lstStyle/>
          <a:p>
            <a:pPr indent="0" marL="0">
              <a:buNone/>
            </a:pPr>
            <a:r>
              <a:rPr lang="en-US" sz="3000" b="1" dirty="0">
                <a:solidFill>
                  <a:srgbClr val="7A1F3D"/>
                </a:solidFill>
                <a:latin typeface="Cambria" pitchFamily="34" charset="0"/>
                <a:ea typeface="Cambria" pitchFamily="34" charset="-122"/>
                <a:cs typeface="Cambria" pitchFamily="34" charset="-120"/>
              </a:rPr>
              <a:t>= LLM</a:t>
            </a:r>
            <a:endParaRPr lang="en-US" sz="3000" dirty="0"/>
          </a:p>
        </p:txBody>
      </p:sp>
      <p:sp>
        <p:nvSpPr>
          <p:cNvPr id="18" name="Text 15"/>
          <p:cNvSpPr/>
          <p:nvPr/>
        </p:nvSpPr>
        <p:spPr>
          <a:xfrm>
            <a:off x="8247888" y="5162702"/>
            <a:ext cx="3374136" cy="614477"/>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un modelo pequeño entrenado con 813 normas iguala a un LLM few-shot, sin API ni envío de texto</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7A1F3D"/>
          </a:solidFill>
          <a:ln w="12700">
            <a:solidFill>
              <a:srgbClr val="7A1F3D"/>
            </a:solidFill>
            <a:prstDash val="solid"/>
          </a:ln>
        </p:spPr>
      </p:sp>
      <p:sp>
        <p:nvSpPr>
          <p:cNvPr id="3" name="Text 1"/>
          <p:cNvSpPr/>
          <p:nvPr/>
        </p:nvSpPr>
        <p:spPr>
          <a:xfrm>
            <a:off x="457200" y="256032"/>
            <a:ext cx="7315200" cy="274320"/>
          </a:xfrm>
          <a:prstGeom prst="rect">
            <a:avLst/>
          </a:prstGeom>
          <a:noFill/>
          <a:ln/>
        </p:spPr>
        <p:txBody>
          <a:bodyPr wrap="square" rtlCol="0" anchor="ctr"/>
          <a:lstStyle/>
          <a:p>
            <a:pPr indent="0" marL="0">
              <a:buNone/>
            </a:pPr>
            <a:r>
              <a:rPr lang="en-US" sz="1100" b="1" spc="200" kern="0" dirty="0">
                <a:solidFill>
                  <a:srgbClr val="7A1F3D"/>
                </a:solidFill>
                <a:latin typeface="Calibri" pitchFamily="34" charset="0"/>
                <a:ea typeface="Calibri" pitchFamily="34" charset="-122"/>
                <a:cs typeface="Calibri" pitchFamily="34" charset="-120"/>
              </a:rPr>
              <a:t>5 · EVIDENCIA · UN CASO REAL Y UN LÍMITE</a:t>
            </a:r>
            <a:endParaRPr lang="en-US" sz="1100" dirty="0"/>
          </a:p>
        </p:txBody>
      </p:sp>
      <p:sp>
        <p:nvSpPr>
          <p:cNvPr id="4" name="Text 2"/>
          <p:cNvSpPr/>
          <p:nvPr/>
        </p:nvSpPr>
        <p:spPr>
          <a:xfrm>
            <a:off x="9418320" y="256032"/>
            <a:ext cx="2286000" cy="274320"/>
          </a:xfrm>
          <a:prstGeom prst="rect">
            <a:avLst/>
          </a:prstGeom>
          <a:noFill/>
          <a:ln/>
        </p:spPr>
        <p:txBody>
          <a:bodyPr wrap="square" rtlCol="0" anchor="ctr"/>
          <a:lstStyle/>
          <a:p>
            <a:pPr algn="r" indent="0" marL="0">
              <a:buNone/>
            </a:pPr>
            <a:r>
              <a:rPr lang="en-US" sz="1100" b="1" dirty="0">
                <a:solidFill>
                  <a:srgbClr val="6E6862"/>
                </a:solidFill>
                <a:latin typeface="Calibri" pitchFamily="34" charset="0"/>
                <a:ea typeface="Calibri" pitchFamily="34" charset="-122"/>
                <a:cs typeface="Calibri" pitchFamily="34" charset="-120"/>
              </a:rPr>
              <a:t>2:50 – 3:15</a:t>
            </a:r>
            <a:endParaRPr lang="en-US" sz="1100" dirty="0"/>
          </a:p>
        </p:txBody>
      </p:sp>
      <p:sp>
        <p:nvSpPr>
          <p:cNvPr id="5" name="Text 3"/>
          <p:cNvSpPr/>
          <p:nvPr/>
        </p:nvSpPr>
        <p:spPr>
          <a:xfrm>
            <a:off x="457200" y="502920"/>
            <a:ext cx="11247120" cy="731520"/>
          </a:xfrm>
          <a:prstGeom prst="rect">
            <a:avLst/>
          </a:prstGeom>
          <a:noFill/>
          <a:ln/>
        </p:spPr>
        <p:txBody>
          <a:bodyPr wrap="square" rtlCol="0" anchor="t"/>
          <a:lstStyle/>
          <a:p>
            <a:pPr indent="0" marL="0">
              <a:buNone/>
            </a:pPr>
            <a:r>
              <a:rPr lang="en-US" sz="2400" b="1" dirty="0">
                <a:solidFill>
                  <a:srgbClr val="1B1A19"/>
                </a:solidFill>
                <a:latin typeface="Cambria" pitchFamily="34" charset="0"/>
                <a:ea typeface="Cambria" pitchFamily="34" charset="-122"/>
                <a:cs typeface="Cambria" pitchFamily="34" charset="-120"/>
              </a:rPr>
              <a:t>Un caso real: la política de privacidad de la UTPL</a:t>
            </a:r>
            <a:endParaRPr lang="en-US" sz="2400" dirty="0"/>
          </a:p>
        </p:txBody>
      </p:sp>
      <p:sp>
        <p:nvSpPr>
          <p:cNvPr id="6" name="Text 4"/>
          <p:cNvSpPr/>
          <p:nvPr/>
        </p:nvSpPr>
        <p:spPr>
          <a:xfrm>
            <a:off x="457200" y="6446520"/>
            <a:ext cx="9144000" cy="274320"/>
          </a:xfrm>
          <a:prstGeom prst="rect">
            <a:avLst/>
          </a:prstGeom>
          <a:noFill/>
          <a:ln/>
        </p:spPr>
        <p:txBody>
          <a:bodyPr wrap="square"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 · github.com/jorgemaldonadom-cmd/genial-clasificador-normativa</a:t>
            </a:r>
            <a:endParaRPr lang="en-US" sz="900" dirty="0"/>
          </a:p>
        </p:txBody>
      </p:sp>
      <p:sp>
        <p:nvSpPr>
          <p:cNvPr id="7" name="Text 5"/>
          <p:cNvSpPr/>
          <p:nvPr/>
        </p:nvSpPr>
        <p:spPr>
          <a:xfrm>
            <a:off x="11247120" y="6446520"/>
            <a:ext cx="548640" cy="274320"/>
          </a:xfrm>
          <a:prstGeom prst="rect">
            <a:avLst/>
          </a:prstGeom>
          <a:noFill/>
          <a:ln/>
        </p:spPr>
        <p:txBody>
          <a:bodyPr wrap="square"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5 / 8</a:t>
            </a:r>
            <a:endParaRPr lang="en-US" sz="900" dirty="0"/>
          </a:p>
        </p:txBody>
      </p:sp>
      <p:pic>
        <p:nvPicPr>
          <p:cNvPr id="8" name="Image 0" descr="/home/claude/pitch2/app_266_crop.png">    </p:cNvPr>
          <p:cNvPicPr>
            <a:picLocks noChangeAspect="1"/>
          </p:cNvPicPr>
          <p:nvPr/>
        </p:nvPicPr>
        <p:blipFill>
          <a:blip r:embed="rId1"/>
          <a:srcRect l="0" r="0" t="0" b="0"/>
          <a:stretch/>
        </p:blipFill>
        <p:spPr>
          <a:xfrm>
            <a:off x="457200" y="1371600"/>
            <a:ext cx="5486400" cy="4160520"/>
          </a:xfrm>
          <a:prstGeom prst="rect">
            <a:avLst/>
          </a:prstGeom>
        </p:spPr>
      </p:pic>
      <p:sp>
        <p:nvSpPr>
          <p:cNvPr id="9" name="Text 6"/>
          <p:cNvSpPr/>
          <p:nvPr/>
        </p:nvSpPr>
        <p:spPr>
          <a:xfrm>
            <a:off x="457200" y="5577840"/>
            <a:ext cx="5486400" cy="457200"/>
          </a:xfrm>
          <a:prstGeom prst="rect">
            <a:avLst/>
          </a:prstGeom>
          <a:noFill/>
          <a:ln/>
        </p:spPr>
        <p:txBody>
          <a:bodyPr wrap="square" rtlCol="0" anchor="ctr"/>
          <a:lstStyle/>
          <a:p>
            <a:pPr algn="ctr" indent="0" marL="0">
              <a:buNone/>
            </a:pPr>
            <a:r>
              <a:rPr lang="en-US" sz="900" i="1" dirty="0">
                <a:solidFill>
                  <a:srgbClr val="6E6862"/>
                </a:solidFill>
                <a:latin typeface="Calibri" pitchFamily="34" charset="0"/>
                <a:ea typeface="Calibri" pitchFamily="34" charset="-122"/>
                <a:cs typeface="Calibri" pitchFamily="34" charset="-120"/>
              </a:rPr>
              <a:t>Captura real de la aplicación con la norma 266 · en el video puede sustituirse por una grabación de pantalla de 20 s</a:t>
            </a:r>
            <a:endParaRPr lang="en-US" sz="900" dirty="0"/>
          </a:p>
        </p:txBody>
      </p:sp>
      <p:sp>
        <p:nvSpPr>
          <p:cNvPr id="10" name="Shape 7"/>
          <p:cNvSpPr/>
          <p:nvPr/>
        </p:nvSpPr>
        <p:spPr>
          <a:xfrm>
            <a:off x="6172200" y="1371600"/>
            <a:ext cx="5559552" cy="2377440"/>
          </a:xfrm>
          <a:prstGeom prst="rect">
            <a:avLst/>
          </a:prstGeom>
          <a:solidFill>
            <a:srgbClr val="FFFFFF"/>
          </a:solidFill>
          <a:ln w="12700">
            <a:solidFill>
              <a:srgbClr val="D9CFD2"/>
            </a:solidFill>
            <a:prstDash val="solid"/>
          </a:ln>
        </p:spPr>
      </p:sp>
      <p:sp>
        <p:nvSpPr>
          <p:cNvPr id="11" name="Text 8"/>
          <p:cNvSpPr/>
          <p:nvPr/>
        </p:nvSpPr>
        <p:spPr>
          <a:xfrm>
            <a:off x="6309360" y="1444752"/>
            <a:ext cx="5285232" cy="292608"/>
          </a:xfrm>
          <a:prstGeom prst="rect">
            <a:avLst/>
          </a:prstGeom>
          <a:noFill/>
          <a:ln/>
        </p:spPr>
        <p:txBody>
          <a:bodyPr wrap="square" rtlCol="0" anchor="ctr"/>
          <a:lstStyle/>
          <a:p>
            <a:pPr indent="0" marL="0">
              <a:buNone/>
            </a:pPr>
            <a:r>
              <a:rPr lang="en-US" sz="1200" b="1" dirty="0">
                <a:solidFill>
                  <a:srgbClr val="7A1F3D"/>
                </a:solidFill>
                <a:latin typeface="Calibri" pitchFamily="34" charset="0"/>
                <a:ea typeface="Calibri" pitchFamily="34" charset="-122"/>
                <a:cs typeface="Calibri" pitchFamily="34" charset="-120"/>
              </a:rPr>
              <a:t>Entrada real · norma 266 (Ecuador)</a:t>
            </a:r>
            <a:endParaRPr lang="en-US" sz="1200" dirty="0"/>
          </a:p>
        </p:txBody>
      </p:sp>
      <p:sp>
        <p:nvSpPr>
          <p:cNvPr id="12" name="Text 9"/>
          <p:cNvSpPr/>
          <p:nvPr/>
        </p:nvSpPr>
        <p:spPr>
          <a:xfrm>
            <a:off x="6309360" y="1755648"/>
            <a:ext cx="5285232" cy="1920240"/>
          </a:xfrm>
          <a:prstGeom prst="rect">
            <a:avLst/>
          </a:prstGeom>
          <a:noFill/>
          <a:ln/>
        </p:spPr>
        <p:txBody>
          <a:bodyPr wrap="square" rtlCol="0" anchor="t"/>
          <a:lstStyle/>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Título: Política de privacidad de la Universidad Técnica Particular de Loja</a:t>
            </a:r>
            <a:endParaRPr lang="en-US" sz="1100" dirty="0"/>
          </a:p>
          <a:p>
            <a:pPr marL="152400" indent="-152400">
              <a:spcAft>
                <a:spcPts val="300"/>
              </a:spcAft>
              <a:buSzPct val="100000"/>
              <a:buChar char="•"/>
            </a:pPr>
            <a:r>
              <a:rPr lang="en-US" sz="1100" dirty="0">
                <a:solidFill>
                  <a:srgbClr val="1B1A19"/>
                </a:solidFill>
                <a:latin typeface="Calibri" pitchFamily="34" charset="0"/>
                <a:ea typeface="Calibri" pitchFamily="34" charset="-122"/>
                <a:cs typeface="Calibri" pitchFamily="34" charset="-120"/>
              </a:rPr>
              <a:t>Observaciones: tratamiento de datos personales de la comunidad universitaria; alineada con la LOPDP; sin articulado específico sobre IA</a:t>
            </a:r>
            <a:endParaRPr lang="en-US" sz="1100" dirty="0"/>
          </a:p>
        </p:txBody>
      </p:sp>
      <p:sp>
        <p:nvSpPr>
          <p:cNvPr id="13" name="Shape 10"/>
          <p:cNvSpPr/>
          <p:nvPr/>
        </p:nvSpPr>
        <p:spPr>
          <a:xfrm>
            <a:off x="6172200" y="3886200"/>
            <a:ext cx="2697480" cy="2377440"/>
          </a:xfrm>
          <a:prstGeom prst="rect">
            <a:avLst/>
          </a:prstGeom>
          <a:solidFill>
            <a:srgbClr val="F3E6EA"/>
          </a:solidFill>
          <a:ln w="12700">
            <a:solidFill>
              <a:srgbClr val="F3E6EA"/>
            </a:solidFill>
            <a:prstDash val="solid"/>
          </a:ln>
        </p:spPr>
      </p:sp>
      <p:sp>
        <p:nvSpPr>
          <p:cNvPr id="14" name="Text 11"/>
          <p:cNvSpPr/>
          <p:nvPr/>
        </p:nvSpPr>
        <p:spPr>
          <a:xfrm>
            <a:off x="6309360" y="3959352"/>
            <a:ext cx="2423160" cy="292608"/>
          </a:xfrm>
          <a:prstGeom prst="rect">
            <a:avLst/>
          </a:prstGeom>
          <a:noFill/>
          <a:ln/>
        </p:spPr>
        <p:txBody>
          <a:bodyPr wrap="square" rtlCol="0" anchor="ctr"/>
          <a:lstStyle/>
          <a:p>
            <a:pPr indent="0" marL="0">
              <a:buNone/>
            </a:pPr>
            <a:r>
              <a:rPr lang="en-US" sz="1200" b="1" dirty="0">
                <a:solidFill>
                  <a:srgbClr val="7A1F3D"/>
                </a:solidFill>
                <a:latin typeface="Calibri" pitchFamily="34" charset="0"/>
                <a:ea typeface="Calibri" pitchFamily="34" charset="-122"/>
                <a:cs typeface="Calibri" pitchFamily="34" charset="-120"/>
              </a:rPr>
              <a:t>Salida del sistema</a:t>
            </a:r>
            <a:endParaRPr lang="en-US" sz="1200" dirty="0"/>
          </a:p>
        </p:txBody>
      </p:sp>
      <p:sp>
        <p:nvSpPr>
          <p:cNvPr id="15" name="Text 12"/>
          <p:cNvSpPr/>
          <p:nvPr/>
        </p:nvSpPr>
        <p:spPr>
          <a:xfrm>
            <a:off x="6309360" y="4270248"/>
            <a:ext cx="2423160" cy="1920240"/>
          </a:xfrm>
          <a:prstGeom prst="rect">
            <a:avLst/>
          </a:prstGeom>
          <a:noFill/>
          <a:ln/>
        </p:spPr>
        <p:txBody>
          <a:bodyPr wrap="square" rtlCol="0" anchor="t"/>
          <a:lstStyle/>
          <a:p>
            <a:pPr marL="152400" indent="-152400">
              <a:spcAft>
                <a:spcPts val="300"/>
              </a:spcAft>
              <a:buSzPct val="100000"/>
              <a:buChar char="•"/>
            </a:pPr>
            <a:r>
              <a:rPr lang="en-US" sz="1050" dirty="0">
                <a:solidFill>
                  <a:srgbClr val="1B1A19"/>
                </a:solidFill>
                <a:latin typeface="Calibri" pitchFamily="34" charset="0"/>
                <a:ea typeface="Calibri" pitchFamily="34" charset="-122"/>
                <a:cs typeface="Calibri" pitchFamily="34" charset="-120"/>
              </a:rPr>
              <a:t>Protección de Datos · 62 %</a:t>
            </a:r>
            <a:endParaRPr lang="en-US" sz="1050" dirty="0"/>
          </a:p>
          <a:p>
            <a:pPr marL="152400" indent="-152400">
              <a:spcAft>
                <a:spcPts val="300"/>
              </a:spcAft>
              <a:buSzPct val="100000"/>
              <a:buChar char="•"/>
            </a:pPr>
            <a:r>
              <a:rPr lang="en-US" sz="1050" dirty="0">
                <a:solidFill>
                  <a:srgbClr val="1B1A19"/>
                </a:solidFill>
                <a:latin typeface="Calibri" pitchFamily="34" charset="0"/>
                <a:ea typeface="Calibri" pitchFamily="34" charset="-122"/>
                <a:cs typeface="Calibri" pitchFamily="34" charset="-120"/>
              </a:rPr>
              <a:t>2.ª: Administrativo</a:t>
            </a:r>
            <a:endParaRPr lang="en-US" sz="1050" dirty="0"/>
          </a:p>
          <a:p>
            <a:pPr marL="152400" indent="-152400">
              <a:spcAft>
                <a:spcPts val="300"/>
              </a:spcAft>
              <a:buSzPct val="100000"/>
              <a:buChar char="•"/>
            </a:pPr>
            <a:r>
              <a:rPr lang="en-US" sz="1050" dirty="0">
                <a:solidFill>
                  <a:srgbClr val="1B1A19"/>
                </a:solidFill>
                <a:latin typeface="Calibri" pitchFamily="34" charset="0"/>
                <a:ea typeface="Calibri" pitchFamily="34" charset="-122"/>
                <a:cs typeface="Calibri" pitchFamily="34" charset="-120"/>
              </a:rPr>
              <a:t>Términos: «privacidad», «datos personales», «tratamiento»</a:t>
            </a:r>
            <a:endParaRPr lang="en-US" sz="1050" dirty="0"/>
          </a:p>
          <a:p>
            <a:pPr marL="152400" indent="-152400">
              <a:spcAft>
                <a:spcPts val="300"/>
              </a:spcAft>
              <a:buSzPct val="100000"/>
              <a:buChar char="•"/>
            </a:pPr>
            <a:r>
              <a:rPr lang="en-US" sz="1050" dirty="0">
                <a:solidFill>
                  <a:srgbClr val="1B1A19"/>
                </a:solidFill>
                <a:latin typeface="Calibri" pitchFamily="34" charset="0"/>
                <a:ea typeface="Calibri" pitchFamily="34" charset="-122"/>
                <a:cs typeface="Calibri" pitchFamily="34" charset="-120"/>
              </a:rPr>
              <a:t>Tramo automático (verde)</a:t>
            </a:r>
            <a:endParaRPr lang="en-US" sz="1050" dirty="0"/>
          </a:p>
        </p:txBody>
      </p:sp>
      <p:sp>
        <p:nvSpPr>
          <p:cNvPr id="16" name="Shape 13"/>
          <p:cNvSpPr/>
          <p:nvPr/>
        </p:nvSpPr>
        <p:spPr>
          <a:xfrm>
            <a:off x="9034272" y="3886200"/>
            <a:ext cx="2697480" cy="2377440"/>
          </a:xfrm>
          <a:prstGeom prst="rect">
            <a:avLst/>
          </a:prstGeom>
          <a:solidFill>
            <a:srgbClr val="FFFFFF"/>
          </a:solidFill>
          <a:ln w="12700">
            <a:solidFill>
              <a:srgbClr val="A8650F"/>
            </a:solidFill>
            <a:prstDash val="solid"/>
          </a:ln>
        </p:spPr>
      </p:sp>
      <p:sp>
        <p:nvSpPr>
          <p:cNvPr id="17" name="Text 14"/>
          <p:cNvSpPr/>
          <p:nvPr/>
        </p:nvSpPr>
        <p:spPr>
          <a:xfrm>
            <a:off x="9171432" y="3959352"/>
            <a:ext cx="2423160" cy="292608"/>
          </a:xfrm>
          <a:prstGeom prst="rect">
            <a:avLst/>
          </a:prstGeom>
          <a:noFill/>
          <a:ln/>
        </p:spPr>
        <p:txBody>
          <a:bodyPr wrap="square" rtlCol="0" anchor="ctr"/>
          <a:lstStyle/>
          <a:p>
            <a:pPr indent="0" marL="0">
              <a:buNone/>
            </a:pPr>
            <a:r>
              <a:rPr lang="en-US" sz="1200" b="1" dirty="0">
                <a:solidFill>
                  <a:srgbClr val="A8650F"/>
                </a:solidFill>
                <a:latin typeface="Calibri" pitchFamily="34" charset="0"/>
                <a:ea typeface="Calibri" pitchFamily="34" charset="-122"/>
                <a:cs typeface="Calibri" pitchFamily="34" charset="-120"/>
              </a:rPr>
              <a:t>El límite honesto</a:t>
            </a:r>
            <a:endParaRPr lang="en-US" sz="1200" dirty="0"/>
          </a:p>
        </p:txBody>
      </p:sp>
      <p:sp>
        <p:nvSpPr>
          <p:cNvPr id="18" name="Text 15"/>
          <p:cNvSpPr/>
          <p:nvPr/>
        </p:nvSpPr>
        <p:spPr>
          <a:xfrm>
            <a:off x="9171432" y="4270248"/>
            <a:ext cx="2423160" cy="1920240"/>
          </a:xfrm>
          <a:prstGeom prst="rect">
            <a:avLst/>
          </a:prstGeom>
          <a:noFill/>
          <a:ln/>
        </p:spPr>
        <p:txBody>
          <a:bodyPr wrap="square" rtlCol="0" anchor="t"/>
          <a:lstStyle/>
          <a:p>
            <a:pPr marL="152400" indent="-152400">
              <a:spcAft>
                <a:spcPts val="300"/>
              </a:spcAft>
              <a:buSzPct val="100000"/>
              <a:buChar char="•"/>
            </a:pPr>
            <a:r>
              <a:rPr lang="en-US" sz="1050" dirty="0">
                <a:solidFill>
                  <a:srgbClr val="1B1A19"/>
                </a:solidFill>
                <a:latin typeface="Calibri" pitchFamily="34" charset="0"/>
                <a:ea typeface="Calibri" pitchFamily="34" charset="-122"/>
                <a:cs typeface="Calibri" pitchFamily="34" charset="-120"/>
              </a:rPr>
              <a:t>Codificador: Administrativo → el modelo falla</a:t>
            </a:r>
            <a:endParaRPr lang="en-US" sz="1050" dirty="0"/>
          </a:p>
          <a:p>
            <a:pPr marL="152400" indent="-152400">
              <a:spcAft>
                <a:spcPts val="300"/>
              </a:spcAft>
              <a:buSzPct val="100000"/>
              <a:buChar char="•"/>
            </a:pPr>
            <a:r>
              <a:rPr lang="en-US" sz="1050" dirty="0">
                <a:solidFill>
                  <a:srgbClr val="1B1A19"/>
                </a:solidFill>
                <a:latin typeface="Calibri" pitchFamily="34" charset="0"/>
                <a:ea typeface="Calibri" pitchFamily="34" charset="-122"/>
                <a:cs typeface="Calibri" pitchFamily="34" charset="-120"/>
              </a:rPr>
              <a:t>35 de 37 errores revisados: normas de dos temas, instrumento de una etiqueta</a:t>
            </a:r>
            <a:endParaRPr lang="en-US" sz="1050" dirty="0"/>
          </a:p>
          <a:p>
            <a:pPr marL="152400" indent="-152400">
              <a:spcAft>
                <a:spcPts val="300"/>
              </a:spcAft>
              <a:buSzPct val="100000"/>
              <a:buChar char="•"/>
            </a:pPr>
            <a:r>
              <a:rPr lang="en-US" sz="1050" dirty="0">
                <a:solidFill>
                  <a:srgbClr val="1B1A19"/>
                </a:solidFill>
                <a:latin typeface="Calibri" pitchFamily="34" charset="0"/>
                <a:ea typeface="Calibri" pitchFamily="34" charset="-122"/>
                <a:cs typeface="Calibri" pitchFamily="34" charset="-120"/>
              </a:rPr>
              <a:t>Administrativo y Técnico: F1 0.35–0.50; asiste, no basta</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7A1F3D"/>
          </a:solidFill>
          <a:ln w="12700">
            <a:solidFill>
              <a:srgbClr val="7A1F3D"/>
            </a:solidFill>
            <a:prstDash val="solid"/>
          </a:ln>
        </p:spPr>
      </p:sp>
      <p:sp>
        <p:nvSpPr>
          <p:cNvPr id="3" name="Text 1"/>
          <p:cNvSpPr/>
          <p:nvPr/>
        </p:nvSpPr>
        <p:spPr>
          <a:xfrm>
            <a:off x="457200" y="256032"/>
            <a:ext cx="7315200" cy="274320"/>
          </a:xfrm>
          <a:prstGeom prst="rect">
            <a:avLst/>
          </a:prstGeom>
          <a:noFill/>
          <a:ln/>
        </p:spPr>
        <p:txBody>
          <a:bodyPr wrap="square" rtlCol="0" anchor="ctr"/>
          <a:lstStyle/>
          <a:p>
            <a:pPr indent="0" marL="0">
              <a:buNone/>
            </a:pPr>
            <a:r>
              <a:rPr lang="en-US" sz="1100" b="1" spc="200" kern="0" dirty="0">
                <a:solidFill>
                  <a:srgbClr val="7A1F3D"/>
                </a:solidFill>
                <a:latin typeface="Calibri" pitchFamily="34" charset="0"/>
                <a:ea typeface="Calibri" pitchFamily="34" charset="-122"/>
                <a:cs typeface="Calibri" pitchFamily="34" charset="-120"/>
              </a:rPr>
              <a:t>6 · ÉTICA Y RIESGOS</a:t>
            </a:r>
            <a:endParaRPr lang="en-US" sz="1100" dirty="0"/>
          </a:p>
        </p:txBody>
      </p:sp>
      <p:sp>
        <p:nvSpPr>
          <p:cNvPr id="4" name="Text 2"/>
          <p:cNvSpPr/>
          <p:nvPr/>
        </p:nvSpPr>
        <p:spPr>
          <a:xfrm>
            <a:off x="9418320" y="256032"/>
            <a:ext cx="2286000" cy="274320"/>
          </a:xfrm>
          <a:prstGeom prst="rect">
            <a:avLst/>
          </a:prstGeom>
          <a:noFill/>
          <a:ln/>
        </p:spPr>
        <p:txBody>
          <a:bodyPr wrap="square" rtlCol="0" anchor="ctr"/>
          <a:lstStyle/>
          <a:p>
            <a:pPr algn="r" indent="0" marL="0">
              <a:buNone/>
            </a:pPr>
            <a:r>
              <a:rPr lang="en-US" sz="1100" b="1" dirty="0">
                <a:solidFill>
                  <a:srgbClr val="6E6862"/>
                </a:solidFill>
                <a:latin typeface="Calibri" pitchFamily="34" charset="0"/>
                <a:ea typeface="Calibri" pitchFamily="34" charset="-122"/>
                <a:cs typeface="Calibri" pitchFamily="34" charset="-120"/>
              </a:rPr>
              <a:t>3:15 – 4:00</a:t>
            </a:r>
            <a:endParaRPr lang="en-US" sz="1100" dirty="0"/>
          </a:p>
        </p:txBody>
      </p:sp>
      <p:sp>
        <p:nvSpPr>
          <p:cNvPr id="5" name="Text 3"/>
          <p:cNvSpPr/>
          <p:nvPr/>
        </p:nvSpPr>
        <p:spPr>
          <a:xfrm>
            <a:off x="457200" y="502920"/>
            <a:ext cx="11247120" cy="731520"/>
          </a:xfrm>
          <a:prstGeom prst="rect">
            <a:avLst/>
          </a:prstGeom>
          <a:noFill/>
          <a:ln/>
        </p:spPr>
        <p:txBody>
          <a:bodyPr wrap="square" rtlCol="0" anchor="t"/>
          <a:lstStyle/>
          <a:p>
            <a:pPr indent="0" marL="0">
              <a:buNone/>
            </a:pPr>
            <a:r>
              <a:rPr lang="en-US" sz="2400" b="1" dirty="0">
                <a:solidFill>
                  <a:srgbClr val="1B1A19"/>
                </a:solidFill>
                <a:latin typeface="Cambria" pitchFamily="34" charset="0"/>
                <a:ea typeface="Cambria" pitchFamily="34" charset="-122"/>
                <a:cs typeface="Cambria" pitchFamily="34" charset="-120"/>
              </a:rPr>
              <a:t>El sesgo por jurisdicción se mide, se contiene y se declara</a:t>
            </a:r>
            <a:endParaRPr lang="en-US" sz="2400" dirty="0"/>
          </a:p>
        </p:txBody>
      </p:sp>
      <p:sp>
        <p:nvSpPr>
          <p:cNvPr id="6" name="Text 4"/>
          <p:cNvSpPr/>
          <p:nvPr/>
        </p:nvSpPr>
        <p:spPr>
          <a:xfrm>
            <a:off x="457200" y="6446520"/>
            <a:ext cx="9144000" cy="274320"/>
          </a:xfrm>
          <a:prstGeom prst="rect">
            <a:avLst/>
          </a:prstGeom>
          <a:noFill/>
          <a:ln/>
        </p:spPr>
        <p:txBody>
          <a:bodyPr wrap="square"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 · github.com/jorgemaldonadom-cmd/genial-clasificador-normativa</a:t>
            </a:r>
            <a:endParaRPr lang="en-US" sz="900" dirty="0"/>
          </a:p>
        </p:txBody>
      </p:sp>
      <p:sp>
        <p:nvSpPr>
          <p:cNvPr id="7" name="Text 5"/>
          <p:cNvSpPr/>
          <p:nvPr/>
        </p:nvSpPr>
        <p:spPr>
          <a:xfrm>
            <a:off x="11247120" y="6446520"/>
            <a:ext cx="548640" cy="274320"/>
          </a:xfrm>
          <a:prstGeom prst="rect">
            <a:avLst/>
          </a:prstGeom>
          <a:noFill/>
          <a:ln/>
        </p:spPr>
        <p:txBody>
          <a:bodyPr wrap="square"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6 / 8</a:t>
            </a:r>
            <a:endParaRPr lang="en-US" sz="900" dirty="0"/>
          </a:p>
        </p:txBody>
      </p:sp>
      <p:pic>
        <p:nvPicPr>
          <p:cNvPr id="8" name="Image 0" descr="/home/claude/repo_genial/results/figures/12_fairness_grupos.png">    </p:cNvPr>
          <p:cNvPicPr>
            <a:picLocks noChangeAspect="1"/>
          </p:cNvPicPr>
          <p:nvPr/>
        </p:nvPicPr>
        <p:blipFill>
          <a:blip r:embed="rId1"/>
          <a:stretch>
            <a:fillRect/>
          </a:stretch>
        </p:blipFill>
        <p:spPr>
          <a:xfrm>
            <a:off x="457200" y="1371600"/>
            <a:ext cx="6675120" cy="2560320"/>
          </a:xfrm>
          <a:prstGeom prst="rect">
            <a:avLst/>
          </a:prstGeom>
        </p:spPr>
      </p:pic>
      <p:sp>
        <p:nvSpPr>
          <p:cNvPr id="9" name="Text 6"/>
          <p:cNvSpPr/>
          <p:nvPr/>
        </p:nvSpPr>
        <p:spPr>
          <a:xfrm>
            <a:off x="457200" y="3950208"/>
            <a:ext cx="6675120" cy="274320"/>
          </a:xfrm>
          <a:prstGeom prst="rect">
            <a:avLst/>
          </a:prstGeom>
          <a:noFill/>
          <a:ln/>
        </p:spPr>
        <p:txBody>
          <a:bodyPr wrap="square" rtlCol="0" anchor="ctr"/>
          <a:lstStyle/>
          <a:p>
            <a:pPr indent="0" marL="0">
              <a:buNone/>
            </a:pPr>
            <a:r>
              <a:rPr lang="en-US" sz="900" i="1" dirty="0">
                <a:solidFill>
                  <a:srgbClr val="6E6862"/>
                </a:solidFill>
                <a:latin typeface="Calibri" pitchFamily="34" charset="0"/>
                <a:ea typeface="Calibri" pitchFamily="34" charset="-122"/>
                <a:cs typeface="Calibri" pitchFamily="34" charset="-120"/>
              </a:rPr>
              <a:t>Auditoría de equidad por idioma, región, tamaño de país, ámbito y codificador (anonimizado) · n = 813 · IC de Wilson · regla 4/5</a:t>
            </a:r>
            <a:endParaRPr lang="en-US" sz="900" dirty="0"/>
          </a:p>
        </p:txBody>
      </p:sp>
      <p:sp>
        <p:nvSpPr>
          <p:cNvPr id="10" name="Shape 7"/>
          <p:cNvSpPr/>
          <p:nvPr/>
        </p:nvSpPr>
        <p:spPr>
          <a:xfrm>
            <a:off x="7360920" y="1371600"/>
            <a:ext cx="1371600" cy="1005840"/>
          </a:xfrm>
          <a:prstGeom prst="rect">
            <a:avLst/>
          </a:prstGeom>
          <a:solidFill>
            <a:srgbClr val="F3E6EA"/>
          </a:solidFill>
          <a:ln w="12700">
            <a:solidFill>
              <a:srgbClr val="F3E6EA"/>
            </a:solidFill>
            <a:prstDash val="solid"/>
          </a:ln>
        </p:spPr>
      </p:sp>
      <p:sp>
        <p:nvSpPr>
          <p:cNvPr id="11" name="Text 8"/>
          <p:cNvSpPr/>
          <p:nvPr/>
        </p:nvSpPr>
        <p:spPr>
          <a:xfrm>
            <a:off x="7470648" y="1426464"/>
            <a:ext cx="1152144" cy="523037"/>
          </a:xfrm>
          <a:prstGeom prst="rect">
            <a:avLst/>
          </a:prstGeom>
          <a:noFill/>
          <a:ln/>
        </p:spPr>
        <p:txBody>
          <a:bodyPr wrap="square" rtlCol="0" anchor="b"/>
          <a:lstStyle/>
          <a:p>
            <a:pPr indent="0" marL="0">
              <a:buNone/>
            </a:pPr>
            <a:r>
              <a:rPr lang="en-US" sz="2400" b="1" dirty="0">
                <a:solidFill>
                  <a:srgbClr val="7A1F3D"/>
                </a:solidFill>
                <a:latin typeface="Cambria" pitchFamily="34" charset="0"/>
                <a:ea typeface="Cambria" pitchFamily="34" charset="-122"/>
                <a:cs typeface="Cambria" pitchFamily="34" charset="-120"/>
              </a:rPr>
              <a:t>66</a:t>
            </a:r>
            <a:endParaRPr lang="en-US" sz="2400" dirty="0"/>
          </a:p>
        </p:txBody>
      </p:sp>
      <p:sp>
        <p:nvSpPr>
          <p:cNvPr id="12" name="Text 9"/>
          <p:cNvSpPr/>
          <p:nvPr/>
        </p:nvSpPr>
        <p:spPr>
          <a:xfrm>
            <a:off x="7470648" y="1934870"/>
            <a:ext cx="1152144" cy="422453"/>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de 100 · español</a:t>
            </a:r>
            <a:endParaRPr lang="en-US" sz="1050" dirty="0"/>
          </a:p>
        </p:txBody>
      </p:sp>
      <p:sp>
        <p:nvSpPr>
          <p:cNvPr id="13" name="Shape 10"/>
          <p:cNvSpPr/>
          <p:nvPr/>
        </p:nvSpPr>
        <p:spPr>
          <a:xfrm>
            <a:off x="8869680" y="1371600"/>
            <a:ext cx="1371600" cy="1005840"/>
          </a:xfrm>
          <a:prstGeom prst="rect">
            <a:avLst/>
          </a:prstGeom>
          <a:solidFill>
            <a:srgbClr val="F3E6EA"/>
          </a:solidFill>
          <a:ln w="12700">
            <a:solidFill>
              <a:srgbClr val="F3E6EA"/>
            </a:solidFill>
            <a:prstDash val="solid"/>
          </a:ln>
        </p:spPr>
      </p:sp>
      <p:sp>
        <p:nvSpPr>
          <p:cNvPr id="14" name="Text 11"/>
          <p:cNvSpPr/>
          <p:nvPr/>
        </p:nvSpPr>
        <p:spPr>
          <a:xfrm>
            <a:off x="8979408" y="1426464"/>
            <a:ext cx="1152144" cy="523037"/>
          </a:xfrm>
          <a:prstGeom prst="rect">
            <a:avLst/>
          </a:prstGeom>
          <a:noFill/>
          <a:ln/>
        </p:spPr>
        <p:txBody>
          <a:bodyPr wrap="square" rtlCol="0" anchor="b"/>
          <a:lstStyle/>
          <a:p>
            <a:pPr indent="0" marL="0">
              <a:buNone/>
            </a:pPr>
            <a:r>
              <a:rPr lang="en-US" sz="2400" b="1" dirty="0">
                <a:solidFill>
                  <a:srgbClr val="A8650F"/>
                </a:solidFill>
                <a:latin typeface="Cambria" pitchFamily="34" charset="0"/>
                <a:ea typeface="Cambria" pitchFamily="34" charset="-122"/>
                <a:cs typeface="Cambria" pitchFamily="34" charset="-120"/>
              </a:rPr>
              <a:t>47</a:t>
            </a:r>
            <a:endParaRPr lang="en-US" sz="2400" dirty="0"/>
          </a:p>
        </p:txBody>
      </p:sp>
      <p:sp>
        <p:nvSpPr>
          <p:cNvPr id="15" name="Text 12"/>
          <p:cNvSpPr/>
          <p:nvPr/>
        </p:nvSpPr>
        <p:spPr>
          <a:xfrm>
            <a:off x="8979408" y="1934870"/>
            <a:ext cx="1152144" cy="422453"/>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de 100 · portugués</a:t>
            </a:r>
            <a:endParaRPr lang="en-US" sz="1050" dirty="0"/>
          </a:p>
        </p:txBody>
      </p:sp>
      <p:sp>
        <p:nvSpPr>
          <p:cNvPr id="16" name="Shape 13"/>
          <p:cNvSpPr/>
          <p:nvPr/>
        </p:nvSpPr>
        <p:spPr>
          <a:xfrm>
            <a:off x="10378440" y="1371600"/>
            <a:ext cx="1353312" cy="1005840"/>
          </a:xfrm>
          <a:prstGeom prst="rect">
            <a:avLst/>
          </a:prstGeom>
          <a:solidFill>
            <a:srgbClr val="F3E6EA"/>
          </a:solidFill>
          <a:ln w="12700">
            <a:solidFill>
              <a:srgbClr val="F3E6EA"/>
            </a:solidFill>
            <a:prstDash val="solid"/>
          </a:ln>
        </p:spPr>
      </p:sp>
      <p:sp>
        <p:nvSpPr>
          <p:cNvPr id="17" name="Text 14"/>
          <p:cNvSpPr/>
          <p:nvPr/>
        </p:nvSpPr>
        <p:spPr>
          <a:xfrm>
            <a:off x="10488168" y="1426464"/>
            <a:ext cx="1133856" cy="523037"/>
          </a:xfrm>
          <a:prstGeom prst="rect">
            <a:avLst/>
          </a:prstGeom>
          <a:noFill/>
          <a:ln/>
        </p:spPr>
        <p:txBody>
          <a:bodyPr wrap="square" rtlCol="0" anchor="b"/>
          <a:lstStyle/>
          <a:p>
            <a:pPr indent="0" marL="0">
              <a:buNone/>
            </a:pPr>
            <a:r>
              <a:rPr lang="en-US" sz="2400" b="1" dirty="0">
                <a:solidFill>
                  <a:srgbClr val="A8650F"/>
                </a:solidFill>
                <a:latin typeface="Cambria" pitchFamily="34" charset="0"/>
                <a:ea typeface="Cambria" pitchFamily="34" charset="-122"/>
                <a:cs typeface="Cambria" pitchFamily="34" charset="-120"/>
              </a:rPr>
              <a:t>36</a:t>
            </a:r>
            <a:endParaRPr lang="en-US" sz="2400" dirty="0"/>
          </a:p>
        </p:txBody>
      </p:sp>
      <p:sp>
        <p:nvSpPr>
          <p:cNvPr id="18" name="Text 15"/>
          <p:cNvSpPr/>
          <p:nvPr/>
        </p:nvSpPr>
        <p:spPr>
          <a:xfrm>
            <a:off x="10488168" y="1934870"/>
            <a:ext cx="1133856" cy="422453"/>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de 100 · inglés</a:t>
            </a:r>
            <a:endParaRPr lang="en-US" sz="1050" dirty="0"/>
          </a:p>
        </p:txBody>
      </p:sp>
      <p:sp>
        <p:nvSpPr>
          <p:cNvPr id="19" name="Shape 16"/>
          <p:cNvSpPr/>
          <p:nvPr/>
        </p:nvSpPr>
        <p:spPr>
          <a:xfrm>
            <a:off x="7360920" y="2514600"/>
            <a:ext cx="2103120" cy="1005840"/>
          </a:xfrm>
          <a:prstGeom prst="rect">
            <a:avLst/>
          </a:prstGeom>
          <a:solidFill>
            <a:srgbClr val="F3E6EA"/>
          </a:solidFill>
          <a:ln w="12700">
            <a:solidFill>
              <a:srgbClr val="F3E6EA"/>
            </a:solidFill>
            <a:prstDash val="solid"/>
          </a:ln>
        </p:spPr>
      </p:sp>
      <p:sp>
        <p:nvSpPr>
          <p:cNvPr id="20" name="Text 17"/>
          <p:cNvSpPr/>
          <p:nvPr/>
        </p:nvSpPr>
        <p:spPr>
          <a:xfrm>
            <a:off x="7470648" y="2569464"/>
            <a:ext cx="1883664" cy="523037"/>
          </a:xfrm>
          <a:prstGeom prst="rect">
            <a:avLst/>
          </a:prstGeom>
          <a:noFill/>
          <a:ln/>
        </p:spPr>
        <p:txBody>
          <a:bodyPr wrap="square" rtlCol="0" anchor="b"/>
          <a:lstStyle/>
          <a:p>
            <a:pPr indent="0" marL="0">
              <a:buNone/>
            </a:pPr>
            <a:r>
              <a:rPr lang="en-US" sz="2200" b="1" dirty="0">
                <a:solidFill>
                  <a:srgbClr val="A8650F"/>
                </a:solidFill>
                <a:latin typeface="Cambria" pitchFamily="34" charset="0"/>
                <a:ea typeface="Cambria" pitchFamily="34" charset="-122"/>
                <a:cs typeface="Cambria" pitchFamily="34" charset="-120"/>
              </a:rPr>
              <a:t>67 vs 38</a:t>
            </a:r>
            <a:endParaRPr lang="en-US" sz="2200" dirty="0"/>
          </a:p>
        </p:txBody>
      </p:sp>
      <p:sp>
        <p:nvSpPr>
          <p:cNvPr id="21" name="Text 18"/>
          <p:cNvSpPr/>
          <p:nvPr/>
        </p:nvSpPr>
        <p:spPr>
          <a:xfrm>
            <a:off x="7470648" y="3077870"/>
            <a:ext cx="1883664" cy="422453"/>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Hispanoamérica vs Caribe</a:t>
            </a:r>
            <a:endParaRPr lang="en-US" sz="1050" dirty="0"/>
          </a:p>
        </p:txBody>
      </p:sp>
      <p:sp>
        <p:nvSpPr>
          <p:cNvPr id="22" name="Shape 19"/>
          <p:cNvSpPr/>
          <p:nvPr/>
        </p:nvSpPr>
        <p:spPr>
          <a:xfrm>
            <a:off x="9601200" y="2514600"/>
            <a:ext cx="2130552" cy="1005840"/>
          </a:xfrm>
          <a:prstGeom prst="rect">
            <a:avLst/>
          </a:prstGeom>
          <a:solidFill>
            <a:srgbClr val="F3E6EA"/>
          </a:solidFill>
          <a:ln w="12700">
            <a:solidFill>
              <a:srgbClr val="F3E6EA"/>
            </a:solidFill>
            <a:prstDash val="solid"/>
          </a:ln>
        </p:spPr>
      </p:sp>
      <p:sp>
        <p:nvSpPr>
          <p:cNvPr id="23" name="Text 20"/>
          <p:cNvSpPr/>
          <p:nvPr/>
        </p:nvSpPr>
        <p:spPr>
          <a:xfrm>
            <a:off x="9710928" y="2569464"/>
            <a:ext cx="1911096" cy="523037"/>
          </a:xfrm>
          <a:prstGeom prst="rect">
            <a:avLst/>
          </a:prstGeom>
          <a:noFill/>
          <a:ln/>
        </p:spPr>
        <p:txBody>
          <a:bodyPr wrap="square" rtlCol="0" anchor="b"/>
          <a:lstStyle/>
          <a:p>
            <a:pPr indent="0" marL="0">
              <a:buNone/>
            </a:pPr>
            <a:r>
              <a:rPr lang="en-US" sz="2200" b="1" dirty="0">
                <a:solidFill>
                  <a:srgbClr val="A8650F"/>
                </a:solidFill>
                <a:latin typeface="Cambria" pitchFamily="34" charset="0"/>
                <a:ea typeface="Cambria" pitchFamily="34" charset="-122"/>
                <a:cs typeface="Cambria" pitchFamily="34" charset="-120"/>
              </a:rPr>
              <a:t>0.54</a:t>
            </a:r>
            <a:endParaRPr lang="en-US" sz="2200" dirty="0"/>
          </a:p>
        </p:txBody>
      </p:sp>
      <p:sp>
        <p:nvSpPr>
          <p:cNvPr id="24" name="Text 21"/>
          <p:cNvSpPr/>
          <p:nvPr/>
        </p:nvSpPr>
        <p:spPr>
          <a:xfrm>
            <a:off x="9710928" y="3077870"/>
            <a:ext cx="1911096" cy="422453"/>
          </a:xfrm>
          <a:prstGeom prst="rect">
            <a:avLst/>
          </a:prstGeom>
          <a:noFill/>
          <a:ln/>
        </p:spPr>
        <p:txBody>
          <a:bodyPr wrap="square" rtlCol="0" anchor="t"/>
          <a:lstStyle/>
          <a:p>
            <a:pPr indent="0" marL="0">
              <a:buNone/>
            </a:pPr>
            <a:r>
              <a:rPr lang="en-US" sz="1050" dirty="0">
                <a:solidFill>
                  <a:srgbClr val="1B1A19"/>
                </a:solidFill>
                <a:latin typeface="Calibri" pitchFamily="34" charset="0"/>
                <a:ea typeface="Calibri" pitchFamily="34" charset="-122"/>
                <a:cs typeface="Calibri" pitchFamily="34" charset="-120"/>
              </a:rPr>
              <a:t>razón peor/mejor · regla 4/5: no cumple</a:t>
            </a:r>
            <a:endParaRPr lang="en-US" sz="1050" dirty="0"/>
          </a:p>
        </p:txBody>
      </p:sp>
      <p:sp>
        <p:nvSpPr>
          <p:cNvPr id="25" name="Text 22"/>
          <p:cNvSpPr/>
          <p:nvPr/>
        </p:nvSpPr>
        <p:spPr>
          <a:xfrm>
            <a:off x="7360920" y="3611880"/>
            <a:ext cx="4370832" cy="640080"/>
          </a:xfrm>
          <a:prstGeom prst="rect">
            <a:avLst/>
          </a:prstGeom>
          <a:noFill/>
          <a:ln/>
        </p:spPr>
        <p:txBody>
          <a:bodyPr wrap="square" rtlCol="0" anchor="ctr"/>
          <a:lstStyle/>
          <a:p>
            <a:pPr indent="0" marL="0">
              <a:buNone/>
            </a:pPr>
            <a:r>
              <a:rPr lang="en-US" sz="1000" dirty="0">
                <a:solidFill>
                  <a:srgbClr val="1B1A19"/>
                </a:solidFill>
                <a:latin typeface="Calibri" pitchFamily="34" charset="0"/>
                <a:ea typeface="Calibri" pitchFamily="34" charset="-122"/>
                <a:cs typeface="Calibri" pitchFamily="34" charset="-120"/>
              </a:rPr>
              <a:t>Causa: corpus 88 % en español; 5 países con 2/3 de las normas. No se corrige con más modelo: se contiene.</a:t>
            </a:r>
            <a:endParaRPr lang="en-US" sz="1000" dirty="0"/>
          </a:p>
        </p:txBody>
      </p:sp>
      <p:sp>
        <p:nvSpPr>
          <p:cNvPr id="26" name="Shape 23"/>
          <p:cNvSpPr/>
          <p:nvPr/>
        </p:nvSpPr>
        <p:spPr>
          <a:xfrm>
            <a:off x="457200" y="4343400"/>
            <a:ext cx="2697480" cy="1920240"/>
          </a:xfrm>
          <a:prstGeom prst="rect">
            <a:avLst/>
          </a:prstGeom>
          <a:solidFill>
            <a:srgbClr val="F3E6EA"/>
          </a:solidFill>
          <a:ln w="12700">
            <a:solidFill>
              <a:srgbClr val="F3E6EA"/>
            </a:solidFill>
            <a:prstDash val="solid"/>
          </a:ln>
        </p:spPr>
      </p:sp>
      <p:sp>
        <p:nvSpPr>
          <p:cNvPr id="27" name="Text 24"/>
          <p:cNvSpPr/>
          <p:nvPr/>
        </p:nvSpPr>
        <p:spPr>
          <a:xfrm>
            <a:off x="594360" y="4416552"/>
            <a:ext cx="2423160" cy="292608"/>
          </a:xfrm>
          <a:prstGeom prst="rect">
            <a:avLst/>
          </a:prstGeom>
          <a:noFill/>
          <a:ln/>
        </p:spPr>
        <p:txBody>
          <a:bodyPr wrap="square" rtlCol="0" anchor="ctr"/>
          <a:lstStyle/>
          <a:p>
            <a:pPr indent="0" marL="0">
              <a:buNone/>
            </a:pPr>
            <a:r>
              <a:rPr lang="en-US" sz="1200" b="1" dirty="0">
                <a:solidFill>
                  <a:srgbClr val="7A1F3D"/>
                </a:solidFill>
                <a:latin typeface="Calibri" pitchFamily="34" charset="0"/>
                <a:ea typeface="Calibri" pitchFamily="34" charset="-122"/>
                <a:cs typeface="Calibri" pitchFamily="34" charset="-120"/>
              </a:rPr>
              <a:t>Sesgo → regla de gobernanza</a:t>
            </a:r>
            <a:endParaRPr lang="en-US" sz="1200" dirty="0"/>
          </a:p>
        </p:txBody>
      </p:sp>
      <p:sp>
        <p:nvSpPr>
          <p:cNvPr id="28" name="Text 25"/>
          <p:cNvSpPr/>
          <p:nvPr/>
        </p:nvSpPr>
        <p:spPr>
          <a:xfrm>
            <a:off x="594360" y="4727448"/>
            <a:ext cx="2423160" cy="1463040"/>
          </a:xfrm>
          <a:prstGeom prst="rect">
            <a:avLst/>
          </a:prstGeom>
          <a:noFill/>
          <a:ln/>
        </p:spPr>
        <p:txBody>
          <a:bodyPr wrap="square" rtlCol="0" anchor="t"/>
          <a:lstStyle/>
          <a:p>
            <a:pPr marL="152400" indent="-152400">
              <a:spcAft>
                <a:spcPts val="300"/>
              </a:spcAft>
              <a:buSzPct val="100000"/>
              <a:buChar char="•"/>
            </a:pPr>
            <a:r>
              <a:rPr lang="en-US" sz="1000" dirty="0">
                <a:solidFill>
                  <a:srgbClr val="1B1A19"/>
                </a:solidFill>
                <a:latin typeface="Calibri" pitchFamily="34" charset="0"/>
                <a:ea typeface="Calibri" pitchFamily="34" charset="-122"/>
                <a:cs typeface="Calibri" pitchFamily="34" charset="-120"/>
              </a:rPr>
              <a:t>Revisión humana obligatoria: pt / en / fr, países &lt; 20 normas, confianza &lt; umbral</a:t>
            </a:r>
            <a:endParaRPr lang="en-US" sz="1000" dirty="0"/>
          </a:p>
          <a:p>
            <a:pPr marL="152400" indent="-152400">
              <a:spcAft>
                <a:spcPts val="300"/>
              </a:spcAft>
              <a:buSzPct val="100000"/>
              <a:buChar char="•"/>
            </a:pPr>
            <a:r>
              <a:rPr lang="en-US" sz="1000" dirty="0">
                <a:solidFill>
                  <a:srgbClr val="1B1A19"/>
                </a:solidFill>
                <a:latin typeface="Calibri" pitchFamily="34" charset="0"/>
                <a:ea typeface="Calibri" pitchFamily="34" charset="-122"/>
                <a:cs typeface="Calibri" pitchFamily="34" charset="-120"/>
              </a:rPr>
              <a:t>100 % de Brasil, Caribe y países pequeños con respaldo humano</a:t>
            </a:r>
            <a:endParaRPr lang="en-US" sz="1000" dirty="0"/>
          </a:p>
        </p:txBody>
      </p:sp>
      <p:sp>
        <p:nvSpPr>
          <p:cNvPr id="29" name="Shape 26"/>
          <p:cNvSpPr/>
          <p:nvPr/>
        </p:nvSpPr>
        <p:spPr>
          <a:xfrm>
            <a:off x="3291840" y="4343400"/>
            <a:ext cx="2697480" cy="1920240"/>
          </a:xfrm>
          <a:prstGeom prst="rect">
            <a:avLst/>
          </a:prstGeom>
          <a:solidFill>
            <a:srgbClr val="FFFFFF"/>
          </a:solidFill>
          <a:ln w="12700">
            <a:solidFill>
              <a:srgbClr val="D9CFD2"/>
            </a:solidFill>
            <a:prstDash val="solid"/>
          </a:ln>
        </p:spPr>
      </p:sp>
      <p:sp>
        <p:nvSpPr>
          <p:cNvPr id="30" name="Text 27"/>
          <p:cNvSpPr/>
          <p:nvPr/>
        </p:nvSpPr>
        <p:spPr>
          <a:xfrm>
            <a:off x="3429000" y="4416552"/>
            <a:ext cx="2423160" cy="292608"/>
          </a:xfrm>
          <a:prstGeom prst="rect">
            <a:avLst/>
          </a:prstGeom>
          <a:noFill/>
          <a:ln/>
        </p:spPr>
        <p:txBody>
          <a:bodyPr wrap="square" rtlCol="0" anchor="ctr"/>
          <a:lstStyle/>
          <a:p>
            <a:pPr indent="0" marL="0">
              <a:buNone/>
            </a:pPr>
            <a:r>
              <a:rPr lang="en-US" sz="1200" b="1" dirty="0">
                <a:solidFill>
                  <a:srgbClr val="7A1F3D"/>
                </a:solidFill>
                <a:latin typeface="Calibri" pitchFamily="34" charset="0"/>
                <a:ea typeface="Calibri" pitchFamily="34" charset="-122"/>
                <a:cs typeface="Calibri" pitchFamily="34" charset="-120"/>
              </a:rPr>
              <a:t>Privacidad</a:t>
            </a:r>
            <a:endParaRPr lang="en-US" sz="1200" dirty="0"/>
          </a:p>
        </p:txBody>
      </p:sp>
      <p:sp>
        <p:nvSpPr>
          <p:cNvPr id="31" name="Text 28"/>
          <p:cNvSpPr/>
          <p:nvPr/>
        </p:nvSpPr>
        <p:spPr>
          <a:xfrm>
            <a:off x="3429000" y="4727448"/>
            <a:ext cx="2423160" cy="1463040"/>
          </a:xfrm>
          <a:prstGeom prst="rect">
            <a:avLst/>
          </a:prstGeom>
          <a:noFill/>
          <a:ln/>
        </p:spPr>
        <p:txBody>
          <a:bodyPr wrap="square" rtlCol="0" anchor="t"/>
          <a:lstStyle/>
          <a:p>
            <a:pPr marL="152400" indent="-152400">
              <a:spcAft>
                <a:spcPts val="300"/>
              </a:spcAft>
              <a:buSzPct val="100000"/>
              <a:buChar char="•"/>
            </a:pPr>
            <a:r>
              <a:rPr lang="en-US" sz="1000" dirty="0">
                <a:solidFill>
                  <a:srgbClr val="1B1A19"/>
                </a:solidFill>
                <a:latin typeface="Calibri" pitchFamily="34" charset="0"/>
                <a:ea typeface="Calibri" pitchFamily="34" charset="-122"/>
                <a:cs typeface="Calibri" pitchFamily="34" charset="-120"/>
              </a:rPr>
              <a:t>Nombre del codificador excluido y anonimizado (A–J)</a:t>
            </a:r>
            <a:endParaRPr lang="en-US" sz="1000" dirty="0"/>
          </a:p>
          <a:p>
            <a:pPr marL="152400" indent="-152400">
              <a:spcAft>
                <a:spcPts val="300"/>
              </a:spcAft>
              <a:buSzPct val="100000"/>
              <a:buChar char="•"/>
            </a:pPr>
            <a:r>
              <a:rPr lang="en-US" sz="1000" dirty="0">
                <a:solidFill>
                  <a:srgbClr val="1B1A19"/>
                </a:solidFill>
                <a:latin typeface="Calibri" pitchFamily="34" charset="0"/>
                <a:ea typeface="Calibri" pitchFamily="34" charset="-122"/>
                <a:cs typeface="Calibri" pitchFamily="34" charset="-120"/>
              </a:rPr>
              <a:t>La app no guarda ni envía nada; corpus y claves fuera del repositorio</a:t>
            </a:r>
            <a:endParaRPr lang="en-US" sz="1000" dirty="0"/>
          </a:p>
        </p:txBody>
      </p:sp>
      <p:sp>
        <p:nvSpPr>
          <p:cNvPr id="32" name="Shape 29"/>
          <p:cNvSpPr/>
          <p:nvPr/>
        </p:nvSpPr>
        <p:spPr>
          <a:xfrm>
            <a:off x="6126480" y="4343400"/>
            <a:ext cx="2697480" cy="1920240"/>
          </a:xfrm>
          <a:prstGeom prst="rect">
            <a:avLst/>
          </a:prstGeom>
          <a:solidFill>
            <a:srgbClr val="FFFFFF"/>
          </a:solidFill>
          <a:ln w="12700">
            <a:solidFill>
              <a:srgbClr val="D9CFD2"/>
            </a:solidFill>
            <a:prstDash val="solid"/>
          </a:ln>
        </p:spPr>
      </p:sp>
      <p:sp>
        <p:nvSpPr>
          <p:cNvPr id="33" name="Text 30"/>
          <p:cNvSpPr/>
          <p:nvPr/>
        </p:nvSpPr>
        <p:spPr>
          <a:xfrm>
            <a:off x="6263640" y="4416552"/>
            <a:ext cx="2423160" cy="292608"/>
          </a:xfrm>
          <a:prstGeom prst="rect">
            <a:avLst/>
          </a:prstGeom>
          <a:noFill/>
          <a:ln/>
        </p:spPr>
        <p:txBody>
          <a:bodyPr wrap="square" rtlCol="0" anchor="ctr"/>
          <a:lstStyle/>
          <a:p>
            <a:pPr indent="0" marL="0">
              <a:buNone/>
            </a:pPr>
            <a:r>
              <a:rPr lang="en-US" sz="1200" b="1" dirty="0">
                <a:solidFill>
                  <a:srgbClr val="7A1F3D"/>
                </a:solidFill>
                <a:latin typeface="Calibri" pitchFamily="34" charset="0"/>
                <a:ea typeface="Calibri" pitchFamily="34" charset="-122"/>
                <a:cs typeface="Calibri" pitchFamily="34" charset="-120"/>
              </a:rPr>
              <a:t>Transparencia</a:t>
            </a:r>
            <a:endParaRPr lang="en-US" sz="1200" dirty="0"/>
          </a:p>
        </p:txBody>
      </p:sp>
      <p:sp>
        <p:nvSpPr>
          <p:cNvPr id="34" name="Text 31"/>
          <p:cNvSpPr/>
          <p:nvPr/>
        </p:nvSpPr>
        <p:spPr>
          <a:xfrm>
            <a:off x="6263640" y="4727448"/>
            <a:ext cx="2423160" cy="1463040"/>
          </a:xfrm>
          <a:prstGeom prst="rect">
            <a:avLst/>
          </a:prstGeom>
          <a:noFill/>
          <a:ln/>
        </p:spPr>
        <p:txBody>
          <a:bodyPr wrap="square" rtlCol="0" anchor="t"/>
          <a:lstStyle/>
          <a:p>
            <a:pPr marL="152400" indent="-152400">
              <a:spcAft>
                <a:spcPts val="300"/>
              </a:spcAft>
              <a:buSzPct val="100000"/>
              <a:buChar char="•"/>
            </a:pPr>
            <a:r>
              <a:rPr lang="en-US" sz="1000" dirty="0">
                <a:solidFill>
                  <a:srgbClr val="1B1A19"/>
                </a:solidFill>
                <a:latin typeface="Calibri" pitchFamily="34" charset="0"/>
                <a:ea typeface="Calibri" pitchFamily="34" charset="-122"/>
                <a:cs typeface="Calibri" pitchFamily="34" charset="-120"/>
              </a:rPr>
              <a:t>Cada decisión se explica con sus términos y su confianza</a:t>
            </a:r>
            <a:endParaRPr lang="en-US" sz="1000" dirty="0"/>
          </a:p>
          <a:p>
            <a:pPr marL="152400" indent="-152400">
              <a:spcAft>
                <a:spcPts val="300"/>
              </a:spcAft>
              <a:buSzPct val="100000"/>
              <a:buChar char="•"/>
            </a:pPr>
            <a:r>
              <a:rPr lang="en-US" sz="1000" dirty="0">
                <a:solidFill>
                  <a:srgbClr val="1B1A19"/>
                </a:solidFill>
                <a:latin typeface="Calibri" pitchFamily="34" charset="0"/>
                <a:ea typeface="Calibri" pitchFamily="34" charset="-122"/>
                <a:cs typeface="Calibri" pitchFamily="34" charset="-120"/>
              </a:rPr>
              <a:t>Model card + datasheet + intervalos en toda cifra</a:t>
            </a:r>
            <a:endParaRPr lang="en-US" sz="1000" dirty="0"/>
          </a:p>
        </p:txBody>
      </p:sp>
      <p:sp>
        <p:nvSpPr>
          <p:cNvPr id="35" name="Shape 32"/>
          <p:cNvSpPr/>
          <p:nvPr/>
        </p:nvSpPr>
        <p:spPr>
          <a:xfrm>
            <a:off x="8961120" y="4343400"/>
            <a:ext cx="2770632" cy="1920240"/>
          </a:xfrm>
          <a:prstGeom prst="rect">
            <a:avLst/>
          </a:prstGeom>
          <a:solidFill>
            <a:srgbClr val="FFFFFF"/>
          </a:solidFill>
          <a:ln w="12700">
            <a:solidFill>
              <a:srgbClr val="A8650F"/>
            </a:solidFill>
            <a:prstDash val="solid"/>
          </a:ln>
        </p:spPr>
      </p:sp>
      <p:sp>
        <p:nvSpPr>
          <p:cNvPr id="36" name="Text 33"/>
          <p:cNvSpPr/>
          <p:nvPr/>
        </p:nvSpPr>
        <p:spPr>
          <a:xfrm>
            <a:off x="9098280" y="4416552"/>
            <a:ext cx="2496312" cy="292608"/>
          </a:xfrm>
          <a:prstGeom prst="rect">
            <a:avLst/>
          </a:prstGeom>
          <a:noFill/>
          <a:ln/>
        </p:spPr>
        <p:txBody>
          <a:bodyPr wrap="square" rtlCol="0" anchor="ctr"/>
          <a:lstStyle/>
          <a:p>
            <a:pPr indent="0" marL="0">
              <a:buNone/>
            </a:pPr>
            <a:r>
              <a:rPr lang="en-US" sz="1200" b="1" dirty="0">
                <a:solidFill>
                  <a:srgbClr val="A8650F"/>
                </a:solidFill>
                <a:latin typeface="Calibri" pitchFamily="34" charset="0"/>
                <a:ea typeface="Calibri" pitchFamily="34" charset="-122"/>
                <a:cs typeface="Calibri" pitchFamily="34" charset="-120"/>
              </a:rPr>
              <a:t>Supervisión humana · no usar para</a:t>
            </a:r>
            <a:endParaRPr lang="en-US" sz="1200" dirty="0"/>
          </a:p>
        </p:txBody>
      </p:sp>
      <p:sp>
        <p:nvSpPr>
          <p:cNvPr id="37" name="Text 34"/>
          <p:cNvSpPr/>
          <p:nvPr/>
        </p:nvSpPr>
        <p:spPr>
          <a:xfrm>
            <a:off x="9098280" y="4727448"/>
            <a:ext cx="2496312" cy="1463040"/>
          </a:xfrm>
          <a:prstGeom prst="rect">
            <a:avLst/>
          </a:prstGeom>
          <a:noFill/>
          <a:ln/>
        </p:spPr>
        <p:txBody>
          <a:bodyPr wrap="square" rtlCol="0" anchor="t"/>
          <a:lstStyle/>
          <a:p>
            <a:pPr marL="152400" indent="-152400">
              <a:spcAft>
                <a:spcPts val="300"/>
              </a:spcAft>
              <a:buSzPct val="100000"/>
              <a:buChar char="•"/>
            </a:pPr>
            <a:r>
              <a:rPr lang="en-US" sz="1000" dirty="0">
                <a:solidFill>
                  <a:srgbClr val="1B1A19"/>
                </a:solidFill>
                <a:latin typeface="Calibri" pitchFamily="34" charset="0"/>
                <a:ea typeface="Calibri" pitchFamily="34" charset="-122"/>
                <a:cs typeface="Calibri" pitchFamily="34" charset="-120"/>
              </a:rPr>
              <a:t>La decisión final es del codificador</a:t>
            </a:r>
            <a:endParaRPr lang="en-US" sz="1000" dirty="0"/>
          </a:p>
          <a:p>
            <a:pPr marL="152400" indent="-152400">
              <a:spcAft>
                <a:spcPts val="300"/>
              </a:spcAft>
              <a:buSzPct val="100000"/>
              <a:buChar char="•"/>
            </a:pPr>
            <a:r>
              <a:rPr lang="en-US" sz="1000" dirty="0">
                <a:solidFill>
                  <a:srgbClr val="1B1A19"/>
                </a:solidFill>
                <a:latin typeface="Calibri" pitchFamily="34" charset="0"/>
                <a:ea typeface="Calibri" pitchFamily="34" charset="-122"/>
                <a:cs typeface="Calibri" pitchFamily="34" charset="-120"/>
              </a:rPr>
              <a:t>No publicar el IMN sin respaldo humano · no evaluar personas · no otros dominios sin auditar</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7A1F3D"/>
          </a:solidFill>
          <a:ln w="12700">
            <a:solidFill>
              <a:srgbClr val="7A1F3D"/>
            </a:solidFill>
            <a:prstDash val="solid"/>
          </a:ln>
        </p:spPr>
      </p:sp>
      <p:sp>
        <p:nvSpPr>
          <p:cNvPr id="3" name="Text 1"/>
          <p:cNvSpPr/>
          <p:nvPr/>
        </p:nvSpPr>
        <p:spPr>
          <a:xfrm>
            <a:off x="457200" y="256032"/>
            <a:ext cx="7315200" cy="274320"/>
          </a:xfrm>
          <a:prstGeom prst="rect">
            <a:avLst/>
          </a:prstGeom>
          <a:noFill/>
          <a:ln/>
        </p:spPr>
        <p:txBody>
          <a:bodyPr wrap="square" rtlCol="0" anchor="ctr"/>
          <a:lstStyle/>
          <a:p>
            <a:pPr indent="0" marL="0">
              <a:buNone/>
            </a:pPr>
            <a:r>
              <a:rPr lang="en-US" sz="1100" b="1" spc="200" kern="0" dirty="0">
                <a:solidFill>
                  <a:srgbClr val="7A1F3D"/>
                </a:solidFill>
                <a:latin typeface="Calibri" pitchFamily="34" charset="0"/>
                <a:ea typeface="Calibri" pitchFamily="34" charset="-122"/>
                <a:cs typeface="Calibri" pitchFamily="34" charset="-120"/>
              </a:rPr>
              <a:t>7 · IMPACTO Y PLAN</a:t>
            </a:r>
            <a:endParaRPr lang="en-US" sz="1100" dirty="0"/>
          </a:p>
        </p:txBody>
      </p:sp>
      <p:sp>
        <p:nvSpPr>
          <p:cNvPr id="4" name="Text 2"/>
          <p:cNvSpPr/>
          <p:nvPr/>
        </p:nvSpPr>
        <p:spPr>
          <a:xfrm>
            <a:off x="9418320" y="256032"/>
            <a:ext cx="2286000" cy="274320"/>
          </a:xfrm>
          <a:prstGeom prst="rect">
            <a:avLst/>
          </a:prstGeom>
          <a:noFill/>
          <a:ln/>
        </p:spPr>
        <p:txBody>
          <a:bodyPr wrap="square" rtlCol="0" anchor="ctr"/>
          <a:lstStyle/>
          <a:p>
            <a:pPr algn="r" indent="0" marL="0">
              <a:buNone/>
            </a:pPr>
            <a:r>
              <a:rPr lang="en-US" sz="1100" b="1" dirty="0">
                <a:solidFill>
                  <a:srgbClr val="6E6862"/>
                </a:solidFill>
                <a:latin typeface="Calibri" pitchFamily="34" charset="0"/>
                <a:ea typeface="Calibri" pitchFamily="34" charset="-122"/>
                <a:cs typeface="Calibri" pitchFamily="34" charset="-120"/>
              </a:rPr>
              <a:t>4:00 – 4:40</a:t>
            </a:r>
            <a:endParaRPr lang="en-US" sz="1100" dirty="0"/>
          </a:p>
        </p:txBody>
      </p:sp>
      <p:sp>
        <p:nvSpPr>
          <p:cNvPr id="5" name="Text 3"/>
          <p:cNvSpPr/>
          <p:nvPr/>
        </p:nvSpPr>
        <p:spPr>
          <a:xfrm>
            <a:off x="457200" y="502920"/>
            <a:ext cx="11247120" cy="731520"/>
          </a:xfrm>
          <a:prstGeom prst="rect">
            <a:avLst/>
          </a:prstGeom>
          <a:noFill/>
          <a:ln/>
        </p:spPr>
        <p:txBody>
          <a:bodyPr wrap="square" rtlCol="0" anchor="t"/>
          <a:lstStyle/>
          <a:p>
            <a:pPr indent="0" marL="0">
              <a:buNone/>
            </a:pPr>
            <a:r>
              <a:rPr lang="en-US" sz="2400" b="1" dirty="0">
                <a:solidFill>
                  <a:srgbClr val="1B1A19"/>
                </a:solidFill>
                <a:latin typeface="Cambria" pitchFamily="34" charset="0"/>
                <a:ea typeface="Cambria" pitchFamily="34" charset="-122"/>
                <a:cs typeface="Cambria" pitchFamily="34" charset="-120"/>
              </a:rPr>
              <a:t>Antes y después, con números del observatorio; tres fases</a:t>
            </a:r>
            <a:endParaRPr lang="en-US" sz="2400" dirty="0"/>
          </a:p>
        </p:txBody>
      </p:sp>
      <p:sp>
        <p:nvSpPr>
          <p:cNvPr id="6" name="Text 4"/>
          <p:cNvSpPr/>
          <p:nvPr/>
        </p:nvSpPr>
        <p:spPr>
          <a:xfrm>
            <a:off x="457200" y="6446520"/>
            <a:ext cx="9144000" cy="274320"/>
          </a:xfrm>
          <a:prstGeom prst="rect">
            <a:avLst/>
          </a:prstGeom>
          <a:noFill/>
          <a:ln/>
        </p:spPr>
        <p:txBody>
          <a:bodyPr wrap="square" rtlCol="0" anchor="ctr"/>
          <a:lstStyle/>
          <a:p>
            <a:pPr indent="0" marL="0">
              <a:buNone/>
            </a:pPr>
            <a:r>
              <a:rPr lang="en-US" sz="900" dirty="0">
                <a:solidFill>
                  <a:srgbClr val="6E6862"/>
                </a:solidFill>
                <a:latin typeface="Calibri" pitchFamily="34" charset="0"/>
                <a:ea typeface="Calibri" pitchFamily="34" charset="-122"/>
                <a:cs typeface="Calibri" pitchFamily="34" charset="-120"/>
              </a:rPr>
              <a:t>Grupo 9 · Proyecto Integrador en IA · UEES · 2026 · github.com/jorgemaldonadom-cmd/genial-clasificador-normativa</a:t>
            </a:r>
            <a:endParaRPr lang="en-US" sz="900" dirty="0"/>
          </a:p>
        </p:txBody>
      </p:sp>
      <p:sp>
        <p:nvSpPr>
          <p:cNvPr id="7" name="Text 5"/>
          <p:cNvSpPr/>
          <p:nvPr/>
        </p:nvSpPr>
        <p:spPr>
          <a:xfrm>
            <a:off x="11247120" y="6446520"/>
            <a:ext cx="548640" cy="274320"/>
          </a:xfrm>
          <a:prstGeom prst="rect">
            <a:avLst/>
          </a:prstGeom>
          <a:noFill/>
          <a:ln/>
        </p:spPr>
        <p:txBody>
          <a:bodyPr wrap="square" rtlCol="0" anchor="ctr"/>
          <a:lstStyle/>
          <a:p>
            <a:pPr algn="r" indent="0" marL="0">
              <a:buNone/>
            </a:pPr>
            <a:r>
              <a:rPr lang="en-US" sz="900" dirty="0">
                <a:solidFill>
                  <a:srgbClr val="6E6862"/>
                </a:solidFill>
                <a:latin typeface="Calibri" pitchFamily="34" charset="0"/>
                <a:ea typeface="Calibri" pitchFamily="34" charset="-122"/>
                <a:cs typeface="Calibri" pitchFamily="34" charset="-120"/>
              </a:rPr>
              <a:t>7 / 8</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47120" cy="914400"/>
        </p:xfrm>
        <a:graphic>
          <a:graphicData uri="http://schemas.openxmlformats.org/drawingml/2006/table">
            <a:tbl>
              <a:tblPr/>
              <a:tblGrid>
                <a:gridCol w="2011680"/>
                <a:gridCol w="2103120"/>
                <a:gridCol w="3566160"/>
                <a:gridCol w="1920240"/>
                <a:gridCol w="1645920"/>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Indicador</a:t>
                      </a:r>
                      <a:endParaRPr lang="en-US" sz="10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7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Hoy</a:t>
                      </a:r>
                      <a:endParaRPr lang="en-US" sz="10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7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Con la solución</a:t>
                      </a:r>
                      <a:endParaRPr lang="en-US" sz="10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7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Diferencia</a:t>
                      </a:r>
                      <a:endParaRPr lang="en-US" sz="10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7A1F3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Fuente</a:t>
                      </a:r>
                      <a:endParaRPr lang="en-US" sz="10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7A1F3D"/>
                    </a:solidFill>
                  </a:tcPr>
                </a:tc>
              </a:tr>
              <a:tr h="420624">
                <a:tc>
                  <a:txBody>
                    <a:bodyPr/>
                    <a:lstStyle/>
                    <a:p>
                      <a:pPr indent="0" marL="0">
                        <a:buNone/>
                      </a:pPr>
                      <a:r>
                        <a:rPr lang="en-US" sz="950" b="1" dirty="0">
                          <a:solidFill>
                            <a:srgbClr val="1B1A19"/>
                          </a:solidFill>
                          <a:latin typeface="Calibri" pitchFamily="34" charset="0"/>
                          <a:ea typeface="Calibri" pitchFamily="34" charset="-122"/>
                          <a:cs typeface="Calibri" pitchFamily="34" charset="-120"/>
                        </a:rPr>
                        <a:t>Tiempo por pasada (813 normas)</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 135 h-persona</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 114 h medidas (15 % automático); menos si la revisión asistida es más rápida</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−21 h (−15 %) + hipótesis a medir</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models/best_model.json · README §9</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r>
              <a:tr h="420624">
                <a:tc>
                  <a:txBody>
                    <a:bodyPr/>
                    <a:lstStyle/>
                    <a:p>
                      <a:pPr indent="0" marL="0">
                        <a:buNone/>
                      </a:pPr>
                      <a:r>
                        <a:rPr lang="en-US" sz="950" b="1" dirty="0">
                          <a:solidFill>
                            <a:srgbClr val="1B1A19"/>
                          </a:solidFill>
                          <a:latin typeface="Calibri" pitchFamily="34" charset="0"/>
                          <a:ea typeface="Calibri" pitchFamily="34" charset="-122"/>
                          <a:cs typeface="Calibri" pitchFamily="34" charset="-120"/>
                        </a:rPr>
                        <a:t>Decisión por norma</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1 lectura, 5 opciones</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2 candidatas (correcta entre ellas en 86 de cada 100)</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espacio de decisión 5 → 2</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evaluacion_final.csv (top-2)</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r>
              <a:tr h="420624">
                <a:tc>
                  <a:txBody>
                    <a:bodyPr/>
                    <a:lstStyle/>
                    <a:p>
                      <a:pPr indent="0" marL="0">
                        <a:buNone/>
                      </a:pPr>
                      <a:r>
                        <a:rPr lang="en-US" sz="950" b="1" dirty="0">
                          <a:solidFill>
                            <a:srgbClr val="1B1A19"/>
                          </a:solidFill>
                          <a:latin typeface="Calibri" pitchFamily="34" charset="0"/>
                          <a:ea typeface="Calibri" pitchFamily="34" charset="-122"/>
                          <a:cs typeface="Calibri" pitchFamily="34" charset="-120"/>
                        </a:rPr>
                        <a:t>Error conocido</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desconocido (1 codificador, sin κ)</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medido: 67 de 100 coinciden con el codificador; 85 de 100 en el tramo automático</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fiabilidad visible y reportable</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prueba ciega n = 125</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r>
              <a:tr h="420624">
                <a:tc>
                  <a:txBody>
                    <a:bodyPr/>
                    <a:lstStyle/>
                    <a:p>
                      <a:pPr indent="0" marL="0">
                        <a:buNone/>
                      </a:pPr>
                      <a:r>
                        <a:rPr lang="en-US" sz="950" b="1" dirty="0">
                          <a:solidFill>
                            <a:srgbClr val="1B1A19"/>
                          </a:solidFill>
                          <a:latin typeface="Calibri" pitchFamily="34" charset="0"/>
                          <a:ea typeface="Calibri" pitchFamily="34" charset="-122"/>
                          <a:cs typeface="Calibri" pitchFamily="34" charset="-120"/>
                        </a:rPr>
                        <a:t>Cobertura / alcance</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países pequeños y pt/en sin garantía</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100 % de Brasil, Caribe y países &lt; 20 normas con revisión humana</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equidad contenida, no corregida</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fairness/ · figura 12</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r>
              <a:tr h="420624">
                <a:tc>
                  <a:txBody>
                    <a:bodyPr/>
                    <a:lstStyle/>
                    <a:p>
                      <a:pPr indent="0" marL="0">
                        <a:buNone/>
                      </a:pPr>
                      <a:r>
                        <a:rPr lang="en-US" sz="950" b="1" dirty="0">
                          <a:solidFill>
                            <a:srgbClr val="1B1A19"/>
                          </a:solidFill>
                          <a:latin typeface="Calibri" pitchFamily="34" charset="0"/>
                          <a:ea typeface="Calibri" pitchFamily="34" charset="-122"/>
                          <a:cs typeface="Calibri" pitchFamily="34" charset="-120"/>
                        </a:rPr>
                        <a:t>Costo de infraestructura</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0 (manual)</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0: modelo de 160 KB, nube gratuita o servidor institucional; sin API de pago</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c>
                  <a:txBody>
                    <a:bodyPr/>
                    <a:lstStyle/>
                    <a:p>
                      <a:pPr indent="0" marL="0">
                        <a:buNone/>
                      </a:pPr>
                      <a:r>
                        <a:rPr lang="en-US" sz="950" dirty="0">
                          <a:solidFill>
                            <a:srgbClr val="1B1A19"/>
                          </a:solidFill>
                          <a:latin typeface="Calibri" pitchFamily="34" charset="0"/>
                          <a:ea typeface="Calibri" pitchFamily="34" charset="-122"/>
                          <a:cs typeface="Calibri" pitchFamily="34" charset="-120"/>
                        </a:rPr>
                        <a:t>app/ · Streamlit Community Cloud</a:t>
                      </a:r>
                      <a:endParaRPr lang="en-US" sz="950" dirty="0">
                        <a:latin typeface="Calibri" charset="0"/>
                        <a:ea typeface="Calibri" charset="0"/>
                        <a:cs typeface="Calibri" charset="0"/>
                      </a:endParaRPr>
                    </a:p>
                  </a:txBody>
                  <a:tcPr marL="91440" marR="91440" marT="45720" marB="45720" anchor="ctr">
                    <a:lnL w="9525" cap="flat" cmpd="sng" algn="ctr">
                      <a:solidFill>
                        <a:srgbClr val="D9CFD2"/>
                      </a:solidFill>
                      <a:prstDash val="solid"/>
                      <a:round/>
                      <a:headEnd type="none" w="med" len="med"/>
                      <a:tailEnd type="none" w="med" len="med"/>
                    </a:lnL>
                    <a:lnR w="9525" cap="flat" cmpd="sng" algn="ctr">
                      <a:solidFill>
                        <a:srgbClr val="D9CFD2"/>
                      </a:solidFill>
                      <a:prstDash val="solid"/>
                      <a:round/>
                      <a:headEnd type="none" w="med" len="med"/>
                      <a:tailEnd type="none" w="med" len="med"/>
                    </a:lnR>
                    <a:lnT w="9525" cap="flat" cmpd="sng" algn="ctr">
                      <a:solidFill>
                        <a:srgbClr val="D9CFD2"/>
                      </a:solidFill>
                      <a:prstDash val="solid"/>
                      <a:round/>
                      <a:headEnd type="none" w="med" len="med"/>
                      <a:tailEnd type="none" w="med" len="med"/>
                    </a:lnT>
                    <a:lnB w="9525" cap="flat" cmpd="sng" algn="ctr">
                      <a:solidFill>
                        <a:srgbClr val="D9CFD2"/>
                      </a:solidFill>
                      <a:prstDash val="solid"/>
                      <a:round/>
                      <a:headEnd type="none" w="med" len="med"/>
                      <a:tailEnd type="none" w="med" len="med"/>
                    </a:lnB>
                    <a:solidFill>
                      <a:srgbClr val="FFFFFF"/>
                    </a:solidFill>
                  </a:tcPr>
                </a:tc>
              </a:tr>
            </a:tbl>
          </a:graphicData>
        </a:graphic>
      </p:graphicFrame>
      <p:sp>
        <p:nvSpPr>
          <p:cNvPr id="9" name="Text 6"/>
          <p:cNvSpPr/>
          <p:nvPr/>
        </p:nvSpPr>
        <p:spPr>
          <a:xfrm>
            <a:off x="457200" y="3931920"/>
            <a:ext cx="11247120" cy="365760"/>
          </a:xfrm>
          <a:prstGeom prst="rect">
            <a:avLst/>
          </a:prstGeom>
          <a:noFill/>
          <a:ln/>
        </p:spPr>
        <p:txBody>
          <a:bodyPr wrap="square" rtlCol="0" anchor="ctr"/>
          <a:lstStyle/>
          <a:p>
            <a:pPr indent="0" marL="0">
              <a:buNone/>
            </a:pPr>
            <a:r>
              <a:rPr lang="en-US" sz="950" i="1" dirty="0">
                <a:solidFill>
                  <a:srgbClr val="6E6862"/>
                </a:solidFill>
                <a:latin typeface="Calibri" pitchFamily="34" charset="0"/>
                <a:ea typeface="Calibri" pitchFamily="34" charset="-122"/>
                <a:cs typeface="Calibri" pitchFamily="34" charset="-120"/>
              </a:rPr>
              <a:t>Lo medido viene de la prueba ciega y de la calibración del umbral; los minutos por norma con asistencia no se han medido: se presentan como hipótesis y son el primer resultado del piloto.</a:t>
            </a:r>
            <a:endParaRPr lang="en-US" sz="950" dirty="0"/>
          </a:p>
        </p:txBody>
      </p:sp>
      <p:sp>
        <p:nvSpPr>
          <p:cNvPr id="10" name="Shape 7"/>
          <p:cNvSpPr/>
          <p:nvPr/>
        </p:nvSpPr>
        <p:spPr>
          <a:xfrm>
            <a:off x="457200" y="4389120"/>
            <a:ext cx="3657600" cy="1874520"/>
          </a:xfrm>
          <a:prstGeom prst="rect">
            <a:avLst/>
          </a:prstGeom>
          <a:solidFill>
            <a:srgbClr val="FFFFFF"/>
          </a:solidFill>
          <a:ln w="12700">
            <a:solidFill>
              <a:srgbClr val="D9CFD2"/>
            </a:solidFill>
            <a:prstDash val="solid"/>
          </a:ln>
        </p:spPr>
      </p:sp>
      <p:sp>
        <p:nvSpPr>
          <p:cNvPr id="11" name="Text 8"/>
          <p:cNvSpPr/>
          <p:nvPr/>
        </p:nvSpPr>
        <p:spPr>
          <a:xfrm>
            <a:off x="594360" y="4462272"/>
            <a:ext cx="3383280" cy="292608"/>
          </a:xfrm>
          <a:prstGeom prst="rect">
            <a:avLst/>
          </a:prstGeom>
          <a:noFill/>
          <a:ln/>
        </p:spPr>
        <p:txBody>
          <a:bodyPr wrap="square" rtlCol="0" anchor="ctr"/>
          <a:lstStyle/>
          <a:p>
            <a:pPr indent="0" marL="0">
              <a:buNone/>
            </a:pPr>
            <a:r>
              <a:rPr lang="en-US" sz="1200" b="1" dirty="0">
                <a:solidFill>
                  <a:srgbClr val="2E6B3A"/>
                </a:solidFill>
                <a:latin typeface="Calibri" pitchFamily="34" charset="0"/>
                <a:ea typeface="Calibri" pitchFamily="34" charset="-122"/>
                <a:cs typeface="Calibri" pitchFamily="34" charset="-120"/>
              </a:rPr>
              <a:t>Fase 1 · hecha</a:t>
            </a:r>
            <a:endParaRPr lang="en-US" sz="1200" dirty="0"/>
          </a:p>
        </p:txBody>
      </p:sp>
      <p:sp>
        <p:nvSpPr>
          <p:cNvPr id="12" name="Text 9"/>
          <p:cNvSpPr/>
          <p:nvPr/>
        </p:nvSpPr>
        <p:spPr>
          <a:xfrm>
            <a:off x="594360" y="4773168"/>
            <a:ext cx="3383280" cy="1005840"/>
          </a:xfrm>
          <a:prstGeom prst="rect">
            <a:avLst/>
          </a:prstGeom>
          <a:noFill/>
          <a:ln/>
        </p:spPr>
        <p:txBody>
          <a:bodyPr wrap="square" rtlCol="0" anchor="t"/>
          <a:lstStyle/>
          <a:p>
            <a:pPr indent="0" marL="0">
              <a:buNone/>
            </a:pPr>
            <a:r>
              <a:rPr lang="en-US" sz="1000" dirty="0">
                <a:solidFill>
                  <a:srgbClr val="1B1A19"/>
                </a:solidFill>
                <a:latin typeface="Calibri" pitchFamily="34" charset="0"/>
                <a:ea typeface="Calibri" pitchFamily="34" charset="-122"/>
                <a:cs typeface="Calibri" pitchFamily="34" charset="-120"/>
              </a:rPr>
              <a:t>Prototipo v1.1.2 desplegado, prueba ciega, auditoría de equidad, model card y datasheet</a:t>
            </a:r>
            <a:endParaRPr lang="en-US" sz="1000" dirty="0"/>
          </a:p>
        </p:txBody>
      </p:sp>
      <p:sp>
        <p:nvSpPr>
          <p:cNvPr id="13" name="Text 10"/>
          <p:cNvSpPr/>
          <p:nvPr/>
        </p:nvSpPr>
        <p:spPr>
          <a:xfrm>
            <a:off x="594360" y="5806440"/>
            <a:ext cx="3383280" cy="411480"/>
          </a:xfrm>
          <a:prstGeom prst="rect">
            <a:avLst/>
          </a:prstGeom>
          <a:noFill/>
          <a:ln/>
        </p:spPr>
        <p:txBody>
          <a:bodyPr wrap="square" rtlCol="0" anchor="t"/>
          <a:lstStyle/>
          <a:p>
            <a:pPr indent="0" marL="0">
              <a:buNone/>
            </a:pPr>
            <a:r>
              <a:rPr lang="en-US" sz="950" i="1" dirty="0">
                <a:solidFill>
                  <a:srgbClr val="6E6862"/>
                </a:solidFill>
                <a:latin typeface="Calibri" pitchFamily="34" charset="0"/>
                <a:ea typeface="Calibri" pitchFamily="34" charset="-122"/>
                <a:cs typeface="Calibri" pitchFamily="34" charset="-120"/>
              </a:rPr>
              <a:t>Recursos: Grupo 9</a:t>
            </a:r>
            <a:endParaRPr lang="en-US" sz="950" dirty="0"/>
          </a:p>
        </p:txBody>
      </p:sp>
      <p:sp>
        <p:nvSpPr>
          <p:cNvPr id="14" name="Shape 11"/>
          <p:cNvSpPr/>
          <p:nvPr/>
        </p:nvSpPr>
        <p:spPr>
          <a:xfrm>
            <a:off x="4251960" y="4389120"/>
            <a:ext cx="3657600" cy="1874520"/>
          </a:xfrm>
          <a:prstGeom prst="rect">
            <a:avLst/>
          </a:prstGeom>
          <a:solidFill>
            <a:srgbClr val="F3E6EA"/>
          </a:solidFill>
          <a:ln w="19050">
            <a:solidFill>
              <a:srgbClr val="7A1F3D"/>
            </a:solidFill>
            <a:prstDash val="solid"/>
          </a:ln>
        </p:spPr>
      </p:sp>
      <p:sp>
        <p:nvSpPr>
          <p:cNvPr id="15" name="Text 12"/>
          <p:cNvSpPr/>
          <p:nvPr/>
        </p:nvSpPr>
        <p:spPr>
          <a:xfrm>
            <a:off x="4389120" y="4462272"/>
            <a:ext cx="3383280" cy="292608"/>
          </a:xfrm>
          <a:prstGeom prst="rect">
            <a:avLst/>
          </a:prstGeom>
          <a:noFill/>
          <a:ln/>
        </p:spPr>
        <p:txBody>
          <a:bodyPr wrap="square" rtlCol="0" anchor="ctr"/>
          <a:lstStyle/>
          <a:p>
            <a:pPr indent="0" marL="0">
              <a:buNone/>
            </a:pPr>
            <a:r>
              <a:rPr lang="en-US" sz="1200" b="1" dirty="0">
                <a:solidFill>
                  <a:srgbClr val="7A1F3D"/>
                </a:solidFill>
                <a:latin typeface="Calibri" pitchFamily="34" charset="0"/>
                <a:ea typeface="Calibri" pitchFamily="34" charset="-122"/>
                <a:cs typeface="Calibri" pitchFamily="34" charset="-120"/>
              </a:rPr>
              <a:t>Fase 2 · piloto (6 semanas)</a:t>
            </a:r>
            <a:endParaRPr lang="en-US" sz="1200" dirty="0"/>
          </a:p>
        </p:txBody>
      </p:sp>
      <p:sp>
        <p:nvSpPr>
          <p:cNvPr id="16" name="Text 13"/>
          <p:cNvSpPr/>
          <p:nvPr/>
        </p:nvSpPr>
        <p:spPr>
          <a:xfrm>
            <a:off x="4389120" y="4773168"/>
            <a:ext cx="3383280" cy="1005840"/>
          </a:xfrm>
          <a:prstGeom prst="rect">
            <a:avLst/>
          </a:prstGeom>
          <a:noFill/>
          <a:ln/>
        </p:spPr>
        <p:txBody>
          <a:bodyPr wrap="square" rtlCol="0" anchor="t"/>
          <a:lstStyle/>
          <a:p>
            <a:pPr indent="0" marL="0">
              <a:buNone/>
            </a:pPr>
            <a:r>
              <a:rPr lang="en-US" sz="1000" dirty="0">
                <a:solidFill>
                  <a:srgbClr val="1B1A19"/>
                </a:solidFill>
                <a:latin typeface="Calibri" pitchFamily="34" charset="0"/>
                <a:ea typeface="Calibri" pitchFamily="34" charset="-122"/>
                <a:cs typeface="Calibri" pitchFamily="34" charset="-120"/>
              </a:rPr>
              <a:t>2 codificadores · 100 normas con doble codificación ciega → κ humano-humano; minutos por norma con y sin asistencia; registro de dimensión secundaria</a:t>
            </a:r>
            <a:endParaRPr lang="en-US" sz="1000" dirty="0"/>
          </a:p>
        </p:txBody>
      </p:sp>
      <p:sp>
        <p:nvSpPr>
          <p:cNvPr id="17" name="Text 14"/>
          <p:cNvSpPr/>
          <p:nvPr/>
        </p:nvSpPr>
        <p:spPr>
          <a:xfrm>
            <a:off x="4389120" y="5806440"/>
            <a:ext cx="3383280" cy="411480"/>
          </a:xfrm>
          <a:prstGeom prst="rect">
            <a:avLst/>
          </a:prstGeom>
          <a:noFill/>
          <a:ln/>
        </p:spPr>
        <p:txBody>
          <a:bodyPr wrap="square" rtlCol="0" anchor="t"/>
          <a:lstStyle/>
          <a:p>
            <a:pPr indent="0" marL="0">
              <a:buNone/>
            </a:pPr>
            <a:r>
              <a:rPr lang="en-US" sz="950" i="1" dirty="0">
                <a:solidFill>
                  <a:srgbClr val="6E6862"/>
                </a:solidFill>
                <a:latin typeface="Calibri" pitchFamily="34" charset="0"/>
                <a:ea typeface="Calibri" pitchFamily="34" charset="-122"/>
                <a:cs typeface="Calibri" pitchFamily="34" charset="-120"/>
              </a:rPr>
              <a:t>Recursos: Coordinación GENIAL + 2 codificadores + Grupo 9</a:t>
            </a:r>
            <a:endParaRPr lang="en-US" sz="950" dirty="0"/>
          </a:p>
        </p:txBody>
      </p:sp>
      <p:sp>
        <p:nvSpPr>
          <p:cNvPr id="18" name="Shape 15"/>
          <p:cNvSpPr/>
          <p:nvPr/>
        </p:nvSpPr>
        <p:spPr>
          <a:xfrm>
            <a:off x="8046720" y="4389120"/>
            <a:ext cx="3657600" cy="1874520"/>
          </a:xfrm>
          <a:prstGeom prst="rect">
            <a:avLst/>
          </a:prstGeom>
          <a:solidFill>
            <a:srgbClr val="FFFFFF"/>
          </a:solidFill>
          <a:ln w="12700">
            <a:solidFill>
              <a:srgbClr val="D9CFD2"/>
            </a:solidFill>
            <a:prstDash val="solid"/>
          </a:ln>
        </p:spPr>
      </p:sp>
      <p:sp>
        <p:nvSpPr>
          <p:cNvPr id="19" name="Text 16"/>
          <p:cNvSpPr/>
          <p:nvPr/>
        </p:nvSpPr>
        <p:spPr>
          <a:xfrm>
            <a:off x="8183880" y="4462272"/>
            <a:ext cx="3383280" cy="292608"/>
          </a:xfrm>
          <a:prstGeom prst="rect">
            <a:avLst/>
          </a:prstGeom>
          <a:noFill/>
          <a:ln/>
        </p:spPr>
        <p:txBody>
          <a:bodyPr wrap="square" rtlCol="0" anchor="ctr"/>
          <a:lstStyle/>
          <a:p>
            <a:pPr indent="0" marL="0">
              <a:buNone/>
            </a:pPr>
            <a:r>
              <a:rPr lang="en-US" sz="1200" b="1" dirty="0">
                <a:solidFill>
                  <a:srgbClr val="7A1F3D"/>
                </a:solidFill>
                <a:latin typeface="Calibri" pitchFamily="34" charset="0"/>
                <a:ea typeface="Calibri" pitchFamily="34" charset="-122"/>
                <a:cs typeface="Calibri" pitchFamily="34" charset="-120"/>
              </a:rPr>
              <a:t>Fase 3 · operación</a:t>
            </a:r>
            <a:endParaRPr lang="en-US" sz="1200" dirty="0"/>
          </a:p>
        </p:txBody>
      </p:sp>
      <p:sp>
        <p:nvSpPr>
          <p:cNvPr id="20" name="Text 17"/>
          <p:cNvSpPr/>
          <p:nvPr/>
        </p:nvSpPr>
        <p:spPr>
          <a:xfrm>
            <a:off x="8183880" y="4773168"/>
            <a:ext cx="3383280" cy="1005840"/>
          </a:xfrm>
          <a:prstGeom prst="rect">
            <a:avLst/>
          </a:prstGeom>
          <a:noFill/>
          <a:ln/>
        </p:spPr>
        <p:txBody>
          <a:bodyPr wrap="square" rtlCol="0" anchor="t"/>
          <a:lstStyle/>
          <a:p>
            <a:pPr indent="0" marL="0">
              <a:buNone/>
            </a:pPr>
            <a:r>
              <a:rPr lang="en-US" sz="1000" dirty="0">
                <a:solidFill>
                  <a:srgbClr val="1B1A19"/>
                </a:solidFill>
                <a:latin typeface="Calibri" pitchFamily="34" charset="0"/>
                <a:ea typeface="Calibri" pitchFamily="34" charset="-122"/>
                <a:cs typeface="Calibri" pitchFamily="34" charset="-120"/>
              </a:rPr>
              <a:t>Lote CSV integrado en la hoja de codificación; reentrenamiento y nueva auditoría con cada actualización del corpus; publicación del IMN con % de respaldo humano</a:t>
            </a:r>
            <a:endParaRPr lang="en-US" sz="1000" dirty="0"/>
          </a:p>
        </p:txBody>
      </p:sp>
      <p:sp>
        <p:nvSpPr>
          <p:cNvPr id="21" name="Text 18"/>
          <p:cNvSpPr/>
          <p:nvPr/>
        </p:nvSpPr>
        <p:spPr>
          <a:xfrm>
            <a:off x="8183880" y="5806440"/>
            <a:ext cx="3383280" cy="411480"/>
          </a:xfrm>
          <a:prstGeom prst="rect">
            <a:avLst/>
          </a:prstGeom>
          <a:noFill/>
          <a:ln/>
        </p:spPr>
        <p:txBody>
          <a:bodyPr wrap="square" rtlCol="0" anchor="t"/>
          <a:lstStyle/>
          <a:p>
            <a:pPr indent="0" marL="0">
              <a:buNone/>
            </a:pPr>
            <a:r>
              <a:rPr lang="en-US" sz="950" i="1" dirty="0">
                <a:solidFill>
                  <a:srgbClr val="6E6862"/>
                </a:solidFill>
                <a:latin typeface="Calibri" pitchFamily="34" charset="0"/>
                <a:ea typeface="Calibri" pitchFamily="34" charset="-122"/>
                <a:cs typeface="Calibri" pitchFamily="34" charset="-120"/>
              </a:rPr>
              <a:t>Recursos: 1 responsable técnico a tiempo parcial</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B0F1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7A1F3D"/>
          </a:solidFill>
          <a:ln w="12700">
            <a:solidFill>
              <a:srgbClr val="7A1F3D"/>
            </a:solidFill>
            <a:prstDash val="solid"/>
          </a:ln>
        </p:spPr>
      </p:sp>
      <p:sp>
        <p:nvSpPr>
          <p:cNvPr id="3" name="Text 1"/>
          <p:cNvSpPr/>
          <p:nvPr/>
        </p:nvSpPr>
        <p:spPr>
          <a:xfrm>
            <a:off x="822960" y="548640"/>
            <a:ext cx="7315200" cy="274320"/>
          </a:xfrm>
          <a:prstGeom prst="rect">
            <a:avLst/>
          </a:prstGeom>
          <a:noFill/>
          <a:ln/>
        </p:spPr>
        <p:txBody>
          <a:bodyPr wrap="square" rtlCol="0" anchor="ctr"/>
          <a:lstStyle/>
          <a:p>
            <a:pPr indent="0" marL="0">
              <a:buNone/>
            </a:pPr>
            <a:r>
              <a:rPr lang="en-US" sz="1100" b="1" spc="200" kern="0" dirty="0">
                <a:solidFill>
                  <a:srgbClr val="E3B341"/>
                </a:solidFill>
                <a:latin typeface="Calibri" pitchFamily="34" charset="0"/>
                <a:ea typeface="Calibri" pitchFamily="34" charset="-122"/>
                <a:cs typeface="Calibri" pitchFamily="34" charset="-120"/>
              </a:rPr>
              <a:t>8 · CIERRE · 4:40 – 5:00</a:t>
            </a:r>
            <a:endParaRPr lang="en-US" sz="1100" dirty="0"/>
          </a:p>
        </p:txBody>
      </p:sp>
      <p:sp>
        <p:nvSpPr>
          <p:cNvPr id="4" name="Text 2"/>
          <p:cNvSpPr/>
          <p:nvPr/>
        </p:nvSpPr>
        <p:spPr>
          <a:xfrm>
            <a:off x="822960" y="1005840"/>
            <a:ext cx="10515600" cy="1554480"/>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El observatorio no necesita que una máquina decida: necesita que cada codificador decida mejor y más rápido, y que cada cifra del índice diga cuánta revisión humana lleva detrás.</a:t>
            </a:r>
            <a:endParaRPr lang="en-US" sz="2600" dirty="0"/>
          </a:p>
        </p:txBody>
      </p:sp>
      <p:sp>
        <p:nvSpPr>
          <p:cNvPr id="5" name="Shape 3"/>
          <p:cNvSpPr/>
          <p:nvPr/>
        </p:nvSpPr>
        <p:spPr>
          <a:xfrm>
            <a:off x="822960" y="2834640"/>
            <a:ext cx="7680960" cy="1417320"/>
          </a:xfrm>
          <a:prstGeom prst="rect">
            <a:avLst/>
          </a:prstGeom>
          <a:solidFill>
            <a:srgbClr val="7A1F3D"/>
          </a:solidFill>
          <a:ln w="19050">
            <a:solidFill>
              <a:srgbClr val="E3B341"/>
            </a:solidFill>
            <a:prstDash val="solid"/>
          </a:ln>
        </p:spPr>
      </p:sp>
      <p:sp>
        <p:nvSpPr>
          <p:cNvPr id="6" name="Text 4"/>
          <p:cNvSpPr/>
          <p:nvPr/>
        </p:nvSpPr>
        <p:spPr>
          <a:xfrm>
            <a:off x="1005840" y="2907792"/>
            <a:ext cx="7315200" cy="320040"/>
          </a:xfrm>
          <a:prstGeom prst="rect">
            <a:avLst/>
          </a:prstGeom>
          <a:noFill/>
          <a:ln/>
        </p:spPr>
        <p:txBody>
          <a:bodyPr wrap="square" rtlCol="0" anchor="ctr"/>
          <a:lstStyle/>
          <a:p>
            <a:pPr indent="0" marL="0">
              <a:buNone/>
            </a:pPr>
            <a:r>
              <a:rPr lang="en-US" sz="1200" b="1" spc="100" kern="0" dirty="0">
                <a:solidFill>
                  <a:srgbClr val="E3B341"/>
                </a:solidFill>
                <a:latin typeface="Calibri" pitchFamily="34" charset="0"/>
                <a:ea typeface="Calibri" pitchFamily="34" charset="-122"/>
                <a:cs typeface="Calibri" pitchFamily="34" charset="-120"/>
              </a:rPr>
              <a:t>Lo que pedimos hoy</a:t>
            </a:r>
            <a:endParaRPr lang="en-US" sz="1200" dirty="0"/>
          </a:p>
        </p:txBody>
      </p:sp>
      <p:sp>
        <p:nvSpPr>
          <p:cNvPr id="7" name="Text 5"/>
          <p:cNvSpPr/>
          <p:nvPr/>
        </p:nvSpPr>
        <p:spPr>
          <a:xfrm>
            <a:off x="1005840" y="3200400"/>
            <a:ext cx="7315200" cy="1005840"/>
          </a:xfrm>
          <a:prstGeom prst="rect">
            <a:avLst/>
          </a:prstGeom>
          <a:noFill/>
          <a:ln/>
        </p:spPr>
        <p:txBody>
          <a:bodyPr wrap="square" rtlCol="0" anchor="t"/>
          <a:lstStyle/>
          <a:p>
            <a:pPr indent="0" marL="0">
              <a:buNone/>
            </a:pPr>
            <a:r>
              <a:rPr lang="en-US" sz="1400" dirty="0">
                <a:solidFill>
                  <a:srgbClr val="FFFFFF"/>
                </a:solidFill>
                <a:latin typeface="Calibri" pitchFamily="34" charset="0"/>
                <a:ea typeface="Calibri" pitchFamily="34" charset="-122"/>
                <a:cs typeface="Calibri" pitchFamily="34" charset="-120"/>
              </a:rPr>
              <a:t>Autorizar el piloto: 2 codificadores · 100 normas con doble codificación · 6 semanas · costo de infraestructura cero. Entregables: κ humano-humano, minutos por norma con y sin asistencia, dimensión secundaria registrada.</a:t>
            </a:r>
            <a:endParaRPr lang="en-US" sz="1400" dirty="0"/>
          </a:p>
        </p:txBody>
      </p:sp>
      <p:sp>
        <p:nvSpPr>
          <p:cNvPr id="8" name="Text 6"/>
          <p:cNvSpPr/>
          <p:nvPr/>
        </p:nvSpPr>
        <p:spPr>
          <a:xfrm>
            <a:off x="822960" y="4526280"/>
            <a:ext cx="3749040" cy="685800"/>
          </a:xfrm>
          <a:prstGeom prst="rect">
            <a:avLst/>
          </a:prstGeom>
          <a:noFill/>
          <a:ln/>
        </p:spPr>
        <p:txBody>
          <a:bodyPr wrap="square"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Supera las líneas base</a:t>
            </a:r>
            <a:endParaRPr lang="en-US" sz="1150" dirty="0"/>
          </a:p>
          <a:p>
            <a:pPr indent="0" marL="0">
              <a:buNone/>
            </a:pPr>
            <a:r>
              <a:rPr lang="en-US" sz="1150" dirty="0">
                <a:solidFill>
                  <a:srgbClr val="E8D5DB"/>
                </a:solidFill>
                <a:latin typeface="Calibri" pitchFamily="34" charset="0"/>
                <a:ea typeface="Calibri" pitchFamily="34" charset="-122"/>
                <a:cs typeface="Calibri" pitchFamily="34" charset="-120"/>
              </a:rPr>
              <a:t>67 de 100 · 86 con top-2 · p &lt; 0.05</a:t>
            </a:r>
            <a:endParaRPr lang="en-US" sz="1150" dirty="0"/>
          </a:p>
        </p:txBody>
      </p:sp>
      <p:sp>
        <p:nvSpPr>
          <p:cNvPr id="9" name="Text 7"/>
          <p:cNvSpPr/>
          <p:nvPr/>
        </p:nvSpPr>
        <p:spPr>
          <a:xfrm>
            <a:off x="4709160" y="4526280"/>
            <a:ext cx="3749040" cy="685800"/>
          </a:xfrm>
          <a:prstGeom prst="rect">
            <a:avLst/>
          </a:prstGeom>
          <a:noFill/>
          <a:ln/>
        </p:spPr>
        <p:txBody>
          <a:bodyPr wrap="square"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Iguala a un LLM few-shot</a:t>
            </a:r>
            <a:endParaRPr lang="en-US" sz="1150" dirty="0"/>
          </a:p>
          <a:p>
            <a:pPr indent="0" marL="0">
              <a:buNone/>
            </a:pPr>
            <a:r>
              <a:rPr lang="en-US" sz="1150" dirty="0">
                <a:solidFill>
                  <a:srgbClr val="E8D5DB"/>
                </a:solidFill>
                <a:latin typeface="Calibri" pitchFamily="34" charset="0"/>
                <a:ea typeface="Calibri" pitchFamily="34" charset="-122"/>
                <a:cs typeface="Calibri" pitchFamily="34" charset="-120"/>
              </a:rPr>
              <a:t>sin API, sin coste por norma, sin datos fuera</a:t>
            </a:r>
            <a:endParaRPr lang="en-US" sz="1150" dirty="0"/>
          </a:p>
        </p:txBody>
      </p:sp>
      <p:sp>
        <p:nvSpPr>
          <p:cNvPr id="10" name="Text 8"/>
          <p:cNvSpPr/>
          <p:nvPr/>
        </p:nvSpPr>
        <p:spPr>
          <a:xfrm>
            <a:off x="822960" y="5303520"/>
            <a:ext cx="3749040" cy="685800"/>
          </a:xfrm>
          <a:prstGeom prst="rect">
            <a:avLst/>
          </a:prstGeom>
          <a:noFill/>
          <a:ln/>
        </p:spPr>
        <p:txBody>
          <a:bodyPr wrap="square"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Auditado y acotado</a:t>
            </a:r>
            <a:endParaRPr lang="en-US" sz="1150" dirty="0"/>
          </a:p>
          <a:p>
            <a:pPr indent="0" marL="0">
              <a:buNone/>
            </a:pPr>
            <a:r>
              <a:rPr lang="en-US" sz="1150" dirty="0">
                <a:solidFill>
                  <a:srgbClr val="E8D5DB"/>
                </a:solidFill>
                <a:latin typeface="Calibri" pitchFamily="34" charset="0"/>
                <a:ea typeface="Calibri" pitchFamily="34" charset="-122"/>
                <a:cs typeface="Calibri" pitchFamily="34" charset="-120"/>
              </a:rPr>
              <a:t>equidad por jurisdicción · regla de gobernanza</a:t>
            </a:r>
            <a:endParaRPr lang="en-US" sz="1150" dirty="0"/>
          </a:p>
        </p:txBody>
      </p:sp>
      <p:sp>
        <p:nvSpPr>
          <p:cNvPr id="11" name="Text 9"/>
          <p:cNvSpPr/>
          <p:nvPr/>
        </p:nvSpPr>
        <p:spPr>
          <a:xfrm>
            <a:off x="4709160" y="5303520"/>
            <a:ext cx="3749040" cy="685800"/>
          </a:xfrm>
          <a:prstGeom prst="rect">
            <a:avLst/>
          </a:prstGeom>
          <a:noFill/>
          <a:ln/>
        </p:spPr>
        <p:txBody>
          <a:bodyPr wrap="square"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Reproducible y desplegado</a:t>
            </a:r>
            <a:endParaRPr lang="en-US" sz="1150" dirty="0"/>
          </a:p>
          <a:p>
            <a:pPr indent="0" marL="0">
              <a:buNone/>
            </a:pPr>
            <a:r>
              <a:rPr lang="en-US" sz="1150" dirty="0">
                <a:solidFill>
                  <a:srgbClr val="E8D5DB"/>
                </a:solidFill>
                <a:latin typeface="Calibri" pitchFamily="34" charset="0"/>
                <a:ea typeface="Calibri" pitchFamily="34" charset="-122"/>
                <a:cs typeface="Calibri" pitchFamily="34" charset="-120"/>
              </a:rPr>
              <a:t>hash del corpus · cuadernos · app en línea · MIT</a:t>
            </a:r>
            <a:endParaRPr lang="en-US" sz="1150" dirty="0"/>
          </a:p>
        </p:txBody>
      </p:sp>
      <p:pic>
        <p:nvPicPr>
          <p:cNvPr id="12" name="Image 0" descr="/home/claude/repo_genial/results/reports/proyecto_final/qr_repo.png">    </p:cNvPr>
          <p:cNvPicPr>
            <a:picLocks noChangeAspect="1"/>
          </p:cNvPicPr>
          <p:nvPr/>
        </p:nvPicPr>
        <p:blipFill>
          <a:blip r:embed="rId1"/>
          <a:stretch>
            <a:fillRect/>
          </a:stretch>
        </p:blipFill>
        <p:spPr>
          <a:xfrm>
            <a:off x="8961120" y="2834640"/>
            <a:ext cx="1371600" cy="1371600"/>
          </a:xfrm>
          <a:prstGeom prst="rect">
            <a:avLst/>
          </a:prstGeom>
        </p:spPr>
      </p:pic>
      <p:pic>
        <p:nvPicPr>
          <p:cNvPr id="13" name="Image 1" descr="/home/claude/repo_genial/results/reports/proyecto_final/qr_app.png">    </p:cNvPr>
          <p:cNvPicPr>
            <a:picLocks noChangeAspect="1"/>
          </p:cNvPicPr>
          <p:nvPr/>
        </p:nvPicPr>
        <p:blipFill>
          <a:blip r:embed="rId2"/>
          <a:stretch>
            <a:fillRect/>
          </a:stretch>
        </p:blipFill>
        <p:spPr>
          <a:xfrm>
            <a:off x="10424160" y="2834640"/>
            <a:ext cx="1371600" cy="1371600"/>
          </a:xfrm>
          <a:prstGeom prst="rect">
            <a:avLst/>
          </a:prstGeom>
        </p:spPr>
      </p:pic>
      <p:sp>
        <p:nvSpPr>
          <p:cNvPr id="14" name="Text 10"/>
          <p:cNvSpPr/>
          <p:nvPr/>
        </p:nvSpPr>
        <p:spPr>
          <a:xfrm>
            <a:off x="8961120" y="4224528"/>
            <a:ext cx="1371600" cy="274320"/>
          </a:xfrm>
          <a:prstGeom prst="rect">
            <a:avLst/>
          </a:prstGeom>
          <a:noFill/>
          <a:ln/>
        </p:spPr>
        <p:txBody>
          <a:bodyPr wrap="square" rtlCol="0" anchor="ctr"/>
          <a:lstStyle/>
          <a:p>
            <a:pPr algn="ctr" indent="0" marL="0">
              <a:buNone/>
            </a:pPr>
            <a:r>
              <a:rPr lang="en-US" sz="950" dirty="0">
                <a:solidFill>
                  <a:srgbClr val="E8D5DB"/>
                </a:solidFill>
                <a:latin typeface="Calibri" pitchFamily="34" charset="0"/>
                <a:ea typeface="Calibri" pitchFamily="34" charset="-122"/>
                <a:cs typeface="Calibri" pitchFamily="34" charset="-120"/>
              </a:rPr>
              <a:t>Repositorio</a:t>
            </a:r>
            <a:endParaRPr lang="en-US" sz="950" dirty="0"/>
          </a:p>
        </p:txBody>
      </p:sp>
      <p:sp>
        <p:nvSpPr>
          <p:cNvPr id="15" name="Text 11"/>
          <p:cNvSpPr/>
          <p:nvPr/>
        </p:nvSpPr>
        <p:spPr>
          <a:xfrm>
            <a:off x="10424160" y="4224528"/>
            <a:ext cx="1371600" cy="274320"/>
          </a:xfrm>
          <a:prstGeom prst="rect">
            <a:avLst/>
          </a:prstGeom>
          <a:noFill/>
          <a:ln/>
        </p:spPr>
        <p:txBody>
          <a:bodyPr wrap="square" rtlCol="0" anchor="ctr"/>
          <a:lstStyle/>
          <a:p>
            <a:pPr algn="ctr" indent="0" marL="0">
              <a:buNone/>
            </a:pPr>
            <a:r>
              <a:rPr lang="en-US" sz="950" dirty="0">
                <a:solidFill>
                  <a:srgbClr val="E8D5DB"/>
                </a:solidFill>
                <a:latin typeface="Calibri" pitchFamily="34" charset="0"/>
                <a:ea typeface="Calibri" pitchFamily="34" charset="-122"/>
                <a:cs typeface="Calibri" pitchFamily="34" charset="-120"/>
              </a:rPr>
              <a:t>Aplicación</a:t>
            </a:r>
            <a:endParaRPr lang="en-US" sz="950" dirty="0"/>
          </a:p>
        </p:txBody>
      </p:sp>
      <p:sp>
        <p:nvSpPr>
          <p:cNvPr id="16" name="Text 12"/>
          <p:cNvSpPr/>
          <p:nvPr/>
        </p:nvSpPr>
        <p:spPr>
          <a:xfrm>
            <a:off x="822960" y="6126480"/>
            <a:ext cx="10515600" cy="320040"/>
          </a:xfrm>
          <a:prstGeom prst="rect">
            <a:avLst/>
          </a:prstGeom>
          <a:noFill/>
          <a:ln/>
        </p:spPr>
        <p:txBody>
          <a:bodyPr wrap="square" rtlCol="0" anchor="ctr"/>
          <a:lstStyle/>
          <a:p>
            <a:pPr indent="0" marL="0">
              <a:buNone/>
            </a:pPr>
            <a:r>
              <a:rPr lang="en-US" sz="1050" dirty="0">
                <a:solidFill>
                  <a:srgbClr val="E8D5DB"/>
                </a:solidFill>
                <a:latin typeface="Calibri" pitchFamily="34" charset="0"/>
                <a:ea typeface="Calibri" pitchFamily="34" charset="-122"/>
                <a:cs typeface="Calibri" pitchFamily="34" charset="-120"/>
              </a:rPr>
              <a:t>Jorge Javier Maldonado Mahauad · Melissa Figallo · Grupo 9 · UEES 2026 · genial-clasificador.streamlit.app</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pitch 5 min · Grupo 9 · v3</dc:title>
  <dc:subject>PptxGenJS Presentation</dc:subject>
  <dc:creator>Grupo 9 · Maldonado &amp; Figallo</dc:creator>
  <cp:lastModifiedBy>Grupo 9 · Maldonado &amp; Figallo</cp:lastModifiedBy>
  <cp:revision>1</cp:revision>
  <dcterms:created xsi:type="dcterms:W3CDTF">2026-10-25T17:04:05Z</dcterms:created>
  <dcterms:modified xsi:type="dcterms:W3CDTF">2026-10-25T17:04:05Z</dcterms:modified>
</cp:coreProperties>
</file>