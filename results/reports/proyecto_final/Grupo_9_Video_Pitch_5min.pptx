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Normas</c:v>
                </c:pt>
              </c:strCache>
            </c:strRef>
          </c:tx>
          <c:spPr>
            <a:solidFill>
              <a:srgbClr val="E87B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A1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7BA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DA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Técnico</c:v>
                  </c:pt>
                  <c:pt idx="1">
                    <c:v>Protección de Datos</c:v>
                  </c:pt>
                  <c:pt idx="2">
                    <c:v>Administrativo</c:v>
                  </c:pt>
                  <c:pt idx="3">
                    <c:v>Ética</c:v>
                  </c:pt>
                  <c:pt idx="4">
                    <c:v>Pedagógico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</c:v>
                </c:pt>
                <c:pt idx="1">
                  <c:v>71</c:v>
                </c:pt>
                <c:pt idx="2">
                  <c:v>120</c:v>
                </c:pt>
                <c:pt idx="3">
                  <c:v>265</c:v>
                </c:pt>
                <c:pt idx="4">
                  <c:v>294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A1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[0:00–0:12] 1. Introducción y problema · Portada · voz: Jorge
Grupo 9, Maestría en IA de la UEES: Jorge Maldonado y Melissa Figallo. Presentamos un clasificador automático de normativa sobre inteligencia artificial en la educación superior de América Latina y el Caribe, sobre el corpus del proyecto GENIAL.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[0:12–0:30] 1. Introducción y problema · El problema · voz: Jorge
El observatorio GENIAL lee cada norma y la codifica a mano en una de cinco dimensiones; ese conteo alimenta el Índice de Madurez Normativa por país. Diez minutos por norma, un solo codificador, sin fiabilidad medida: no escala. ¿Puede un modelo asistir, no sustituir, al codificador?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[0:30–1:00] 2. Datos y metodología · Los datos · voz: Melissa
813 normas de 28 jurisdicciones, codificadas por diez investigadores. La entrada es título más observaciones: 44 palabras de mediana. Cinco clases desbalanceadas, de Pedagógico con 294 a Técnico con 63. El 88 % está en español y cinco países concentran dos tercios del corpus. El nombre del codificador predice el país casi perfectamente: es dato personal, se excluyó del modelo y se anonimizó.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[1:00–1:30] 2. Datos y metodología · Metodología · voz: Melissa
El preprocesamiento verifica el hash del corpus, detecta el idioma y agrupa las normas que comparten URL para que nunca crucen una partición. El modelo es TF-IDF de uno y dos gramas con regresión logística ponderada por clase: con 673 ejemplos nada no lineal lo superó, y es interpretable. Validación cruzada por grupo, y prueba ciega de 125 normas codificadas por un investigador de GENIAL.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[1:30–2:15] 3. Desarrollo y optimización · Desarrollo y optimización · voz: Jorge
El desafío fue el sobreajuste: F1 de 0.94 en entrenamiento frente a 0.55 en validación. Optimizamos con Optuna, sesenta ensayos bayesianos sobre seis hiperparámetros, y luego el análisis de sensibilidad: importancia fANOVA, dependencia parcial e interacciones. Hallazgo: la ponderación de clases explica el 77 % de la varianza; todo lo demás mueve el F1 menos de tres puntos, dentro del ruido. Por eso no tomamos el mejor ensayo: con la regla de una desviación estándar elegimos la configuración más regularizada, que baja el gap de 0.40 a 0.27 con el mismo F1. Y como la regularización aplana las probabilidades, el umbral de confianza se calibra por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[2:15–3:15] 4. La solución en acción · Demostración (grabación de pantalla) · voz: Melissa
[Grabación de la app real.] Caso uno: una ley chilena de protección de datos. Propone Protección de Datos con 42 %, segunda candidata Administrativo, y el aviso verde indica que supera el umbral: podría ir al tramo automático. Abajo, los términos que decidieron: «datos», «personales». Caso dos: la estrategia brasileña de IA, en portugués. Propone Pedagógico, pero el aviso amarillo la envía a revisión humana por dos motivos: probabilidad baja e idioma. Es la regla de gobernanza en acción. Caso tres: con solo dos palabras, la aplicación no clasifica: pide título y una observación. Y en lote: un CSV de cinco normas devuelve tabla, distribución por dimensión y descarga de resultados. Interfaz en español e inglés.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[3:15–4:00] 5. Evaluación y resultados · Resultados · voz: Jorge
En la prueba ciega: exactitud 67 %, F1 macro 0.63 con intervalo de 0.53 a 0.72. Frente a la clase mayoritaria, 36 %, y al tipo de norma, 54 %, la diferencia es significativa con McNemar. Kappa con el codificador: 0.54, moderado. Funciona bien en Protección de Datos, F1 0.80, y mal en Administrativo, 0.33. Lo revelador: 35 de 37 errores revisados eran normas multidimensionales donde el codificador también dudó. Y la comparación clave: Claude Sonnet con quince ejemplos obtiene 0.64 de exactitud y 0.55 de F1, sin diferencia significativa; un modelo lineal entrenado con 673 normas iguala al LLM, sin coste por llamada y sin enviar texto a terceros.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[4:00–4:45] 6. Consideraciones éticas · Ética y equidad · voz: Melissa
Auditamos la equidad por jurisdicción: 66 % de acierto en español, 47 % en portugués, 36 % en inglés; 67 % en Hispanoamérica, 38 % en el Caribe. No cumple la regla de los cuatro quintos y no se corrige con el modelo: faltan datos. Se contiene con la regla de gobernanza: revisión humana obligatoria para portugués, inglés, francés, países con menos de veinte normas y predicciones bajo el umbral. El riesgo social: un índice automático subestimaría a los países que el observatorio quiere visibilizar; ninguna cifra sale sin respaldo humano. Limitaciones: 125 normas en prueba, etiqueta única, y acuerdo humano-humano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[4:45–5:00] 7. Cierre · voz: Jorge
Logro: un sistema de codificación asistida, reproducible, auditado y desplegado, que supera las líneas base y declara dónde no debe usarse. Futuro: multi-etiqueta, más normas del Caribe y el LLM como segunda opinión en la revisión. Repositorio y aplicación en los QR.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en IA · MIAR0545 · Video pitch · Grupo 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automática de normativa sobre IA en la educación superior de América Latina y el Caribe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un Índice de Madurez Normativa escalable · codificación asistida con revisión humana · corpus GENIAL (Erasmus+)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480560"/>
            <a:ext cx="5852160" cy="1645920"/>
          </a:xfrm>
          <a:prstGeom prst="roundRect">
            <a:avLst>
              <a:gd name="adj" fmla="val 4444"/>
            </a:avLst>
          </a:prstGeom>
          <a:solidFill>
            <a:srgbClr val="4E1A30"/>
          </a:solidFill>
          <a:ln w="12700">
            <a:solidFill>
              <a:srgbClr val="4E1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617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Javier Maldonado Mahauad · Melissa Figallo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Tutora: Gladys María Villegas Rugel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 · UEES · octubre de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25535" y="137160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qr_re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4135" y="1508760"/>
            <a:ext cx="2560320" cy="2560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25535" y="4114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en GitHub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25535" y="44348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github.com/jorgemaldonadom-cmd/genial-clasificador-normativa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 Y PROBLEMA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0:12 – 0:30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Codificar normativa a mano no escala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Observatorio regional del proyecto GENIAL · Índice de Madurez Normativa (IMN) por país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Proyecto Integrador en IA · UEES · 2026 · github.com/jorgemaldonadom-cmd/genial-clasificador-normativa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2EF"/>
          </a:solidFill>
          <a:ln w="12700">
            <a:solidFill>
              <a:srgbClr val="F4F2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1828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pública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(ley, estrategia, reglamento)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383280" y="17830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2EF"/>
          </a:solidFill>
          <a:ln w="12700">
            <a:solidFill>
              <a:srgbClr val="F4F2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20440" y="1828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por un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 (≈ 10 min)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85216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6217920" y="17830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3E6EA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55080" y="1828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 cinco dimensiones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9052560" y="17830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4F2EF"/>
          </a:solidFill>
          <a:ln w="12700">
            <a:solidFill>
              <a:srgbClr val="F4F2E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89720" y="18288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por país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306324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2834640" y="306324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3464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120640" y="306324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2064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406640" y="306324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0664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692640" y="3063240"/>
            <a:ext cx="2103120" cy="411480"/>
          </a:xfrm>
          <a:prstGeom prst="roundRect">
            <a:avLst>
              <a:gd name="adj" fmla="val 44444"/>
            </a:avLst>
          </a:prstGeom>
          <a:solidFill>
            <a:srgbClr val="E87BA4"/>
          </a:solidFill>
          <a:ln w="12700">
            <a:solidFill>
              <a:srgbClr val="E87BA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9264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40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4663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norma, lectura completa y criterio experto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29768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34" name="Text 31"/>
          <p:cNvSpPr txBox="1"/>
          <p:nvPr/>
        </p:nvSpPr>
        <p:spPr>
          <a:xfrm>
            <a:off x="4297680" y="4663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codificador por norma: sin fiabilidad intercodificador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8046720" y="3840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813 →</a:t>
            </a:r>
            <a:endParaRPr lang="en-US" sz="4000" dirty="0"/>
          </a:p>
        </p:txBody>
      </p:sp>
      <p:sp>
        <p:nvSpPr>
          <p:cNvPr id="36" name="Text 33"/>
          <p:cNvSpPr txBox="1"/>
          <p:nvPr/>
        </p:nvSpPr>
        <p:spPr>
          <a:xfrm>
            <a:off x="8046720" y="4663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corpus crece con cada actualización y cada país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3E6EA"/>
          </a:solidFill>
          <a:ln w="12700">
            <a:solidFill>
              <a:srgbClr val="F3E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31520" y="548640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¿Puede un modelo proponer la dimensión con calidad y trazabilidad suficientes para asistir —no sustituir— al codificador?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DATOS Y METODOLOGÍA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 – 1:00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datos: 813 normas, 28 jurisdicciones, 5 clases desbalanceadas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consolidado GENIAL · versión congelada (SHA-256 verificado) · entrada = título + observaciones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Proyecto Integrador en IA · UEES · 2026 · github.com/jorgemaldonadom-cmd/genial-clasificador-normativa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169164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56692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 variable objetivo (desbalance 4.7 : 1)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1691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de mediana por norma (texto corto)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9418320" y="1691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88 %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941832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 · pt 76 · en 25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67512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67 %</a:t>
            </a:r>
            <a:endParaRPr lang="en-US" sz="4000" dirty="0"/>
          </a:p>
        </p:txBody>
      </p:sp>
      <p:sp>
        <p:nvSpPr>
          <p:cNvPr id="17" name="Text 13"/>
          <p:cNvSpPr txBox="1"/>
          <p:nvPr/>
        </p:nvSpPr>
        <p:spPr>
          <a:xfrm>
            <a:off x="6675120" y="4023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normas en 5 países (MX, CL, AR, EC, BR)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9418320" y="32004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4000" dirty="0"/>
          </a:p>
        </p:txBody>
      </p:sp>
      <p:sp>
        <p:nvSpPr>
          <p:cNvPr id="19" name="Text 15"/>
          <p:cNvSpPr txBox="1"/>
          <p:nvPr/>
        </p:nvSpPr>
        <p:spPr>
          <a:xfrm>
            <a:off x="9418320" y="4023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de Cramér País ↔ Investigador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120" y="47091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4F2EF"/>
          </a:solidFill>
          <a:ln w="6350">
            <a:solidFill>
              <a:srgbClr val="F4F2E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858000" y="4846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datos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858000" y="525780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del codificador excluida y anonimizada (dato personal) · duplicados por URL agrupados · prueba ciega = 125 normas codificadas por un investigador de GENIAL, etiquetas leídas solo en la evaluación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DATOS Y METODOLOGÍA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– 1:30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un modelo lineal, interpretable, validado por grupo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 frente a ocho técnicas (Semana 2): con 673 ejemplos nada no lineal lo superó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Proyecto Integrador en IA · UEES · 2026 · github.com/jorgemaldonadom-cmd/genial-clasificador-normativa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178308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4F2EF"/>
          </a:solidFill>
          <a:ln w="12700">
            <a:solidFill>
              <a:srgbClr val="F4F2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1920240"/>
            <a:ext cx="411480" cy="41148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2423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· normalización · idioma (lingua) · grupo_url · texto = título. observaciones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60604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816352" y="178308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4F2EF"/>
          </a:solidFill>
          <a:ln w="12700">
            <a:solidFill>
              <a:srgbClr val="F4F2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53512" y="1920240"/>
            <a:ext cx="411480" cy="41148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953512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456432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953512" y="2423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1-2 gramas · sublinear_tf · 2 000-5 000 features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873752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084064" y="178308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3E6EA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221224" y="1920240"/>
            <a:ext cx="411480" cy="41148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221224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724144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221224" y="2423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multinomial · class_weight = balanced · L2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141464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351776" y="178308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4F2EF"/>
          </a:solidFill>
          <a:ln w="12700">
            <a:solidFill>
              <a:srgbClr val="F4F2E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88936" y="1920240"/>
            <a:ext cx="411480" cy="41148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488936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991856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488936" y="2423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StratifiedGroupKFold × 5 · IC Wilson / bootstrap · McNemar · κ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409176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9619488" y="178308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F4F2EF"/>
          </a:solidFill>
          <a:ln w="12700">
            <a:solidFill>
              <a:srgbClr val="F4F2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756648" y="1920240"/>
            <a:ext cx="411480" cy="411480"/>
          </a:xfrm>
          <a:prstGeom prst="ellipse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756648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10259568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ciega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9756648" y="2423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normas · investigador A de GENIAL · etiquetas ocultas hasta evaluate.py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16052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4F2EF"/>
          </a:solidFill>
          <a:ln w="6350">
            <a:solidFill>
              <a:srgbClr val="F4F2E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152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lineal?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731520" y="470916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de 44 palabras y 673 ejemplos: más features que ejemplos. SVM, árboles, embeddings y caracteres quedaron dentro del ruido entre pliegues (±2 pp). El lineal explica cada predicción con sus términos.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4343400" y="416052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4F2EF"/>
          </a:solidFill>
          <a:ln w="6350">
            <a:solidFill>
              <a:srgbClr val="F4F2E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52628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por grupo de URL?</a:t>
            </a:r>
            <a:endParaRPr lang="en-US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4526280" y="470916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grupos de normas comparten URL oficial (8 con etiquetas distintas). Si cayeran a ambos lados de un pliegue, el modelo sería evaluado sobre duplicados de su entrenamiento.</a:t>
            </a:r>
            <a:endParaRPr lang="en-US" sz="1250" dirty="0"/>
          </a:p>
        </p:txBody>
      </p:sp>
      <p:sp>
        <p:nvSpPr>
          <p:cNvPr id="45" name="Shape 42"/>
          <p:cNvSpPr/>
          <p:nvPr/>
        </p:nvSpPr>
        <p:spPr>
          <a:xfrm>
            <a:off x="8138160" y="416052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4F2EF"/>
          </a:solidFill>
          <a:ln w="6350">
            <a:solidFill>
              <a:srgbClr val="F4F2E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321040" y="429768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ese conjunto ciego?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8321040" y="4709160"/>
            <a:ext cx="3136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definió un instrumento externo (Framework D1-D6 del investigador), no un muestreo nuestro. Sobrerrepresenta países pequeños: prueba exigente por diseño.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DESARROLLO Y OPTIMIZACIÓN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1:30 – 2:15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y optimización: el sobreajuste y lo que Optuna enseñó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ensayos TPE · 6 hiperparámetros · importancia fANOVA · dependencia parcial · interacción C × vocabulario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Proyecto Integrador en IA · UEES · 2026 · github.com/jorgemaldonadom-cmd/genial-clasificador-normativa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pic>
        <p:nvPicPr>
          <p:cNvPr id="10" name="Image 0" descr="14_importancia_hiperparametr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577840" cy="2697480"/>
          </a:xfrm>
          <a:prstGeom prst="rect">
            <a:avLst/>
          </a:prstGeom>
        </p:spPr>
      </p:pic>
      <p:pic>
        <p:nvPicPr>
          <p:cNvPr id="11" name="Image 1" descr="17_antes_despues_optimiza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5760720" cy="2560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48640" y="45262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4F2EF"/>
          </a:solidFill>
          <a:ln w="6350">
            <a:solidFill>
              <a:srgbClr val="F4F2EF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4663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731520" y="5074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0.94 en entrenamiento vs 0.55 en validación (gap 0.40). Curvas de validación planas: el error restante es de etiqueta y de muestra, no de hiperparámetros.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343400" y="452628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4F2EF"/>
          </a:solidFill>
          <a:ln w="6350">
            <a:solidFill>
              <a:srgbClr val="F4F2E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26280" y="4663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de sensibilidad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526280" y="5074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explica el 77 % de la varianza; C el 18 %; el resto mueve el F1 &lt; 3 pp. El mejor ensayo gana +0.6 pp con más sobreajuste.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38160" y="4526280"/>
            <a:ext cx="3502152" cy="1600200"/>
          </a:xfrm>
          <a:prstGeom prst="roundRect">
            <a:avLst>
              <a:gd name="adj" fmla="val 4571"/>
            </a:avLst>
          </a:prstGeom>
          <a:solidFill>
            <a:srgbClr val="F3E6EA"/>
          </a:solidFill>
          <a:ln w="6350">
            <a:solidFill>
              <a:srgbClr val="F3E6E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321040" y="466344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5074920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1-DE: C = 0.157, 2 000 features → gap 0.27 con el mismo F1. Umbral de confianza calibrado por modelo (0.29) porque la regularización aplana las probabilidades.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LA SOLUCIÓN EN ACCIÓN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2:15 – 3:15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 en acción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de pantalla de la aplicación real (Streamlit) · tres casos de uso + manejo de errores + lote CSV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Proyecto Integrador en IA · UEES · 2026 · github.com/jorgemaldonadom-cmd/genial-clasificador-normativa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pic>
        <p:nvPicPr>
          <p:cNvPr id="10" name="Image 0" descr="app_result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3703320" cy="3172968"/>
          </a:xfrm>
          <a:prstGeom prst="rect">
            <a:avLst/>
          </a:prstGeom>
        </p:spPr>
      </p:pic>
      <p:pic>
        <p:nvPicPr>
          <p:cNvPr id="11" name="Image 1" descr="app_revi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91640"/>
            <a:ext cx="3703320" cy="3172968"/>
          </a:xfrm>
          <a:prstGeom prst="rect">
            <a:avLst/>
          </a:prstGeom>
        </p:spPr>
      </p:pic>
      <p:pic>
        <p:nvPicPr>
          <p:cNvPr id="12" name="Image 2" descr="app_lo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91640"/>
            <a:ext cx="3429000" cy="30175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" y="49834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Ley de protección de datos (Chile)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48640" y="53035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 42 % · aviso verde: supera el umbral · términos: «datos», «personales»</a:t>
            </a:r>
            <a:endParaRPr lang="en-US" sz="1050" dirty="0"/>
          </a:p>
        </p:txBody>
      </p:sp>
      <p:sp>
        <p:nvSpPr>
          <p:cNvPr id="15" name="Text 9"/>
          <p:cNvSpPr txBox="1"/>
          <p:nvPr/>
        </p:nvSpPr>
        <p:spPr>
          <a:xfrm>
            <a:off x="4389120" y="49834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Estrategia de IA (Brasil, pt)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4389120" y="530352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Pedagógico 24 % · aviso amarillo: revisión humana por probabilidad baja e idioma</a:t>
            </a:r>
            <a:endParaRPr lang="en-US" sz="1050" dirty="0"/>
          </a:p>
        </p:txBody>
      </p:sp>
      <p:sp>
        <p:nvSpPr>
          <p:cNvPr id="17" name="Text 11"/>
          <p:cNvSpPr txBox="1"/>
          <p:nvPr/>
        </p:nvSpPr>
        <p:spPr>
          <a:xfrm>
            <a:off x="8229600" y="49834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Error y lote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229600" y="530352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2 palabras → mensaje claro, no clasifica · CSV de 5 normas → tabla, gráfico, descarga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6172200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video, esta diapositiva se sustituye por la grabación de pantalla; se mantiene como respaldo visual.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EVALUACIÓN Y RESULTADOS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3:15 – 4:00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en la prueba ciega (n = 125)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del investigador A · intervalos de confianza del 95 % · McNemar pareado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Proyecto Integrador en IA · UEES · 2026 · github.com/jorgemaldonadom-cmd/genial-clasificador-normativa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 [IC95]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 [IC95]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Clase mayoritaria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0.360 [0.281, 0.447]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Metadatos (tipo de norma)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0.544 [0.457, 0.629]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model_v1 (base)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0.688 [0.602, 0.763]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 [0.505, 0.712]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best_model (regla 1-DE)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 [0.586, 0.748]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 [0.530, 0.724]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6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6E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few-shot (Claude Sonnet 5.5, 15 ej.)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 [0.553, 0.719]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 [0.447, 0.648]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A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548640" y="3840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McNemar: vs mayoritaria p &lt; 0.001 · vs metadatos p = 0.012 · model_v1 vs best_model p = 0.75 · LLM vs best_model p = 0.61 (n.s.)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251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651760" y="4306824"/>
            <a:ext cx="3218688" cy="219456"/>
          </a:xfrm>
          <a:prstGeom prst="rect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16168" y="425196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17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Pedagógico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651760" y="4672584"/>
            <a:ext cx="2977286" cy="219456"/>
          </a:xfrm>
          <a:prstGeom prst="rect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674766" y="46177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49834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651760" y="5038344"/>
            <a:ext cx="2856586" cy="219456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554066" y="49834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5349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651760" y="5404104"/>
            <a:ext cx="2293315" cy="219456"/>
          </a:xfrm>
          <a:prstGeom prst="rect">
            <a:avLst/>
          </a:prstGeom>
          <a:solidFill>
            <a:srgbClr val="E87BA4"/>
          </a:solidFill>
          <a:ln w="12700">
            <a:solidFill>
              <a:srgbClr val="E87BA4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990795" y="53492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57150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651760" y="5769864"/>
            <a:ext cx="1327709" cy="219456"/>
          </a:xfrm>
          <a:prstGeom prst="rect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025189" y="5715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108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por clase · best_model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589520" y="1691640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E8F3EC"/>
          </a:solidFill>
          <a:ln w="6350">
            <a:solidFill>
              <a:srgbClr val="E8F3E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7772400" y="18288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funciona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7772400" y="224028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 (léxico propio), Pedagógico y Ética. En el 86 % de las normas la etiqueta correcta está entre las dos candidatas: espacio de decisión de 5 a 2.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7589520" y="3703320"/>
            <a:ext cx="4069080" cy="1371600"/>
          </a:xfrm>
          <a:prstGeom prst="roundRect">
            <a:avLst>
              <a:gd name="adj" fmla="val 5333"/>
            </a:avLst>
          </a:prstGeom>
          <a:solidFill>
            <a:srgbClr val="FBEAE8"/>
          </a:solidFill>
          <a:ln w="6350">
            <a:solidFill>
              <a:srgbClr val="FBEAE8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772400" y="3840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no</a:t>
            </a:r>
            <a:endParaRPr 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7772400" y="42519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Administrativo (F1 0.33) y Técnico comparten vocabulario con todo. Portugués 0.42 (n = 12). 35 de 37 errores revisados eran normas multidimensionales.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7589520" y="5166360"/>
            <a:ext cx="4069080" cy="1188720"/>
          </a:xfrm>
          <a:prstGeom prst="roundRect">
            <a:avLst>
              <a:gd name="adj" fmla="val 6154"/>
            </a:avLst>
          </a:prstGeom>
          <a:solidFill>
            <a:srgbClr val="F3E6EA"/>
          </a:solidFill>
          <a:ln w="6350">
            <a:solidFill>
              <a:srgbClr val="F3E6E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7772400" y="53035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no supera al modelo lineal</a:t>
            </a:r>
            <a:endParaRPr lang="en-US" sz="1500" dirty="0"/>
          </a:p>
        </p:txBody>
      </p:sp>
      <p:sp>
        <p:nvSpPr>
          <p:cNvPr id="36" name="Text 32"/>
          <p:cNvSpPr txBox="1"/>
          <p:nvPr/>
        </p:nvSpPr>
        <p:spPr>
          <a:xfrm>
            <a:off x="7772400" y="57150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5.5 con 15 ejemplos empata en exactitud y κ y pierde en F1 (Técnico 0.18); 6 normas sin respuesta. Sin coste por llamada ni envío de texto a terceros: el lineal gana para operar.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A1F3D"/>
          </a:solidFill>
          <a:ln w="12700">
            <a:solidFill>
              <a:srgbClr val="7A1F3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CONSIDERACIONES ÉTICAS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4255" y="274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 – 4:45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A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Ética: la brecha por jurisdicción se contiene, no se oculta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equidad por idioma, región, tamaño de país, ámbito y codificador (anonimizado) · n = 813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· Proyecto Integrador en IA · UEES · 2026 · github.com/jorgemaldonadom-cmd/genial-clasificador-normativa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pic>
        <p:nvPicPr>
          <p:cNvPr id="10" name="Image 0" descr="12_fairness_grup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675120" cy="2560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8640" y="438912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4F2EF"/>
          </a:solidFill>
          <a:ln w="6350">
            <a:solidFill>
              <a:srgbClr val="F4F2E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4526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 identificados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31520" y="49377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Geográfico (5 países = 67 %), de idioma (es 0.66 · pt 0.47 · en 0.36), de clase, de etiqueta única y de codificador. Razón mínima 0.54: no cumple la regla 4/5.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977640" y="438912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F4F2EF"/>
          </a:solidFill>
          <a:ln w="6350">
            <a:solidFill>
              <a:srgbClr val="F4F2E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160520" y="45262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160520" y="49377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IMN con etiquetas automáticas subestimaría a Brasil, el Caribe y los países pequeños: los que el observatorio quiere visibilizar.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406640" y="1691640"/>
            <a:ext cx="4251960" cy="2514600"/>
          </a:xfrm>
          <a:prstGeom prst="roundRect">
            <a:avLst>
              <a:gd name="adj" fmla="val 2909"/>
            </a:avLst>
          </a:prstGeom>
          <a:solidFill>
            <a:srgbClr val="F3E6EA"/>
          </a:solidFill>
          <a:ln w="6350">
            <a:solidFill>
              <a:srgbClr val="F3E6E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589520" y="18288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Mitigaciones implementadas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589520" y="224028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Revisión humana obligatoria: pt / en / fr, países &lt; 20 normas, probabilidad &lt; umbral → 100 % de esos grupos con respaldo humano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Nombre del codificador excluido y anonimizado; corpus e instrumento fuera del repositorio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Modelo explicable (términos, probabilidades, motivos); model card y datasheet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Ninguna cifra del IMN sin % de respaldo humano y margen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406640" y="4389120"/>
            <a:ext cx="4251960" cy="1737360"/>
          </a:xfrm>
          <a:prstGeom prst="roundRect">
            <a:avLst>
              <a:gd name="adj" fmla="val 4211"/>
            </a:avLst>
          </a:prstGeom>
          <a:solidFill>
            <a:srgbClr val="F4F2EF"/>
          </a:solidFill>
          <a:ln w="6350">
            <a:solidFill>
              <a:srgbClr val="F4F2E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589520" y="45262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reconocidas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589520" y="4937760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125 en prueba (IC ± 9 pp) · etiqueta única donde la tarea es multi-etiqueta · κ humano-humano pendiente · riesgo mínimo bajo el AI Act, sin decisiones sobre personas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CIERRE · 4:45 – 5:00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Codificación asistida, reproducible, auditada y desplegada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4E1A30"/>
          </a:solidFill>
          <a:ln w="12700">
            <a:solidFill>
              <a:srgbClr val="4E1A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0.63 · κ 0.54  </a:t>
            </a:r>
            <a:pPr indent="0" marL="0">
              <a:buNone/>
            </a:pPr>
            <a:r>
              <a:rPr lang="en-US" sz="1250" dirty="0">
                <a:solidFill>
                  <a:srgbClr val="E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las líneas base (p &lt; 0.05) e iguala a un LLM few-shot en prueba ciega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4E1A30"/>
          </a:solidFill>
          <a:ln w="12700">
            <a:solidFill>
              <a:srgbClr val="4E1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175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gobernanza  </a:t>
            </a:r>
            <a:pPr indent="0" marL="0">
              <a:buNone/>
            </a:pPr>
            <a:r>
              <a:rPr lang="en-US" sz="1250" dirty="0">
                <a:solidFill>
                  <a:srgbClr val="E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dónde no debe usarse: pt/en/fr, países pequeños, baja confianza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4E1A30"/>
          </a:solidFill>
          <a:ln w="12700">
            <a:solidFill>
              <a:srgbClr val="4E1A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38862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 </a:t>
            </a:r>
            <a:pPr indent="0" marL="0">
              <a:buNone/>
            </a:pPr>
            <a:r>
              <a:rPr lang="en-US" sz="1250" dirty="0">
                <a:solidFill>
                  <a:srgbClr val="E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del corpus, semilla, cuadernos 00-05 ejecutados, 14 pruebas, CI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5488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4E1A30"/>
          </a:solidFill>
          <a:ln w="12700">
            <a:solidFill>
              <a:srgbClr val="4E1A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754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  </a:t>
            </a:r>
            <a:pPr indent="0" marL="0">
              <a:buNone/>
            </a:pPr>
            <a:r>
              <a:rPr lang="en-US" sz="1250" dirty="0">
                <a:solidFill>
                  <a:srgbClr val="E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multi-etiqueta · más normas del Caribe · κ humano-humano · LLM como segunda opinión en revisión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82296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qr_re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914400"/>
            <a:ext cx="1828800" cy="18288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jorgemaldonadom-cmd/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genial-clasificador-normativa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149840" y="822960"/>
            <a:ext cx="2103120" cy="27432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149840" y="27432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</a:t>
            </a:r>
            <a:endParaRPr lang="en-US" sz="11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genial-clasificador.streamlit.app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217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Javier Maldonado Mahauad · Melissa Figallo · Grupo 9 · Maestría en IA · UEES · 2026 · Gracias</a:t>
            </a:r>
            <a:endParaRPr lang="en-US" sz="1200" dirty="0"/>
          </a:p>
        </p:txBody>
      </p:sp>
      <p:pic>
        <p:nvPicPr>
          <p:cNvPr id="19" name="Picture 18" descr="qr_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pitch · Clasificación automática de normativa sobre IA en educación superior de ALC</dc:title>
  <dc:subject>PptxGenJS Presentation</dc:subject>
  <dc:creator>Grupo 9 · UEES</dc:creator>
  <cp:lastModifiedBy>Grupo 9 · UEES</cp:lastModifiedBy>
  <cp:revision>1</cp:revision>
  <dcterms:created xsi:type="dcterms:W3CDTF">2026-10-11T04:50:37Z</dcterms:created>
  <dcterms:modified xsi:type="dcterms:W3CDTF">2026-10-11T04:50:37Z</dcterms:modified>
</cp:coreProperties>
</file>